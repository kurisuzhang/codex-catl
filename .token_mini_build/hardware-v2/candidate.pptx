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0c4682b224395" /><Relationship Type="http://schemas.openxmlformats.org/officeDocument/2006/relationships/extended-properties" Target="/docProps/app.xml" Id="Rd5b7610d3a5747ae" /><Relationship Type="http://schemas.openxmlformats.org/officeDocument/2006/relationships/officeDocument" Target="/ppt/presentation.xml" Id="R000fc1cdb231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20501ae9246a4"/>
  </p:sldMasterIdLst>
  <p:notesMasterIdLst>
    <p:notesMasterId xmlns:r="http://schemas.openxmlformats.org/officeDocument/2006/relationships" r:id="R98506c655fec4e87"/>
  </p:notesMasterIdLst>
  <p:sldIdLst>
    <p:sldId xmlns:r="http://schemas.openxmlformats.org/officeDocument/2006/relationships" id="256" r:id="R906121b2b0c54a15"/>
    <p:sldId xmlns:r="http://schemas.openxmlformats.org/officeDocument/2006/relationships" id="257" r:id="R2b6009827de948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1dc2c13d034bd8" /><Relationship Type="http://schemas.openxmlformats.org/officeDocument/2006/relationships/slideMaster" Target="/ppt/slideMasters/slideMaster1.xml" Id="R8a620501ae9246a4" /><Relationship Type="http://schemas.openxmlformats.org/officeDocument/2006/relationships/notesMaster" Target="/ppt/notesMasters/notesMaster1.xml" Id="R98506c655fec4e87" /><Relationship Type="http://schemas.openxmlformats.org/officeDocument/2006/relationships/presProps" Target="/ppt/presProps.xml" Id="R3dd5a858dbdb4453" /><Relationship Type="http://schemas.openxmlformats.org/officeDocument/2006/relationships/tableStyles" Target="/ppt/tableStyles.xml" Id="Rcd8d71b7b1f140bf" /><Relationship Type="http://schemas.openxmlformats.org/officeDocument/2006/relationships/slide" Target="/ppt/slides/slide1.xml" Id="R906121b2b0c54a15" /><Relationship Type="http://schemas.openxmlformats.org/officeDocument/2006/relationships/slide" Target="/ppt/slides/slide2.xml" Id="R2b6009827de9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199f98b1f4f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62898b31a46ae" /><Relationship Type="http://schemas.openxmlformats.org/officeDocument/2006/relationships/notesMaster" Target="/ppt/notesMasters/notesMaster1.xml" Id="R7680d26f19e54a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9394b64b34773" /><Relationship Type="http://schemas.openxmlformats.org/officeDocument/2006/relationships/notesMaster" Target="/ppt/notesMasters/notesMaster1.xml" Id="R8e4c9635eba9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依据用户2026-09-16提供的硬件参考截图：/Users/lin/Desktop/截屏2026-09-16 14.01.50.png。已确定台数、卡数及RoCE配置来自本任务用户要求。参考配置为候选BOM，不代表现有实物验收结果。截图CPU型号照录Kunpeng 920_5250；加速卡照录Ascend 910_4-64G，与用户指定910B尚需按物料编码及设备报告确认，不把64G视为910B已验收显存。通算参考CPU单颗2.1GHz/20核，2颗合计40核；内存384GB。910B参考内存768GB。容量均原始配置，不推定RAID后的可用空间。T4的CPU、内存和磁盘无参考，故不编造。T4单卡16GB沿用原报告NVIDIA数据表 https://www.nvidia.cn/content/dam/en-zz/Solutions/Data-Center/tesla-t4/t4-tensor-core-datasheet.pdf 。机柜C按最新用户要求展示6台既有通算，容量未指定。两台910B每台超过5kW为用户输入，A/B各一台；混装方案须核验整机峰值、U位、承重、制冷、PDU和故障供电。功率超过可用额度时调整T4位置，不表示本方案已通过上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来源：用户硬件参考截图 /Users/lin/Desktop/截屏2026-09-16 14.01.50.png 及用户本任务已确认配置。交换机48口等为参考规格，不是本期已批准采购清单。RoCE已确认1台；32×200GE与16×400GE为参考的两种选择，不累计成两台。400GE分拆还需核验breakout能力、端口模式、FEC、模块和线缆兼容，不能仅凭MPO线认定可用。32个200GE模块是两台910B共16条光链路双端总数，不包含业务网络模块。参考服务器网络原文：网卡0为6×GE（1个Mgmt管理网口、1个调试串口、4个板载口），另行写4×GE+4×25GE+2×200GE+2×200GE+2×200GE+2×200GE+2×25GE+IPMI。该参考将串口与GE混列、管理项可能重复，因此不直接累加成采购数量；RoCE按已确定每机8×200GE，业务网及BMC按实物端口表去重核验。对象存储参考CPU单颗2.4GHz/12核，硬盘原始容量不能直接作为可用容量，冗余策略及台数尚未定义。对象存储不计入14台已确定服务器，也不擅自放入现有三柜。所有整机配件包含检查完整性，并非主张现有设备全部重新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0fefbfb7f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81d16a97af40ae" /><Relationship Type="http://schemas.openxmlformats.org/officeDocument/2006/relationships/slideLayout" Target="/ppt/slideLayouts/slideLayout1.xml" Id="R82eb06d90ad449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eb06d90ad449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a83138ee9404b" /><Relationship Type="http://schemas.openxmlformats.org/officeDocument/2006/relationships/notesSlide" Target="/ppt/notesSlides/notesSlide1.xml" Id="R3d777e89add24b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ecf5a2d0e4651" /><Relationship Type="http://schemas.openxmlformats.org/officeDocument/2006/relationships/notesSlide" Target="/ppt/notesSlides/notesSlide2.xml" Id="Rb1ba1b63da31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86EA99-0F83-4C33-9E10-DC43E30E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91DEB-7DD0-4DAC-96BB-E2B51512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机柜布局与服务器配置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5473E-D9B9-48FD-A087-D4D8D34B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台服务器分布于 3 个机柜：2 台 910B、6 台八卡 T4、6 台通算。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CF55B-48D6-4E1A-B185-1B5237E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536B6-DBF7-4306-A7B4-CE2F86D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6287C-0A23-44F4-8702-87243263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4418F-B7A5-4697-9A9B-5E987849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477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机柜布局（示意，非实际 U 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E7497-859D-456E-B82E-14D8E09B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447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C1614-FF67-49AA-9414-48E7F8D8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68BC4-056B-474A-BD9A-28E69AFE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BDFE-EB82-4F11-BC94-667F16AF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257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DD5DC-BC61-4A98-B1AE-7F248C2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09900"/>
            <a:ext cx="1162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910B-1</a:t>
            </a:r>
          </a:p>
          <a:p xmlns:a="http://schemas.openxmlformats.org/drawingml/2006/main">
            <a:pPr algn="ctr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29A96-4C48-47A9-A55B-5C75358D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257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7455E-547C-4CF0-AB52-60998492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T4-1  8 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9D476-3D84-4BFF-B66E-8741EE64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257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6322E-60C3-41C5-9208-0D987B5C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6242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T4-2  8 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25F14-4CA4-4945-A284-01EC327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257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D6559-FD3D-4CB5-B850-29231256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8152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T4-3  8 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8A87E-D29C-4A72-9F63-C1266517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76475"/>
            <a:ext cx="1447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5AF26-B982-4E9F-AB77-7125B2D9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3622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C69CC-E07C-44B6-81FC-62FBC7E6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384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6816B-12FA-463E-84BD-D61F807E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90850"/>
            <a:ext cx="1257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6201B-EB30-471A-BC50-B5E7D32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09900"/>
            <a:ext cx="1162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910B-2</a:t>
            </a:r>
          </a:p>
          <a:p xmlns:a="http://schemas.openxmlformats.org/drawingml/2006/main">
            <a:pPr algn="ctr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85EC2-3C9E-4F00-A89B-7F03868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24275"/>
            <a:ext cx="1257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86FFA-1FA5-427D-AF2D-36B29AE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4332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T4-4  8 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2F574-4FA0-4444-93EF-989D21FE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43375"/>
            <a:ext cx="1257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C9BD6-66C2-40F4-BADB-EF71DA7F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16242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T4-5  8 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A44B99-5EF4-49BB-B484-FE44B989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62475"/>
            <a:ext cx="1257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9528F-6BA2-472F-83AF-0A32914A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58152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T4-6  8 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CCF1B-BB3F-406E-B048-126D621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447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FF11D6-349F-4CE2-A58B-9D86C6D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622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C7D306-C669-4716-94BA-65F256EA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384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既有 / 通算专用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FA2B2F-99F1-4E36-9E4C-DF2D178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90850"/>
            <a:ext cx="1257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401FC1-EDB2-4C87-8EE1-3E15C01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0099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通算-1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02BA35-16B1-416A-B8DD-5D972CF8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33750"/>
            <a:ext cx="1257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92F21-A20B-4E13-939F-AFC4ED7D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3528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通算-2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875610-2F8F-4451-A779-5BF6860B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76650"/>
            <a:ext cx="1257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7071A1-8EBB-4A3F-A1B6-8003B036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95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通算-3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CF21D6-3FE5-4DAC-B4F9-692C1455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19550"/>
            <a:ext cx="1257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53A31E-A03C-4708-9D81-2C3E70D1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386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通算-4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C34B1A-DB6B-4B09-AB4C-D70F29C3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62450"/>
            <a:ext cx="1257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D947EF-F1FF-4F7B-889A-64D548F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815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通算-5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30A151-C4DF-4F6E-89B0-90686BC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05350"/>
            <a:ext cx="1257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D5CFCC-8050-4420-B2BE-E766DEC7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7244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通算-6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15391B-1D11-4B03-B75C-019928D9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 / B：模型推理</a:t>
            </a:r>
          </a:p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C：MASS 平台及支撑服务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5524500" y="1943100"/>
          <a:ext xmlns:a="http://schemas.openxmlformats.org/drawingml/2006/main" cx="607695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4724400"/>
              </a:tblGrid>
              <a:tr h="3714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服务器 / 数量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单台配置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1352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×2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16 张 NPU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已定：8×910B，8×200GE RoCE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参考：4×Kunpeng 920_5250，24×32GB 内存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 SATA，数据盘 4×1.92TB NVMe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参考卡标为 Ascend 910_4-64G，需核对型号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48 张 GPU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已定：8×NVIDIA T4（单卡 16GB）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待补：CPU、内存、系统盘、数据盘、网卡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整机需核验八卡槽位、供电和散热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既有设备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5218R，12×32GB DDR4 2933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2×480GB，数据盘 14×1.92TB SATA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 2×GE＋4×10GE，现有配置待资产核对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1CA59-E7E2-4743-BEE9-FD4797F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95975"/>
            <a:ext cx="1100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上架条件：每柜 1 台 910B＋3 台 T4＋网络设备的整机峰值及预留，不得超过机柜可用功率。</a:t>
            </a:r>
          </a:p>
        </p:txBody>
      </p:sp>
    </p:spTree>
    <p:extLst>
      <p:ext uri="{BB962C8B-B14F-4D97-AF65-F5344CB8AC3E}">
        <p14:creationId xmlns:p14="http://schemas.microsoft.com/office/powerpoint/2010/main" val="1267972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CAB59-A287-49FE-A5E7-BE93CB22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DFDC7-347B-45CF-9360-21E940D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网络、存储与上架配套清单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6A3D9-5BD4-4BB4-A72C-6DB8063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盘点口径：已确定数量直接列示，参考规格保留，选配设备单独计算。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6A1EE-E97A-4F92-8FB1-F471397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D1D70-5F67-4A41-B2E1-86B2B4F7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C8820-968E-4CCF-A772-2572E910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925"/>
                <a:gridCol w="1524000"/>
                <a:gridCol w="7839075"/>
              </a:tblGrid>
              <a:tr h="352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设备类别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状态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配置与盘点要求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台，已确定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32×200GE；本期接入 16 个 200GE 端口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另一参考为 16×400GE 分拆接入，需核验端口分拆及线缆兼容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光链路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条链路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个光模块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910B 各 8 条 200GE；服务器端 16 个＋交换机端 16 个模块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16 组光纤，按模块接口和跨柜距离选型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48×25GE＋8×100GE；核对服务器网卡、上联与所需光模块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管理交换机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48×GE/10GE；接入 14 台服务器 BMC 及交换设备管理口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对象存储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可选，数量待定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4214R，12×16GB 内存，2×480GB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20×8TB HDD，2×1.6TB NVMe，2×1GE＋4×10GE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整机配件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逐台核对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机箱、主板、CPU/散热器、内存、系统/数据盘、磁盘控制器（按需）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八卡槽位及 Riser、网卡/BMC、风扇、冗余电源、导轨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机柜及机房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逐柜核对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PDU、电源线、接地、理线器、管理网线、业务光模块及光纤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供电回路、UPS、制冷、U 位及承重，核验新增与既有资源差缺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1930F-06BE-432C-B6E9-4197893A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盘点结果应形成逐台配置表、逐端口接线表和逐柜功率表，再确定补购数量。</a:t>
            </a:r>
          </a:p>
        </p:txBody>
      </p:sp>
    </p:spTree>
    <p:extLst>
      <p:ext uri="{BB962C8B-B14F-4D97-AF65-F5344CB8AC3E}">
        <p14:creationId xmlns:p14="http://schemas.microsoft.com/office/powerpoint/2010/main" val="965723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2026-09-16T06:08:00.4660000Z</dcterms:created>
  <dcterms:modified xsi:type="dcterms:W3CDTF">2026-09-16T06:08:00.4660000Z</dcterms:modified>
</coreProperties>
</file>