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e15b7152e645f9" /><Relationship Type="http://schemas.openxmlformats.org/officeDocument/2006/relationships/extended-properties" Target="/docProps/app.xml" Id="R1c8ac7f3556d4ab5" /><Relationship Type="http://schemas.openxmlformats.org/officeDocument/2006/relationships/officeDocument" Target="/ppt/presentation.xml" Id="Re3f2302e49344a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a3b52e9fb54477"/>
  </p:sldMasterIdLst>
  <p:notesMasterIdLst>
    <p:notesMasterId xmlns:r="http://schemas.openxmlformats.org/officeDocument/2006/relationships" r:id="R105d7eae1871493d"/>
  </p:notesMasterIdLst>
  <p:sldIdLst>
    <p:sldId xmlns:r="http://schemas.openxmlformats.org/officeDocument/2006/relationships" id="263" r:id="R53b0b00785a2486a"/>
    <p:sldId xmlns:r="http://schemas.openxmlformats.org/officeDocument/2006/relationships" id="264" r:id="R50db243432ee43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73360d69ae423a" /><Relationship Type="http://schemas.openxmlformats.org/officeDocument/2006/relationships/slideMaster" Target="/ppt/slideMasters/slideMaster1.xml" Id="Rd7a3b52e9fb54477" /><Relationship Type="http://schemas.openxmlformats.org/officeDocument/2006/relationships/notesMaster" Target="/ppt/notesMasters/notesMaster1.xml" Id="R105d7eae1871493d" /><Relationship Type="http://schemas.openxmlformats.org/officeDocument/2006/relationships/presProps" Target="/ppt/presProps.xml" Id="Re4a6be5e860e41f6" /><Relationship Type="http://schemas.openxmlformats.org/officeDocument/2006/relationships/tableStyles" Target="/ppt/tableStyles.xml" Id="R2b725e6074ad4c77" /><Relationship Type="http://schemas.openxmlformats.org/officeDocument/2006/relationships/slide" Target="/ppt/slides/slide1.xml" Id="R53b0b00785a2486a" /><Relationship Type="http://schemas.openxmlformats.org/officeDocument/2006/relationships/slide" Target="/ppt/slides/slide2.xml" Id="R50db243432ee43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750a3d28bb45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fac48299894aa5" /><Relationship Type="http://schemas.openxmlformats.org/officeDocument/2006/relationships/notesMaster" Target="/ppt/notesMasters/notesMaster1.xml" Id="Rbd84949e7ed642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717ab428f54281" /><Relationship Type="http://schemas.openxmlformats.org/officeDocument/2006/relationships/notesMaster" Target="/ppt/notesMasters/notesMaster1.xml" Id="R36dadfe134be48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固定候选ID：Qwen/Qwen3-8B；deepseek-ai/DeepSeek-R1-Distill-Qwen-32B；zai-org/GLM-4.5-Air。权重revision/hash、目标引擎release与镜像digest待设备验证阶段冻结，不能把研究候选称为已验收配置。Qwen3-Dense在当前A2/A3矩阵支持；DeepSeek Distill标为experimental。GLM-4.5-Air主干总参数106B、激活12B，仓库张量统计约110B，容量以实际权重字节与加载策略为准，不能按激活参数估算。优先单机支持的并行配置，只有容量或性能需要时再双机HCCL。备选完整DeepSeek-R1/V3.2须另算量化/双机容量，当前不承诺。所有模型均未本机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asc: https://docs.vllm.ai/projects/ascend/en/latest/user_guide/support_matrix/supported_models.html</a:t>
            </a:r>
          </a:p>
          <a:p xmlns:a="http://schemas.openxmlformats.org/drawingml/2006/main">
            <a:r>
              <a:t>qwen: https://huggingface.co/Qwen/Qwen3-8B</a:t>
            </a:r>
          </a:p>
          <a:p xmlns:a="http://schemas.openxmlformats.org/drawingml/2006/main">
            <a:r>
              <a:t>ds: https://huggingface.co/deepseek-ai/DeepSeek-R1-Distill-Qwen-32B</a:t>
            </a:r>
          </a:p>
          <a:p xmlns:a="http://schemas.openxmlformats.org/drawingml/2006/main">
            <a:r>
              <a:t>glm: https://huggingface.co/zai-org/GLM-4.5-Air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完整ID：Qwen/Qwen2.5-7B-Instruct-AWQ，Ultralytics YOLO26n，Wan-AI/Wan2.1-T2V-1.3B。7B AWQ先验证单卡容量与SM75 kernel，不保证任意上下文/并发。量化只降低字节数，不减少参数量。可增加同系列14B量化作为备选，需重新核验。YOLO官方表有T4/TensorRT列，不搬用其速度作为本台结果；模型/软件许可及商用供给方式待核。Wan仓库低显存参考约8.19GB，非T4完整兼容证据，需检验FP16数值、注意力后端和卸载开销；不搬用4090速度。各任务固定独立镜像，不默认TP8。48卡在任务之间按卡时分配，不重复满额计收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t4: https://www.nvidia.cn/content/dam/en-zz/Solutions/Data-Center/tesla-t4/t4-tensor-core-datasheet.pdf</a:t>
            </a:r>
          </a:p>
          <a:p xmlns:a="http://schemas.openxmlformats.org/drawingml/2006/main">
            <a:r>
              <a:t>awq: https://huggingface.co/Qwen/Qwen2.5-7B-Instruct-AWQ</a:t>
            </a:r>
          </a:p>
          <a:p xmlns:a="http://schemas.openxmlformats.org/drawingml/2006/main">
            <a:r>
              <a:t>quant: https://docs.vllm.ai/en/latest/features/quantization/</a:t>
            </a:r>
          </a:p>
          <a:p xmlns:a="http://schemas.openxmlformats.org/drawingml/2006/main">
            <a:r>
              <a:t>yolo: https://docs.ultralytics.com/models/yolo26</a:t>
            </a:r>
          </a:p>
          <a:p xmlns:a="http://schemas.openxmlformats.org/drawingml/2006/main">
            <a:r>
              <a:t>wan: https://github.com/Wan-Video/Wan2.1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913ba90d554b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7a4d9626114bdf" /><Relationship Type="http://schemas.openxmlformats.org/officeDocument/2006/relationships/slideLayout" Target="/ppt/slideLayouts/slideLayout1.xml" Id="Ra7f0cc97a0e54e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f0cc97a0e54e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75ef654db401d" /><Relationship Type="http://schemas.openxmlformats.org/officeDocument/2006/relationships/notesSlide" Target="/ppt/notesSlides/notesSlide1.xml" Id="R24422e2c3c194f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27cdc0a9f4b9a" /><Relationship Type="http://schemas.openxmlformats.org/officeDocument/2006/relationships/notesSlide" Target="/ppt/notesSlides/notesSlide2.xml" Id="R4a206032c4c94b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8ADA05-9925-45B0-8B95-D6DE1B06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A4  模型适配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682578-F24D-4E5E-84D3-CDC062EF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910B 国产模型：先验证稠密模型，再扩候选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8C9ED-E076-4238-9670-FBA506AC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筛选顺序：许可与平台规格、引擎支持、逐卡容量、通信、质量与负载验证。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356B8B-3AAE-4C39-A3A9-423F1CCC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DBB1C-B288-4423-A585-207D1227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1164B-3BF3-4E4C-816B-B648EA07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08 / 18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2028825"/>
          <a:ext xmlns:a="http://schemas.openxmlformats.org/drawingml/2006/main" cx="11049000" cy="2847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3543300"/>
                <a:gridCol w="398145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候选模型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精度与起测路径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本轮判断与证据边界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796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 / Qwen3-8B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BF16 或 FP16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短上下文、低并发起测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建议首个文本联调候选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 A2/A3 家族支持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96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DeepSeek-R1-</a:t>
                      </a:r>
                    </a:p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Distill-Qwen-32B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16 位或适配量化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先核算权重＋KV＋工作区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进入条件性 PoC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蒸馏家族为实验性适配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796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zai-org / GLM-4.5-Air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16 位或匹配 W8A8 路径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核对 MoE 分片和通信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容量核验后再启动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家族支持不等于本台成功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2FB693-AD6E-4ECF-B217-0CE731D1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逐卡峰值 = 本卡权重＋KV Cache＋激活/工作区＋通信缓冲＋余量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CCE36-1096-4F70-9040-DF4F5798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16 张卡是资源总量。910B 显存未知，暂不承诺完整 DeepSeek 大模型的双机容量。</a:t>
            </a:r>
          </a:p>
        </p:txBody>
      </p:sp>
    </p:spTree>
    <p:extLst>
      <p:ext uri="{BB962C8B-B14F-4D97-AF65-F5344CB8AC3E}">
        <p14:creationId xmlns:p14="http://schemas.microsoft.com/office/powerpoint/2010/main" val="20112404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472D79-A8E4-4759-B4B7-0B2E6913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A4  模型适配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63A21-44B7-4DBB-9C24-CC4E5276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T4 模型分工：文本、检测、视频分别验收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8CFA9-15DA-4B2F-8B5B-B352B5FD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6 台八卡服务器共 48 张 GPU。单卡 16GB，多副本和多卡并行按任务选择。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03C75B-E6AD-4D01-9FB5-2D9C9EE3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BDC05-87DD-4B05-B3A9-AF5D4507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F8DCB0-2B83-4407-B246-7A8AE7C3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09 / 18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2009775"/>
          <a:ext xmlns:a="http://schemas.openxmlformats.org/drawingml/2006/main" cx="11049000" cy="3295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3667125"/>
                <a:gridCol w="390525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任务 / 首选候选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起测路径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验收指标与判断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946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量化文本</a:t>
                      </a:r>
                    </a:p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Qwen2.5-7B-Instruct-AWQ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vLLM + 兼容 AWQ kernel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FP16 激活，先单卡短上下文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质量、TTFT / TPOT、Token/s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优先 PoC，实机待验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946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目标检测</a:t>
                      </a:r>
                    </a:p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YOLO26n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PyTorch 基线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ONNX / TensorRT 优化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mAP、召回率、端到端延迟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图片/帧吞吐，复验 T4 参考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946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视频生成</a:t>
                      </a:r>
                    </a:p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Wan2.1-T2V-1.3B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官方流程与必要卸载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核验 dtype / attention 后端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质量、分辨率/帧数/步数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生成耗时、视频/小时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条件性 PoC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916E6-913F-44E4-A64E-66129EF8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文本模型按总参数 &lt;20B 筛选。Wan 低显存参考不能证明 T4 的生成速度可交付。</a:t>
            </a:r>
          </a:p>
        </p:txBody>
      </p:sp>
    </p:spTree>
    <p:extLst>
      <p:ext uri="{BB962C8B-B14F-4D97-AF65-F5344CB8AC3E}">
        <p14:creationId xmlns:p14="http://schemas.microsoft.com/office/powerpoint/2010/main" val="3082915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2026-09-16T05:35:53.5830000Z</dcterms:created>
  <dcterms:modified xsi:type="dcterms:W3CDTF">2026-09-16T05:35:53.5840000Z</dcterms:modified>
</coreProperties>
</file>