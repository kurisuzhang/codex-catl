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60" r:id="Re11425df9edc4a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e11425df9edc4a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372aa139934a04" /><Relationship Type="http://schemas.openxmlformats.org/officeDocument/2006/relationships/notesMaster" Target="/ppt/notesMasters/notesMaster1.xml" Id="R0e43ebcfd17340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用户参考图的分层拓扑画法改绘，保留本项目规模。层级：平台入口、边界访问控制、核心业务汇聚、带外与业务接入、服务器端口、RoCE及可选存储。图中防火墙、核心/业务/管理交换设备是复用或补齐的逻辑职责，不代表已确认新增采购数量，实际可合并或按冗余需求拆分。运维管理区独立接入BMC网，不将BMC暴露在业务入口。每个代表服务器上方青色/绿色小口分别为BMC/业务；中间通算2…5代表四台同配置接入关系，总通算6台。T4全部六台逐台展示，每台8卡。两台910B各8条200GE实际光链路连接同一RoCE交换机，交换机侧端口1–16编号仅作接线示意，待实际端口映射确认。16条链路需要双端32个模块。交换机拟放A柜，B柜8条跨柜；没有额外Spine交换机，不具备交换机级冗余。紫线只连910B，不将T4接入HCCL通信组。业务/BMC速率未知，不照搬参考图的1G/25G/400G。可选存储图中绘制通算侧示意，910B/T4按需要另接存储交换机。光纤、模块、距离、FEC/MTU、IP、PFC/ECN及HCCL按设备兼容方案验证。图为拟议方案，未声称已完成连通与带宽测试。参考图仅用于布局风格，不照搬其设备或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roce: https://e.huawei.com/cn/products/computing/ascend/atlas-800t-a2</a:t>
            </a:r>
          </a:p>
          <a:p xmlns:a="http://schemas.openxmlformats.org/drawingml/2006/main">
            <a:r>
              <a:t>optics: https://e.huawei.com/cn/products/dcn-modules/200g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013616be34f29" /><Relationship Type="http://schemas.openxmlformats.org/officeDocument/2006/relationships/notesSlide" Target="/ppt/notesSlides/notesSlide1.xml" Id="R13f61b29c7fe4f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2C64666-840C-44AA-9DA3-C723DDC6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30485-9196-44A9-83AD-AD42AFA4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68F76-2E99-4CDA-8D61-AA94C158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已确认：1 台 RoCE 交换机、16 条 200GE 链路、双端 32 个光模块。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29343-2E02-48B6-9756-0B00584D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1C5A3-F08E-4571-AAAA-9E940285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0BEA5-FDFB-4627-A7A4-68841641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1BD3E-B249-4199-B55F-7829C5D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47850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目标平台 / Internet / 压测入口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9449C-1BBE-4546-AE41-045E0BC4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76475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E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边界防火墙 / 访问控制（复用或补齐）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E6B12-01B1-4F1F-823B-817FD7B4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核心 / 业务汇聚交换设备</a:t>
            </a:r>
          </a:p>
        </p:txBody>
      </p:sp>
      <p:cxnSp>
        <p:nvCxnSpPr>
          <p:cNvPr id="15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19800" y="21526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cxnSp>
        <p:nvCxnSpPr>
          <p:cNvPr id="154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19800" y="25812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7EBD0-7D27-4339-A7AA-1DEF434A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95525"/>
            <a:ext cx="2600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运维入口 / 管理区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9EE33-EA73-49D4-A838-AA945D86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29813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带外管理接入交换设备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FD4F7-2189-4E62-82A2-3639900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2990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2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业务网接入交换设备</a:t>
            </a:r>
          </a:p>
        </p:txBody>
      </p:sp>
      <p:cxnSp>
        <p:nvCxnSpPr>
          <p:cNvPr id="158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881188" y="2600325"/>
            <a:ext cx="60007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59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19800" y="3019425"/>
            <a:ext cx="212407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C117D-C0B0-4A07-B26C-71E39EB1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813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交换设备</a:t>
            </a:r>
          </a:p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管理口接入带外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1B894-292D-4F10-9490-DF9340DC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240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73A9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1219A-34B2-4711-80A9-658D7E89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288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业务网：速率待盘点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B04D6-43BB-4413-A7BE-50BBA5E1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0027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139CC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4DFC3-8DFD-4FE9-8F8C-26442B32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050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网：速率待盘点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349AE-A9B7-475F-9724-65B9FE7C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77429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FDC94-20A4-4D57-B994-8CAB12BF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812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RoCE：200GE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FC3F8-AF8A-405E-9DF1-D11E9DF5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527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41621-9454-4C4C-9356-0F6DD3B6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574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存储网：可选 / 虚线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3239E5-D14A-4B0B-ABAC-CD5AF505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76700"/>
            <a:ext cx="2876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5ECCE-AAE0-4E4C-9038-39E0014B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384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8AE54-4416-4C9D-93C0-51250786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76700"/>
            <a:ext cx="39719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500ED2-69F4-42E9-B6DC-BDC2C8D9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8482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A 柜 / 10 kW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6B79AC-F04B-4885-A2F2-08A91BDA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482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B 柜 / 10 kW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CD54C-21C6-487A-A438-7445E9F3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711428-7FFB-48AE-8A6D-5448D3E4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76" name=""/>
          <p:cNvCxnSpPr>
            <a:stCxn xmlns:a="http://schemas.openxmlformats.org/drawingml/2006/main" id="13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847725" y="3676650"/>
            <a:ext cx="163353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77" name=""/>
          <p:cNvCxnSpPr>
            <a:stCxn xmlns:a="http://schemas.openxmlformats.org/drawingml/2006/main" id="14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1019175" y="3676650"/>
            <a:ext cx="7124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343362-6C38-469D-9819-8F5EC553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781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0CD180-D8A7-4386-A44A-DD5E1253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33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B7C0F8-AF8E-49F8-B728-81E76199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19DE19-B35C-473D-8227-4FC5A04C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2" name=""/>
          <p:cNvCxnSpPr>
            <a:stCxn xmlns:a="http://schemas.openxmlformats.org/drawingml/2006/main" id="13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flipH="1">
            <a:off x="1752600" y="3676650"/>
            <a:ext cx="7286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83" name=""/>
          <p:cNvCxnSpPr>
            <a:stCxn xmlns:a="http://schemas.openxmlformats.org/drawingml/2006/main" id="14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1924050" y="3676650"/>
            <a:ext cx="62198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812117-3649-4888-BDF6-5D057607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67200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2…5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5BB9BB-56C9-48A6-B0A7-42F37F42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33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492C9E-7C36-49D5-9271-B0ABCDD1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F10B06-4847-42C6-B806-AB19AE19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8" name=""/>
          <p:cNvCxnSpPr>
            <a:stCxn xmlns:a="http://schemas.openxmlformats.org/drawingml/2006/main" id="13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2481263" y="3676650"/>
            <a:ext cx="2524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89" name=""/>
          <p:cNvCxnSpPr>
            <a:stCxn xmlns:a="http://schemas.openxmlformats.org/drawingml/2006/main" id="14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 flipH="1">
            <a:off x="2905125" y="3676650"/>
            <a:ext cx="52387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07D67B-9133-4A66-9ADA-FACD8F5F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67200"/>
            <a:ext cx="781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A69EE3-9671-49C1-8A08-6F14039F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33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2E8A16-10DF-4752-8E45-FBA8B3C0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3D435E-AC21-4541-8B27-755EE022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94" name=""/>
          <p:cNvCxnSpPr>
            <a:stCxn xmlns:a="http://schemas.openxmlformats.org/drawingml/2006/main" id="13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2481263" y="3676650"/>
            <a:ext cx="14335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95" name=""/>
          <p:cNvCxnSpPr>
            <a:stCxn xmlns:a="http://schemas.openxmlformats.org/drawingml/2006/main" id="14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 flipH="1">
            <a:off x="4086225" y="3676650"/>
            <a:ext cx="4057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8839F1-4A2A-4AE5-A1AC-0961A817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295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910B-A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C77152-7566-4C47-89B7-46A09EA0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122F12-E2E6-4505-BD86-DFD6ABBB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A44DE4-2E70-4441-9350-F2D57E3E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12644E-635C-4D64-8732-AB5BEE0E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F50801-5939-45D4-8A95-AF4F024F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0CB654-9F10-44AD-B324-7369DC1A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A06CFE-FCD0-4F94-991E-574CCA09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E9454F-E0BA-42D4-BD2E-ADBB61EA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9C03E6-2330-4336-AD85-71351113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FEEAB1-C638-4A26-B002-D26F9944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07" name=""/>
          <p:cNvCxnSpPr>
            <a:stCxn xmlns:a="http://schemas.openxmlformats.org/drawingml/2006/main" id="13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2481263" y="3676650"/>
            <a:ext cx="28432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08" name=""/>
          <p:cNvCxnSpPr>
            <a:stCxn xmlns:a="http://schemas.openxmlformats.org/drawingml/2006/main" id="14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 flipH="1">
            <a:off x="5495925" y="3676650"/>
            <a:ext cx="26479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9FEDDE-6D10-475C-98BD-F564B15D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T4-1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89EF58-95C5-46EB-95D9-FDBE3BAB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E72993-0905-4C03-837E-028702F6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2" name=""/>
          <p:cNvCxnSpPr>
            <a:stCxn xmlns:a="http://schemas.openxmlformats.org/drawingml/2006/main" id="13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2481263" y="3676650"/>
            <a:ext cx="35956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13" name=""/>
          <p:cNvCxnSpPr>
            <a:stCxn xmlns:a="http://schemas.openxmlformats.org/drawingml/2006/main" id="14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 flipH="1">
            <a:off x="6248400" y="3676650"/>
            <a:ext cx="18954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C63130-ED5A-4600-9079-582DE3D2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T4-2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109754F-36DA-4568-B9C5-9DA1F65E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6273D20-656A-4F91-87FD-E90A1E44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7" name=""/>
          <p:cNvCxnSpPr>
            <a:stCxn xmlns:a="http://schemas.openxmlformats.org/drawingml/2006/main" id="13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2481263" y="3676650"/>
            <a:ext cx="43481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18" name=""/>
          <p:cNvCxnSpPr>
            <a:stCxn xmlns:a="http://schemas.openxmlformats.org/drawingml/2006/main" id="14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 flipH="1">
            <a:off x="7000875" y="3676650"/>
            <a:ext cx="1143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3CE49C-D63C-41FC-8D81-1A2ABABC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T4-3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85BC91-2351-4187-9494-EAF673D5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6F60F01-147D-4414-ABF7-992708E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22" name=""/>
          <p:cNvCxnSpPr>
            <a:stCxn xmlns:a="http://schemas.openxmlformats.org/drawingml/2006/main" id="13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2481263" y="3676650"/>
            <a:ext cx="54721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23" name=""/>
          <p:cNvCxnSpPr>
            <a:stCxn xmlns:a="http://schemas.openxmlformats.org/drawingml/2006/main" id="14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 flipH="1">
            <a:off x="8124825" y="3676650"/>
            <a:ext cx="19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CFF9CC6-9587-4EA3-BE7A-6FA5D3B0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1295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910B-B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2B5628C-8E25-4DCD-8731-097C7513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DEFCE67-2DF9-4C29-A9E8-7B50C8A8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042AEF0-9FBF-44C6-83D1-0828C57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2750B10-390D-4A8E-B7F8-2511A9CE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DB8DF42-E27B-4131-84B7-19248404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6139427-9FFE-428D-B15F-076E7028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5D5487-ACF3-4677-B299-3EDB2E68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E0058D4-54CF-4E0F-8F67-5A19D753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03773D1-0D09-4628-9BD1-9614BFBA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CCA105D-FAE9-450D-9637-0B2DE0F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35" name=""/>
          <p:cNvCxnSpPr>
            <a:stCxn xmlns:a="http://schemas.openxmlformats.org/drawingml/2006/main" id="13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2481263" y="3676650"/>
            <a:ext cx="68818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36" name=""/>
          <p:cNvCxnSpPr>
            <a:stCxn xmlns:a="http://schemas.openxmlformats.org/drawingml/2006/main" id="14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8143875" y="3676650"/>
            <a:ext cx="1390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E0DFD03-712E-4893-B80B-4150AD95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T4-4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D367365-AE2C-4432-9FC4-1084FEF7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6A01AA1-8D7D-4B35-8701-E05C5AB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40" name=""/>
          <p:cNvCxnSpPr>
            <a:stCxn xmlns:a="http://schemas.openxmlformats.org/drawingml/2006/main" id="13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>
            <a:off x="2481263" y="3676650"/>
            <a:ext cx="76342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41" name=""/>
          <p:cNvCxnSpPr>
            <a:stCxn xmlns:a="http://schemas.openxmlformats.org/drawingml/2006/main" id="14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8143875" y="3676650"/>
            <a:ext cx="21431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40C4865-5160-4846-8752-84D48730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T4-5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9C2854D-58DA-4A84-83E5-FA8C5622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7DC6C6C-336A-4509-8198-255DD2B7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45" name=""/>
          <p:cNvCxnSpPr>
            <a:stCxn xmlns:a="http://schemas.openxmlformats.org/drawingml/2006/main" id="13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2481263" y="3676650"/>
            <a:ext cx="83867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46" name=""/>
          <p:cNvCxnSpPr>
            <a:stCxn xmlns:a="http://schemas.openxmlformats.org/drawingml/2006/main" id="14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8143875" y="3676650"/>
            <a:ext cx="28956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099EC8-4037-44DA-BDFF-E4342D3C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67200"/>
            <a:ext cx="819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T4-6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AFDA5DB-9383-44B4-866E-4A4507F4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648325"/>
            <a:ext cx="4886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 交换机 ×1（拟放 A 柜）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27B7D80-0611-43CE-A60D-8CC8A5FD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cxnSp>
        <p:nvCxnSpPr>
          <p:cNvPr id="250" name=""/>
          <p:cNvCxnSpPr>
            <a:stCxn xmlns:a="http://schemas.openxmlformats.org/drawingml/2006/main" id="54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3833813" y="4867275"/>
            <a:ext cx="13954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E08706-109F-4393-8ECC-AE8FB736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cxnSp>
        <p:nvCxnSpPr>
          <p:cNvPr id="252" name=""/>
          <p:cNvCxnSpPr>
            <a:stCxn xmlns:a="http://schemas.openxmlformats.org/drawingml/2006/main" id="55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3986213" y="4867275"/>
            <a:ext cx="14811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36AB11-0166-43C8-9C5A-5F460A77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cxnSp>
        <p:nvCxnSpPr>
          <p:cNvPr id="254" name=""/>
          <p:cNvCxnSpPr>
            <a:stCxn xmlns:a="http://schemas.openxmlformats.org/drawingml/2006/main" id="56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4138613" y="4867275"/>
            <a:ext cx="1566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2A8C74D-C61C-4536-A7A8-07E3905B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cxnSp>
        <p:nvCxnSpPr>
          <p:cNvPr id="256" name=""/>
          <p:cNvCxnSpPr>
            <a:stCxn xmlns:a="http://schemas.openxmlformats.org/drawingml/2006/main" id="57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4291013" y="4867275"/>
            <a:ext cx="1652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6EC49CD-2E96-49B3-8817-D55F82AE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cxnSp>
        <p:nvCxnSpPr>
          <p:cNvPr id="258" name=""/>
          <p:cNvCxnSpPr>
            <a:stCxn xmlns:a="http://schemas.openxmlformats.org/drawingml/2006/main" id="58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4443413" y="4867275"/>
            <a:ext cx="1738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23C42D5-92C0-4CCC-A524-9A12B503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cxnSp>
        <p:nvCxnSpPr>
          <p:cNvPr id="260" name=""/>
          <p:cNvCxnSpPr>
            <a:stCxn xmlns:a="http://schemas.openxmlformats.org/drawingml/2006/main" id="59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4595813" y="4867275"/>
            <a:ext cx="1824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FD49A6C-0A32-4128-815C-CEED4C9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cxnSp>
        <p:nvCxnSpPr>
          <p:cNvPr id="262" name=""/>
          <p:cNvCxnSpPr>
            <a:stCxn xmlns:a="http://schemas.openxmlformats.org/drawingml/2006/main" id="60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4748213" y="4867275"/>
            <a:ext cx="1909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906C93D-A7DC-45DF-829A-AF6A09CE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cxnSp>
        <p:nvCxnSpPr>
          <p:cNvPr id="264" name=""/>
          <p:cNvCxnSpPr>
            <a:stCxn xmlns:a="http://schemas.openxmlformats.org/drawingml/2006/main" id="61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4900613" y="4867275"/>
            <a:ext cx="19954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C92DA01-2B36-4A3E-B5FA-AA250C17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cxnSp>
        <p:nvCxnSpPr>
          <p:cNvPr id="266" name=""/>
          <p:cNvCxnSpPr>
            <a:stCxn xmlns:a="http://schemas.openxmlformats.org/drawingml/2006/main" id="82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 flipH="1">
            <a:off x="7658100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DA37B23-F42E-4F9B-BC8A-8294AB04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cxnSp>
        <p:nvCxnSpPr>
          <p:cNvPr id="268" name=""/>
          <p:cNvCxnSpPr>
            <a:stCxn xmlns:a="http://schemas.openxmlformats.org/drawingml/2006/main" id="8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 flipH="1">
            <a:off x="7896225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359FB7F-A9FC-4C7F-B973-7F284DF9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cxnSp>
        <p:nvCxnSpPr>
          <p:cNvPr id="270" name=""/>
          <p:cNvCxnSpPr>
            <a:stCxn xmlns:a="http://schemas.openxmlformats.org/drawingml/2006/main" id="84" idx="2"/>
            <a:endCxn xmlns:a="http://schemas.openxmlformats.org/drawingml/2006/main" id="126" idx="0"/>
          </p:cNvCxnSpPr>
          <p:nvPr/>
        </p:nvCxnSpPr>
        <p:spPr>
          <a:xfrm xmlns:a="http://schemas.openxmlformats.org/drawingml/2006/main" flipH="1">
            <a:off x="8134350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B75AADA-B27C-49EF-ADA6-7570F1C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cxnSp>
        <p:nvCxnSpPr>
          <p:cNvPr id="272" name=""/>
          <p:cNvCxnSpPr>
            <a:stCxn xmlns:a="http://schemas.openxmlformats.org/drawingml/2006/main" id="85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8329613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D36CB9-62C3-4B92-A924-D1FB806B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cxnSp>
        <p:nvCxnSpPr>
          <p:cNvPr id="274" name=""/>
          <p:cNvCxnSpPr>
            <a:stCxn xmlns:a="http://schemas.openxmlformats.org/drawingml/2006/main" id="86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8482013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C8ABB40-53AC-4546-9191-C69393BB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cxnSp>
        <p:nvCxnSpPr>
          <p:cNvPr id="276" name=""/>
          <p:cNvCxnSpPr>
            <a:stCxn xmlns:a="http://schemas.openxmlformats.org/drawingml/2006/main" id="87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8634413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CEF86D7-3CFA-4CA9-BF21-4FAFCCA2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cxnSp>
        <p:nvCxnSpPr>
          <p:cNvPr id="278" name=""/>
          <p:cNvCxnSpPr>
            <a:stCxn xmlns:a="http://schemas.openxmlformats.org/drawingml/2006/main" id="88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8786813" y="4867275"/>
            <a:ext cx="300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82A7EE5-41EB-4E3D-B861-48C47AB7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cxnSp>
        <p:nvCxnSpPr>
          <p:cNvPr id="280" name=""/>
          <p:cNvCxnSpPr>
            <a:stCxn xmlns:a="http://schemas.openxmlformats.org/drawingml/2006/main" id="89" idx="2"/>
            <a:endCxn xmlns:a="http://schemas.openxmlformats.org/drawingml/2006/main" id="136" idx="0"/>
          </p:cNvCxnSpPr>
          <p:nvPr/>
        </p:nvCxnSpPr>
        <p:spPr>
          <a:xfrm xmlns:a="http://schemas.openxmlformats.org/drawingml/2006/main">
            <a:off x="8939213" y="4867275"/>
            <a:ext cx="385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28BF831-C9B4-4926-A503-4D9F7C98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340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rPr>
              <a:t>跨柜光纤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C25212D-A4CE-4523-ABC2-61798C7F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53075"/>
            <a:ext cx="32670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可选存储网 / 共享存储</a:t>
            </a:r>
          </a:p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通算及加速节点按需接入</a:t>
            </a:r>
          </a:p>
        </p:txBody>
      </p:sp>
      <p:cxnSp>
        <p:nvCxnSpPr>
          <p:cNvPr id="283" name=""/>
          <p:cNvCxnSpPr>
            <a:stCxn xmlns:a="http://schemas.openxmlformats.org/drawingml/2006/main" id="36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1228725" y="4867275"/>
            <a:ext cx="985838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cxnSp>
        <p:nvCxnSpPr>
          <p:cNvPr id="284" name=""/>
          <p:cNvCxnSpPr>
            <a:stCxn xmlns:a="http://schemas.openxmlformats.org/drawingml/2006/main" id="42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2133600" y="4867275"/>
            <a:ext cx="80963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cxnSp>
        <p:nvCxnSpPr>
          <p:cNvPr id="285" name=""/>
          <p:cNvCxnSpPr>
            <a:stCxn xmlns:a="http://schemas.openxmlformats.org/drawingml/2006/main" id="4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 flipH="1">
            <a:off x="2214563" y="4867275"/>
            <a:ext cx="900113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69F527D-08F3-4DBA-A7DD-07B52906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9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接入层为逻辑设备组，数量、冗余与速率待盘点。6 台通算已有机柜，承载 MASS 等；混装须核验功率。</a:t>
            </a:r>
          </a:p>
        </p:txBody>
      </p:sp>
    </p:spTree>
    <p:extLst>
      <p:ext uri="{BB962C8B-B14F-4D97-AF65-F5344CB8AC3E}">
        <p14:creationId xmlns:p14="http://schemas.microsoft.com/office/powerpoint/2010/main" val="1778105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