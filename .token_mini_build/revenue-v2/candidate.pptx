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0be2c651fa455b" /><Relationship Type="http://schemas.openxmlformats.org/officeDocument/2006/relationships/extended-properties" Target="/docProps/app.xml" Id="R1ea4b26d8ddc4a03" /><Relationship Type="http://schemas.openxmlformats.org/officeDocument/2006/relationships/officeDocument" Target="/ppt/presentation.xml" Id="R6f06dd7cd38e4d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96ef68c7094450"/>
  </p:sldMasterIdLst>
  <p:notesMasterIdLst>
    <p:notesMasterId xmlns:r="http://schemas.openxmlformats.org/officeDocument/2006/relationships" r:id="Raa7dbac144374fab"/>
  </p:notesMasterIdLst>
  <p:sldIdLst>
    <p:sldId xmlns:r="http://schemas.openxmlformats.org/officeDocument/2006/relationships" id="256" r:id="Re37ccbf95077435d"/>
    <p:sldId xmlns:r="http://schemas.openxmlformats.org/officeDocument/2006/relationships" id="257" r:id="R06971e59376844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7da1f29f124ec1" /><Relationship Type="http://schemas.openxmlformats.org/officeDocument/2006/relationships/slideMaster" Target="/ppt/slideMasters/slideMaster1.xml" Id="Re496ef68c7094450" /><Relationship Type="http://schemas.openxmlformats.org/officeDocument/2006/relationships/notesMaster" Target="/ppt/notesMasters/notesMaster1.xml" Id="Raa7dbac144374fab" /><Relationship Type="http://schemas.openxmlformats.org/officeDocument/2006/relationships/presProps" Target="/ppt/presProps.xml" Id="Rd80efd9f09ec49d5" /><Relationship Type="http://schemas.openxmlformats.org/officeDocument/2006/relationships/tableStyles" Target="/ppt/tableStyles.xml" Id="Rf58040d6b21c4b26" /><Relationship Type="http://schemas.openxmlformats.org/officeDocument/2006/relationships/slide" Target="/ppt/slides/slide1.xml" Id="Re37ccbf95077435d" /><Relationship Type="http://schemas.openxmlformats.org/officeDocument/2006/relationships/slide" Target="/ppt/slides/slide2.xml" Id="R06971e59376844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244e59df94a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ab38864e11485d" /><Relationship Type="http://schemas.openxmlformats.org/officeDocument/2006/relationships/notesMaster" Target="/ppt/notesMasters/notesMaster1.xml" Id="Rd0ae075291f144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43191033a945dc" /><Relationship Type="http://schemas.openxmlformats.org/officeDocument/2006/relationships/notesMaster" Target="/ppt/notesMasters/notesMaster1.xml" Id="R5fbd9eaa6aca4c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量纲一致的收入估算，不是实测收入。定义每类整套服务吞吐为成功请求口径token/min，30天为43200分钟，每百万token价格除1000000。各类可计费产出比例分别估计，代表实际月可计费量除该类压测速率乘43200的参考量；不是简单设备利用率，应包含需求、在线时长和可结算范围中尚未体现的差异，避免重复扣减已有损失。混部时三类速率必须来自同一负载，且不能把每类独立峰值当作同时可交付。缓存命中输入是逻辑复用量，按缓存结算价，不是完整prefill计算量。使用整套服务吞吐不乘卡数，只有卡均吞吐才在其他口径下需要乘卡数。同一币种税口径结算。本版删除未经本轮核验的外部价格表，改为合同价格输入。算例60000×43200×0.5×2/1000000=2592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结算还可能有合同约定调整项，实际回款以银行记录为准。YOLO和Wan按图片、视频任务等约定单位计价，不套token公式。增量成本和全成本是不同分析视角，不重复累计。月电量使用实测平均功率乘小时，机柜10kW不是持续耗电值。设备购置款与同设备折旧不得在同一利润口径重复全额扣减。价格币种和税口径保持一致。T4在文本、检测和视频任务间分配卡时，总资源不能重复占用。原版k*符号公式改为中文盈亏条件，避免未定义变量。缺少实测、合同价格和成本时不给出确定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3974c34e446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d17f88bda4068" /><Relationship Type="http://schemas.openxmlformats.org/officeDocument/2006/relationships/slideLayout" Target="/ppt/slideLayouts/slideLayout1.xml" Id="R8dcedeecebbc48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cedeecebbc48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0f1d537264479" /><Relationship Type="http://schemas.openxmlformats.org/officeDocument/2006/relationships/notesSlide" Target="/ppt/notesSlides/notesSlide1.xml" Id="R3e320e5c6d6f40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ca00c209e4831" /><Relationship Type="http://schemas.openxmlformats.org/officeDocument/2006/relationships/notesSlide" Target="/ppt/notesSlides/notesSlide2.xml" Id="Rbba5c08a0cf341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E12CC-7888-4A30-874D-897BDDF5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85AFF-16B3-4985-ACC1-CB5462B5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月收入测算：三类 Token 分开计价，再求和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3E3DE-49C8-457F-88E1-6EFBF247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统一使用同一负载下整套服务的吞吐（token/min），单价单位为元 / 百万 Token。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0C885-3BC9-4723-98FF-25C112EF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17DEF-6CB7-4CB6-83FA-4843AB41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1ADFC-D72F-42B5-BDC4-3B740E8E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66189-CF6D-4D04-A5E1-26AACF3D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月收入＝每分钟吞吐 × 43,200分钟 × 可计费产出比例 × 对应单价 ÷ 1,000,000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71500" y="2514600"/>
          <a:ext xmlns:a="http://schemas.openxmlformats.org/drawingml/2006/main" cx="11049000" cy="1733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810625"/>
              </a:tblGrid>
              <a:tr h="333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收入类别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可以直接代入的公式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输出月收入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整套服务输出吞吐 × 43,200 × 可计费产出比例 × 输出单价 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未命中输入月收入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整套服务未命中输入吞吐 × 43,200 × 可计费产出比例 × 未命中输入单价 ÷ 1,000,000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缓存命中输入月收入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整套服务缓存命中输入吞吐 × 43,200 × 可计费产出比例 × 缓存命中输入单价 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A71D4-73BB-4F37-B38B-780FCB85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43,200分钟＝30天 × 24小时 × 60分钟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82D85-A077-4AE8-B237-B84AC24F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11010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可计费产出比例：实际月度可计费用量，占“按该压测速度持续运行30天”理论用量的比例。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单价使用双方约定的结算价格；三类吞吐已包含参与测试的卡数，不再乘一次卡数。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F18EA-08AE-4F44-BD0B-251803B0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算例：输出 60,000 token/min × 43,200 × 50% × 2元 / 百万 ÷ 1,000,000＝2,592元 / 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408E7-DD7A-4A76-980E-F9C69A05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0275"/>
            <a:ext cx="1101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算例为假设，非实测收益。各类产出比例可不同；已有吞吐中的失败损失不重复扣除，独立峰值不能相加。</a:t>
            </a:r>
          </a:p>
        </p:txBody>
      </p:sp>
    </p:spTree>
    <p:extLst>
      <p:ext uri="{BB962C8B-B14F-4D97-AF65-F5344CB8AC3E}">
        <p14:creationId xmlns:p14="http://schemas.microsoft.com/office/powerpoint/2010/main" val="2109189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00D43-B3BD-4F34-995F-C18526DB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99311-CF42-4454-9949-68F5020E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收入与利润：先算可结算收入，再扣项目成本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8CEEB-20F3-4462-A149-6DB313D8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预测收入用于评估产能；实际结算以双方认可的用量、合同价格及调整项为准。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9180C-3889-404D-BF3B-7AB6E14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68EDA-F3B2-418A-ACB9-84A1D83B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775CC-B0E3-4778-AD9A-3DF87EDB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F09BF-6908-4704-953C-0F110868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101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文本月收入＝输出月收入＋未命中输入月收入＋缓存命中输入月收入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DC541-6D25-4EE1-A81D-FAF24AF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1010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月经营结果＝文本收入＋检测收入＋视频收入－项目成本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143500"/>
                <a:gridCol w="3571875"/>
              </a:tblGrid>
              <a:tr h="342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成本视角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纳入哪些成本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用于判断什么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增量运营收支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新增电费、网络、机房与运维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按项目实际承担范围计入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现有设备提供服务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能否覆盖新增现金支出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全成本经营结果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增量成本＋折旧 / 租赁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既有通算与机柜按约定分摊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持续经营和后续扩容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是否具有经济性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3CACE-FE06-46B5-B59D-1373076A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实际文本结算额＝三类实际可计费 Token 数分别乘对应单价 ÷ 1,000,000，再求和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82A96-0581-4D4A-8A44-7B103B8A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盈亏平衡：固定业务组合下，月总收入达到月项目成本。</a:t>
            </a:r>
          </a:p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单独分析结算价格、需求利用、缓存比例与任务分配；调整组合后重新测算产能。</a:t>
            </a:r>
          </a:p>
        </p:txBody>
      </p:sp>
    </p:spTree>
    <p:extLst>
      <p:ext uri="{BB962C8B-B14F-4D97-AF65-F5344CB8AC3E}">
        <p14:creationId xmlns:p14="http://schemas.microsoft.com/office/powerpoint/2010/main" val="538082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2026-09-16T09:12:23.0870000Z</dcterms:created>
  <dcterms:modified xsi:type="dcterms:W3CDTF">2026-09-16T09:12:23.0870000Z</dcterms:modified>
</coreProperties>
</file>