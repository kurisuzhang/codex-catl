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857c9d94cb4737" /><Relationship Type="http://schemas.openxmlformats.org/officeDocument/2006/relationships/extended-properties" Target="/docProps/app.xml" Id="Re0f7b6bf55d343c5" /><Relationship Type="http://schemas.openxmlformats.org/officeDocument/2006/relationships/officeDocument" Target="/ppt/presentation.xml" Id="Rfee48b5640d740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200c6620c648fe"/>
  </p:sldMasterIdLst>
  <p:notesMasterIdLst>
    <p:notesMasterId xmlns:r="http://schemas.openxmlformats.org/officeDocument/2006/relationships" r:id="R5ae304c2f9d24ded"/>
  </p:notesMasterIdLst>
  <p:sldIdLst>
    <p:sldId xmlns:r="http://schemas.openxmlformats.org/officeDocument/2006/relationships" id="256" r:id="R57dbaa42316f45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f28be0e33544a1" /><Relationship Type="http://schemas.openxmlformats.org/officeDocument/2006/relationships/slideMaster" Target="/ppt/slideMasters/slideMaster1.xml" Id="R52200c6620c648fe" /><Relationship Type="http://schemas.openxmlformats.org/officeDocument/2006/relationships/notesMaster" Target="/ppt/notesMasters/notesMaster1.xml" Id="R5ae304c2f9d24ded" /><Relationship Type="http://schemas.openxmlformats.org/officeDocument/2006/relationships/presProps" Target="/ppt/presProps.xml" Id="R5fffe76093fe42be" /><Relationship Type="http://schemas.openxmlformats.org/officeDocument/2006/relationships/tableStyles" Target="/ppt/tableStyles.xml" Id="Rcc168104ccd246a8" /><Relationship Type="http://schemas.openxmlformats.org/officeDocument/2006/relationships/slide" Target="/ppt/slides/slide1.xml" Id="R57dbaa42316f45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a1ffc2b5e14b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6d22eb0be94725" /><Relationship Type="http://schemas.openxmlformats.org/officeDocument/2006/relationships/notesMaster" Target="/ppt/notesMasters/notesMaster1.xml" Id="R4465def5a62f49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已确认的12步部署流程整合为四阶段。每阶段三项操作，底部为对应完成标准，勾号表示要求而非已经完成。保留权重下载、量化、分发、环境准备、容器设备透传、推理、扩展、验收、平台接入和故障恢复全部环节。T4与910B是不同的候选执行路径，具体模型以06适配结果为准。单机先验通，双机只在需要时执行，不能将所有模型默认扩至双机。MASS实际字段、镜像digest、模型revision和节点配置尚待现场确认。T4文本引擎候选包含vLLM、SGLang、Ollama和llama.cpp。需要核验具体模型、量化格式、SM75算子、软件版本、显存及性能，不代表每个组合都已支持。GGUF是权重格式，llama.cpp仅为此前示例路径。详细操作和命令见07_模型部署_操作清单.md。</a:t>
            </a:r>
          </a:p>
          <a:p xmlns:a="http://schemas.openxmlformats.org/drawingml/2006/main">
            <a:r>
              <a:t>https://docs.ollama.com/gpu</a:t>
            </a:r>
          </a:p>
          <a:p xmlns:a="http://schemas.openxmlformats.org/drawingml/2006/main">
            <a:r>
              <a:t>https://docs.sglang.io/docs/get-started/install</a:t>
            </a:r>
          </a:p>
          <a:p xmlns:a="http://schemas.openxmlformats.org/drawingml/2006/main">
            <a:r>
              <a:t>https://docs.vllm.ai/en/latest/getting_started/installation/gpu/</a:t>
            </a:r>
          </a:p>
          <a:p xmlns:a="http://schemas.openxmlformats.org/drawingml/2006/main">
            <a:r>
              <a:t>官方资料：</a:t>
            </a:r>
          </a:p>
          <a:p xmlns:a="http://schemas.openxmlformats.org/drawingml/2006/main">
            <a:r>
              <a:t>https://huggingface.co/docs/huggingface_hub/en/guides/cli</a:t>
            </a:r>
          </a:p>
          <a:p xmlns:a="http://schemas.openxmlformats.org/drawingml/2006/main">
            <a:r>
              <a:t>https://github.com/modelscope/modelscope/blob/master/docs/source/command.md</a:t>
            </a:r>
          </a:p>
          <a:p xmlns:a="http://schemas.openxmlformats.org/drawingml/2006/main">
            <a:r>
              <a:t>https://docs.vllm.ai/projects/ascend/en/latest/tutorials/models/Qwen3.8-27B.html</a:t>
            </a:r>
          </a:p>
          <a:p xmlns:a="http://schemas.openxmlformats.org/drawingml/2006/main">
            <a:r>
              <a:t>https://github.com/ggml-org/llama.cpp/blob/master/tools/server/README.md</a:t>
            </a:r>
          </a:p>
          <a:p xmlns:a="http://schemas.openxmlformats.org/drawingml/2006/main">
            <a:r>
              <a:t>https://docs.ultralytics.com/models/yolo26/</a:t>
            </a:r>
          </a:p>
          <a:p xmlns:a="http://schemas.openxmlformats.org/drawingml/2006/main">
            <a:r>
              <a:t>https://github.com/Wan-Video/Wan2.1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b576f342742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3baaa543ed4909" /><Relationship Type="http://schemas.openxmlformats.org/officeDocument/2006/relationships/slideLayout" Target="/ppt/slideLayouts/slideLayout1.xml" Id="R6fabc66eab7748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abc66eab7748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d22742a1a488d" /><Relationship Type="http://schemas.openxmlformats.org/officeDocument/2006/relationships/notesSlide" Target="/ppt/notesSlides/notesSlide1.xml" Id="R69f8fbdc38e34a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19A0D9-65BF-41B8-BD09-F91D3758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A5  模型部署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CD149-4B61-4A14-82FE-9AD0F741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模型部署全流程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3D174-A08D-4F4C-B1F4-8198C238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从模型仓库到 MASS 服务：四个阶段推进，验收通过后发布。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3C7A5-4D5A-4E4C-A3AF-37FE0DCC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DF8EB-F849-4244-B270-6E91E797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87879-603D-4419-91FB-B9F457DC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10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FF0A1-8F67-47CC-95B9-19D1BA30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504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CC901-A283-497C-AA5D-98CB221A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812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模型准备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94BDC-C92B-4154-9585-2BD195E5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C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0080A-9303-4427-B440-E563CC9E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257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9C985-E87F-48CD-AF98-2830152D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81200"/>
            <a:ext cx="504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73ACB-F346-4986-9552-6D69C80A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812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运行环境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AC5D18-9188-4CA2-8C31-562D3A9D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050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C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7F024-A709-4CA3-A12C-4324E7A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38350"/>
            <a:ext cx="257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95C62-7917-4622-A391-A27A83ED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81200"/>
            <a:ext cx="504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2F9A1F-5A26-47BA-9D5D-DFE22B3C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812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推理服务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B51E9A-BD78-4B9A-BE12-DA25739B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050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C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2BFD8B-30E8-4A80-B95E-21D23F9F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38350"/>
            <a:ext cx="257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3F0B7-21B8-45A1-A9B2-8EAA66AD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81200"/>
            <a:ext cx="504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0C6A3-9643-40BF-AFBA-361AE0F9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812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验收与交付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E16BA3-FD63-40FC-9B3C-E06949E6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050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C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B3559E-9615-4807-9450-C5736F9E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955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确定规格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7DA943-70D7-4443-8EEC-B7C75715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仓库 / revision、精度与卡数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上下文 / 并发、许可与权限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E0FF4-B139-464D-94A5-316D3463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下载与校验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C19F0A-B7DD-4A88-8224-A681E4F6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Hugging Face / ModelScope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权重分片、配置、SHA256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6608E6-C221-4579-A8DF-E815942A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准备权重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DF9329-A1D7-453D-87CE-948CD246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按需量化 / 格式转换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补齐 tokenizer 与视觉组件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958CDB-8F5F-48DD-8A7C-BFBE388C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955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节点与驱动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A01A88-CC89-49C7-887F-7B3EECE8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099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OS、IP / 时间、磁盘 / 权限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驱动与固件、设备健康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859955-F178-4111-8961-0CF26322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1472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模型与镜像分发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AE270A-0866-4E20-B46E-1E655F87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2905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各节点权重一致、固定路径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镜像配套、固定 digest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13F23E-8D7D-4ECE-8418-0C044639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338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容器接入设备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F9E532-6668-4B38-996A-8E8CD5D8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482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透传卡与驱动库、挂载目录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共享内存 / 端口、容器内验卡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9B734F-6060-4A22-8324-684A6D54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955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910B 分支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D02765-352F-4EEC-BA1C-5AF819DF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99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Ascend 镜像＋vLLM Ascend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按 A2 配方配置精度与并行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C31A12-50F2-43CD-9231-E67F4AED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 分支：按适配选引擎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E06BC0-B307-4DB8-B036-B6D0C6ED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2905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vLLM / SGLang（核验支持）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Ollama / llama.cpp（候选）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001275-B781-4204-8B1A-5EFEA11E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338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启动与扩展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704460-658C-45D4-B93A-64B01E8B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482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先单机低负载；双机先验 RoCE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再配 rank / TP / DP / EP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5CAC45-9D7E-49DA-B5A6-75C1617E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955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接口与质量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90D9E8-704E-4C21-B1F0-8829776B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099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健康检查、模型列表、推理 API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固定样本、流式输出、停止条件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554B09-1FF6-4B7C-B301-1A998B82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1472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负载与稳定性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7A9AE6-2619-4F88-A15E-6FF3A97A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2905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增加上下文 / 并发，记录显存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TTFT / TPOT / 吞吐，视觉另测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465FA5-5A3D-4DC5-A279-1774954E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338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MASS 接入与发布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AE2252-16EC-49AD-A30E-41F58826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482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鉴权 / 路由 / 计量、端到端验证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进程托管、监控、小流量与回退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1E3C3C-0DEC-4EB7-B82F-651259B9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76D55C-3DBF-4087-B6AD-44DDB744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253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✓  权重完整且可追溯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5834A3-EADF-419A-9BD6-DE05B73F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410200"/>
            <a:ext cx="253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✓  容器内设备可用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9F61A4F-C7CE-466C-BD38-1A838D29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10200"/>
            <a:ext cx="253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✓  服务启动且可调用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F210C2-9215-4D0C-9165-0A1C9D02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253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✓  效果达标并可恢复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FEEB33-00B9-441B-9EFC-4643E77C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76925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文本引擎按模型 / 量化 / 算子支持选型；YOLO / Wan 使用独立管线。详细命令见配套操作清单。</a:t>
            </a:r>
          </a:p>
        </p:txBody>
      </p:sp>
    </p:spTree>
    <p:extLst>
      <p:ext uri="{BB962C8B-B14F-4D97-AF65-F5344CB8AC3E}">
        <p14:creationId xmlns:p14="http://schemas.microsoft.com/office/powerpoint/2010/main" val="16438588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2026-09-16T08:03:31.7040000Z</dcterms:created>
  <dcterms:modified xsi:type="dcterms:W3CDTF">2026-09-16T08:03:31.7040000Z</dcterms:modified>
</coreProperties>
</file>