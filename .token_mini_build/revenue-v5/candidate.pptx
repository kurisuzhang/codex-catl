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55c013a4a424a" /><Relationship Type="http://schemas.openxmlformats.org/officeDocument/2006/relationships/extended-properties" Target="/docProps/app.xml" Id="R53ebdc7e0a674b9c" /><Relationship Type="http://schemas.openxmlformats.org/officeDocument/2006/relationships/officeDocument" Target="/ppt/presentation.xml" Id="R6b6df3bba44443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5aa1d5c9b6435e"/>
  </p:sldMasterIdLst>
  <p:notesMasterIdLst>
    <p:notesMasterId xmlns:r="http://schemas.openxmlformats.org/officeDocument/2006/relationships" r:id="R54a6d1af0b574f5f"/>
  </p:notesMasterIdLst>
  <p:sldIdLst>
    <p:sldId xmlns:r="http://schemas.openxmlformats.org/officeDocument/2006/relationships" id="256" r:id="Ra75595e2668d43a2"/>
    <p:sldId xmlns:r="http://schemas.openxmlformats.org/officeDocument/2006/relationships" id="257" r:id="R82370e4e0d034b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f042c34fcd4aaf" /><Relationship Type="http://schemas.openxmlformats.org/officeDocument/2006/relationships/slideMaster" Target="/ppt/slideMasters/slideMaster1.xml" Id="Rbf5aa1d5c9b6435e" /><Relationship Type="http://schemas.openxmlformats.org/officeDocument/2006/relationships/notesMaster" Target="/ppt/notesMasters/notesMaster1.xml" Id="R54a6d1af0b574f5f" /><Relationship Type="http://schemas.openxmlformats.org/officeDocument/2006/relationships/presProps" Target="/ppt/presProps.xml" Id="R28473362471f41f8" /><Relationship Type="http://schemas.openxmlformats.org/officeDocument/2006/relationships/tableStyles" Target="/ppt/tableStyles.xml" Id="Rc29ae10d88274def" /><Relationship Type="http://schemas.openxmlformats.org/officeDocument/2006/relationships/slide" Target="/ppt/slides/slide1.xml" Id="Ra75595e2668d43a2" /><Relationship Type="http://schemas.openxmlformats.org/officeDocument/2006/relationships/slide" Target="/ppt/slides/slide2.xml" Id="R82370e4e0d03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422b2411ec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c1f432d5f4ddb" /><Relationship Type="http://schemas.openxmlformats.org/officeDocument/2006/relationships/notesMaster" Target="/ppt/notesMasters/notesMaster1.xml" Id="Rd1601858251849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e4a58d97144994" /><Relationship Type="http://schemas.openxmlformats.org/officeDocument/2006/relationships/notesMaster" Target="/ppt/notesMasters/notesMaster1.xml" Id="R7fa76cc28664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本版删除未经本轮核验的外部价格表，改为合同价格输入。算例60000×43200×0.5×2/1000000=2592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主题仅计算文本收入，不纳入YOLO或视频收入。官方中文价格页截至2026-09-16列DeepSeek-V4.1-Flash（deepseek-flash）：每百万token空闲输入未命中1元、命中0.02元、输出4元，高峰分别2、0.04、8元。高峰北京时间周一至周五9-12和14-18，其余空闲。来源https://api-docs.deepseek.com/zh-cn/quick_start/pricing/?article_id=article_1779470751466_8 。Logo来自官方GitHub账号https://github.com/deepseek-ai.png 。示例是以空闲价为统一基准的产能估值，不能将全天实际服务全部按空闲价视为真实结算。真实结算将高峰和空闲的实际可计费量分别乘相应价格后求和，合同采购价另按约定。全部吞吐是同一假设负载，输入600000分为未命中60000和命中540000；输出60000与输入不同类别，不从输入中扣除。乘50%只一次，全部吞吐为集群值不乘卡数。月理论分钟用30×24×60，三类金额1296、233.28、5184，总6713.28。尚未证明此模型能在项目两台910B按该负载部署，数值不代表容量或性能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6e1b59dac48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90cec2011c4137" /><Relationship Type="http://schemas.openxmlformats.org/officeDocument/2006/relationships/slideLayout" Target="/ppt/slideLayouts/slideLayout1.xml" Id="R91f5bd101e3547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5bd101e3547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3847b5c9e4b01" /><Relationship Type="http://schemas.openxmlformats.org/officeDocument/2006/relationships/notesSlide" Target="/ppt/notesSlides/notesSlide1.xml" Id="R07a4aebf4d7445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4b3a6fa8d4b81" /><Relationship Type="http://schemas.openxmlformats.org/officeDocument/2006/relationships/image" Target="/ppt/media/image.png" Id="Rf101c1b7544d46db" /><Relationship Type="http://schemas.openxmlformats.org/officeDocument/2006/relationships/notesSlide" Target="/ppt/notesSlides/notesSlide2.xml" Id="Rbf63f4e1b20a47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A1986-B4BA-4E8B-8D19-B08BE662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9C89F-5A50-4903-992E-54C8734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991EC-DE08-4EC7-A942-EB7F62EC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统一使用同一负载下整套服务的吞吐（token/min），单价取数值，单位为元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948E4-1644-46BC-9978-DBFF3A83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8D069-723F-41BA-A51E-37409AFC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67868-AF23-468E-947A-8FE49520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5ECB1-1A4F-4F60-906F-181BE8CF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1A21F-EE08-4581-9020-319AAC8A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C3201-4191-4D60-BAD2-F4E2076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［整套服务输出吞吐 ×（30天 × 24小时/天 × 60分钟/小时）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3E732-C6D9-46F0-A6ED-8D6F1E43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输出单价］÷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B4A63-2E8E-485C-86A3-C0C8282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BF7C9-58DE-402D-85D4-79214E00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0D062-F636-4118-85BD-B8A5033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［整套服务未命中输入吞吐 ×（30天 × 24小时/天 × 60分钟/小时）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88593-B352-4C46-8E3C-BC36EFE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未命中输入单价］÷ 1,000,000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FE82B-8175-4829-9C7F-DB2A2C2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6ED41-8A95-4AE4-A43A-FF2C3E58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E466C-1366-4BE5-8A33-FF707C0E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［整套服务缓存命中输入吞吐 ×（30天 × 24小时/天 × 60分钟/小时）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38A33-3752-4EE3-8C1B-C81F6D4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缓存命中输入单价］÷ 1,000,000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2DA85-2F9F-40E7-842C-02FA9FF8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token/min；单价取数值（元 / 百万 Token）。整套服务吞吐已包含卡数，不再乘卡数。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FCD45-59B6-466B-BFE2-516EB499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76A47-720C-47DC-B71E-822BECD0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89ECA-5EB8-4342-8344-47D99A6F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959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</p:spTree>
    <p:extLst>
      <p:ext uri="{BB962C8B-B14F-4D97-AF65-F5344CB8AC3E}">
        <p14:creationId xmlns:p14="http://schemas.microsoft.com/office/powerpoint/2010/main" val="138087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7AC18-D95F-4707-802D-B6D2455B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7B86F-B02F-43B5-94B9-6F7036EB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DeepSeek-V4.1-Flash：官方价格与文本收入算例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E2CB2-477A-439D-9E26-E768550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人民币 / 百万 Token，查询日期 2026-09-16。API 模型名：deepseek-flash。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69F7B-B291-486F-9247-CC946648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37190-7794-4705-925E-A102D90A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BFC92-D9EB-4C46-8969-CD72DAE2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1c1b7544d46db"/>
          <a:stretch xmlns:a="http://schemas.openxmlformats.org/drawingml/2006/main"/>
        </p:blipFill>
        <p:spPr>
          <a:xfrm xmlns:a="http://schemas.openxmlformats.org/drawingml/2006/main">
            <a:off x="10896600" y="266700"/>
            <a:ext cx="666750" cy="666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524125"/>
                <a:gridCol w="2524125"/>
                <a:gridCol w="2524125"/>
              </a:tblGrid>
              <a:tr h="314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官方公开 API 单价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输入缓存命中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空闲时段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高峰时段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FF607-E5D6-437D-9636-55AF932F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高峰：北京时间周一至周五 9:00–12:00、14:00–18:00；其余为空闲时段。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095E0-B779-4156-B271-D9BB3C76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假设同一负载：输入600,000 token/min，90%命中；输出60,000 token/min，产出比例50%。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3752850"/>
          <a:ext xmlns:a="http://schemas.openxmlformats.org/drawingml/2006/main" cx="110490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7000875"/>
                <a:gridCol w="1714500"/>
              </a:tblGrid>
              <a:tr h="3143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按空闲时段单价估值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月收入计算（元）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1］÷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1,296.00元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缓存命中输入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［540,000 ×（30 × 24 × 60）× 50% × 0.02］÷ 1,000,000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233.28元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4］÷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5,184.00元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0662A-555A-4571-A908-B1D082CE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2C203-332F-49EB-96AB-3D07983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文本月收入估值＝1,296.00＋233.28＋5,184.00＝6,713.28元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90F42-5CA1-46DB-A87C-094664E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吞吐与产出比例均为假设，非设备实测。此处统一按空闲价估值；实际跨时段须按各时段用量分别计价。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4E1E9-5676-4399-877D-27939B3C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1010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公开 API 零售价仅作参照，不等于平台采购价或已实现收入。官方价格链接见备注与配套说明。</a:t>
            </a:r>
          </a:p>
        </p:txBody>
      </p:sp>
    </p:spTree>
    <p:extLst>
      <p:ext uri="{BB962C8B-B14F-4D97-AF65-F5344CB8AC3E}">
        <p14:creationId xmlns:p14="http://schemas.microsoft.com/office/powerpoint/2010/main" val="1608659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2026-09-16T09:41:50.8400000Z</dcterms:created>
  <dcterms:modified xsi:type="dcterms:W3CDTF">2026-09-16T09:41:50.8400000Z</dcterms:modified>
</coreProperties>
</file>