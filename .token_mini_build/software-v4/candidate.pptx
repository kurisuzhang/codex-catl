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ee6dca2d14754" /><Relationship Type="http://schemas.openxmlformats.org/officeDocument/2006/relationships/extended-properties" Target="/docProps/app.xml" Id="R725478468b1c45c9" /><Relationship Type="http://schemas.openxmlformats.org/officeDocument/2006/relationships/officeDocument" Target="/ppt/presentation.xml" Id="R0eaf2fcbe8ba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c0a7421844813"/>
  </p:sldMasterIdLst>
  <p:notesMasterIdLst>
    <p:notesMasterId xmlns:r="http://schemas.openxmlformats.org/officeDocument/2006/relationships" r:id="R420109541d7544ae"/>
  </p:notesMasterIdLst>
  <p:sldIdLst>
    <p:sldId xmlns:r="http://schemas.openxmlformats.org/officeDocument/2006/relationships" id="256" r:id="Rfb0c6c9745674e68"/>
    <p:sldId xmlns:r="http://schemas.openxmlformats.org/officeDocument/2006/relationships" id="257" r:id="Rdc3c2ab6e437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4c9521117844e6" /><Relationship Type="http://schemas.openxmlformats.org/officeDocument/2006/relationships/slideMaster" Target="/ppt/slideMasters/slideMaster1.xml" Id="R300c0a7421844813" /><Relationship Type="http://schemas.openxmlformats.org/officeDocument/2006/relationships/notesMaster" Target="/ppt/notesMasters/notesMaster1.xml" Id="R420109541d7544ae" /><Relationship Type="http://schemas.openxmlformats.org/officeDocument/2006/relationships/presProps" Target="/ppt/presProps.xml" Id="Rea4c20b337a94343" /><Relationship Type="http://schemas.openxmlformats.org/officeDocument/2006/relationships/tableStyles" Target="/ppt/tableStyles.xml" Id="R60abf916a2ce49a8" /><Relationship Type="http://schemas.openxmlformats.org/officeDocument/2006/relationships/slide" Target="/ppt/slides/slide1.xml" Id="Rfb0c6c9745674e68" /><Relationship Type="http://schemas.openxmlformats.org/officeDocument/2006/relationships/slide" Target="/ppt/slides/slide2.xml" Id="Rdc3c2ab6e437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48873de960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dec26be544ffd" /><Relationship Type="http://schemas.openxmlformats.org/officeDocument/2006/relationships/notesMaster" Target="/ppt/notesMasters/notesMaster1.xml" Id="R5c2d8515411a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79b3a6b084b30" /><Relationship Type="http://schemas.openxmlformats.org/officeDocument/2006/relationships/notesMaster" Target="/ppt/notesMasters/notesMaster1.xml" Id="Re1422e61b663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取自NVIDIA官方品牌页及华为官网，仅标识两家技术生态。左侧主栈自底向上展示依赖，侧栏表示部署管理支撑，组件不要求全部安装。原部署影响：OS/CPU/驱动与镜像匹配；运行库ABI、算子与多卡通信；容器访问设备但不转换CUDA；K8s分配设备但不补模型算子；监控用于健康和性能；框架负责模型算子映射；kernel核验硬件/精度/形状；引擎的模型与特性支持取交集。容器、K8s和监控是部署管理面，框架、算子、运行库是模型执行面。各列列出组件范围及替代路径，不要求全部安装。GPU Operator可管理驱动、Container Toolkit、Device Plugin、GFD、DCGM等，不应与另一个驱动生命周期管理方式重复管理。K8s提供调度，不是推理必须条件，首轮可先单容器验通再纳管。NVIDIA宿主机需可用驱动，CUDA用户态库可位于镜像，运行预编译镜像不必把完整CUDA Toolkit一概装在宿主机。Toolkit用于开发编译，不能与Container Toolkit混淆。Ascend容器接入需按运行时、MindCluster和驱动版本选择部署方式，安装工具名称不能证明任意containerd版本兼容。MindCluster中的NodeD、ClusterD、Volcano与Operator按需要配置，非本项目全部必装。NVIDIA T4不假定具备新GPU的所有精度与kernel能力，不照抄MIG方案。跨机NCCL/HCCL还受网卡、RDMA驱动及网络配置影响，双910B沿已定RoCE方案单独验通信。CANN包含运行和开发能力，ATB按引擎需求装。SGLang Ascend依赖包括匹配的Triton-Ascend及SGL Kernel NPU。PD分离还需核验MemFabric等KV传输组件，MoE场景按版本考虑DeepEP兼容实现，这些属于特性依赖，不是所有模型的必装项。MindIE为另一推理路径，不是vLLM的必装前置。SGLang列为候选生态，并未宣称当前默认镜像支持本台T4。YOLO和Wan保持任务专用推理路径，不能因vLLM支持文本就认为其支持任意视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[1] NVIDIA GPU Operator</a:t>
            </a:r>
          </a:p>
          <a:p xmlns:a="http://schemas.openxmlformats.org/drawingml/2006/main">
            <a:r>
              <a:t>https://docs.nvidia.com/datacenter/cloud-native/gpu-operator/latest/</a:t>
            </a:r>
          </a:p>
          <a:p xmlns:a="http://schemas.openxmlformats.org/drawingml/2006/main">
            <a:r>
              <a:t>[2] NVIDIA Container Toolkit</a:t>
            </a:r>
          </a:p>
          <a:p xmlns:a="http://schemas.openxmlformats.org/drawingml/2006/main">
            <a:r>
              <a:t>https://docs.nvidia.com/datacenter/cloud-native/container-toolkit/latest/arch-overview.html</a:t>
            </a:r>
          </a:p>
          <a:p xmlns:a="http://schemas.openxmlformats.org/drawingml/2006/main">
            <a:r>
              <a:t>[3] MindCluster 组件</a:t>
            </a:r>
          </a:p>
          <a:p xmlns:a="http://schemas.openxmlformats.org/drawingml/2006/main">
            <a:r>
              <a:t>https://www.hiascend.com/document/detail/en/mindcluster/2600/clustersched/schedulingug/docs/en/scheduling/introduction/01_component_description.md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Qwen/Qwen3-8B用于解释软件依赖，不声称已经部署成功。8B参数×2字节约16GB是粗略十进制权重估算，不是实际模型文件精确大小；T4单卡16GB还需KV缓存及工作区，所以FP16可能超出容量。量化需有兼容权重格式和kernel，不能只改参数名称。910B具体显存仍待核验。方法论是本项目的归纳：可部署集合为模型结构、硬件、精度/量化实现、推理特性和依赖版本的交集，还要满足容量和服务目标。先固定模型revision与权重格式，再选择候选引擎release并反查其依赖，避免把每层latest任意拼接。启动后先测确定性小样本与质量，再观察逐卡权重、KV Cache和工作区峰值；多卡验证并行与通信；最后纳入K8s后复验资源分配、健康检查、失败恢复与同规格性能。T4的SM75满足vLLM基础门槛，不代表任何attention后端、量化或模型特性均可用。当前量化矩阵对Turing的支持随版本变化，不能长期沿用旧版Marlin结论。SGLang有NVIDIA和Ascend入口，但本次资料不能建立当前SGLang/T4完整可运行组合，故保留核验，不标成已支持或绝对不支持。910B按A2路径选择匹配算子和镜像；vLLM Ascend矩阵有Qwen、DeepSeek、GLM家族条目，必须核验具体结构、精度、TP/PP、PD、缓存等特性。SGLang Ascend与MindIE各有自己的版本和模型矩阵，不能相互外推。示例均为筛选判断，未做实机部署或基准测试。YOLO/Wan需以任务仓库、许可和所选后端验收；不新增对具体版本的兼容承诺。最终产物为按设备族和任务区分的镜像清单、模型支持表、测试记录及回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[6] vLLM 量化矩阵</a:t>
            </a:r>
          </a:p>
          <a:p xmlns:a="http://schemas.openxmlformats.org/drawingml/2006/main">
            <a:r>
              <a:t>https://docs.vllm.ai/en/latest/features/quantization/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[8] vLLM Ascend 模型矩阵</a:t>
            </a:r>
          </a:p>
          <a:p xmlns:a="http://schemas.openxmlformats.org/drawingml/2006/main">
            <a:r>
              <a:t>https://docs.vllm.ai/projects/ascend/en/latest/user_guide/support_matrix/supported_models.html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[10] SGLang Ascend 模型表</a:t>
            </a:r>
          </a:p>
          <a:p xmlns:a="http://schemas.openxmlformats.org/drawingml/2006/main">
            <a:r>
              <a:t>https://github.com/sgl-project/sglang/blob/main/docs_new/docs/hardware-platforms/ascend-npus/reference/support_models.mdx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c526a398e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30e601047476c" /><Relationship Type="http://schemas.openxmlformats.org/officeDocument/2006/relationships/slideLayout" Target="/ppt/slideLayouts/slideLayout1.xml" Id="Rdf80b5e0f4434c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0b5e0f443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15df1f8b14416" /><Relationship Type="http://schemas.openxmlformats.org/officeDocument/2006/relationships/image" Target="/ppt/media/image.png" Id="R73f7be5e736c4679" /><Relationship Type="http://schemas.openxmlformats.org/officeDocument/2006/relationships/image" Target="/ppt/media/image2.png" Id="R3609b9e37ef94347" /><Relationship Type="http://schemas.openxmlformats.org/officeDocument/2006/relationships/notesSlide" Target="/ppt/notesSlides/notesSlide1.xml" Id="R8fe9e35da4fd4a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3bdada8aa4074" /><Relationship Type="http://schemas.openxmlformats.org/officeDocument/2006/relationships/notesSlide" Target="/ppt/notesSlides/notesSlide2.xml" Id="R52a37f2df304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86E10D-4E5D-4592-AE8D-0A89E2C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F0322-2022-456C-AE89-A5C07A1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89F7-BDA3-4392-A54D-E03990B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E312-896A-4C6C-AA84-D6D129A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7B97-FBF4-4004-8E40-72EA792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C2137-7250-4769-B5A4-75729C4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7be5e736c4679"/>
          <a:stretch xmlns:a="http://schemas.openxmlformats.org/drawingml/2006/main"/>
        </p:blipFill>
        <p:spPr>
          <a:xfrm xmlns:a="http://schemas.openxmlformats.org/drawingml/2006/main">
            <a:off x="590550" y="1942967"/>
            <a:ext cx="1352550" cy="2574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E177-A576-48D5-8545-32C00A9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软件生态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4EF78-450E-4CB5-A527-9D3532A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4C59A-8114-4DF9-B709-EE248FF8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D991-6FA1-4241-8D02-9D61F11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F52E3-0ECD-4BBA-BCB2-FA6BD3C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2485C-F676-4B68-823C-3D3FAB0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A4EF8-53D9-4393-A5C9-D51D073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文本：vLLM；SGLang 需核验 T4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YOLO：TensorRT；Wan：独立管线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3D1CF-66CB-460E-AFFD-3A569A3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2AC20-948E-4D29-9CF7-FCA39F7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DE17F-09D6-4E8B-85A0-F747686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866B9-F5E6-4E1A-8209-E10EC2D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3BAA2-304E-49EA-BB3E-AD071F5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/ Triton kernel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AWQ、GPTQ 等按 SM75 核验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0FFD6-945E-4F91-88BA-5AF879CD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1F54A-38D5-4F09-BA78-99130F3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F267E-5534-427A-AEA2-D1BD942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38567-5BE5-40D9-8621-E918649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68076-77D5-4F2E-A2D6-E30F13C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 CUDA 构建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Transformers / ONNX（按任务）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82586-0AC7-4959-B3F4-D611386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FCEF9-85E5-4AF2-A924-E4F4B1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800F-7588-4EA3-AB66-7435E687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257AD-EEDE-4CBB-AEB5-B4B6974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C79FC-23EF-4E68-8A37-447FBBD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Runtime / Toolkit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cuBLAS、cuDNN、NCCL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DCA34-606E-4F41-8886-3991DBC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EB47C-D7DF-42AF-8105-E21DDD3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83E34B-5C77-43C9-A851-C1F753C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595FE-9147-403B-9298-B8851CB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679E8-35F6-4CC7-94A7-94AA2AE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内核、NVIDIA Driver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nvidia-smi / NVML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98A48-5244-44ED-A779-D4950D8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FDD81-D608-4422-AA08-5D6B7AC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Container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Toolkit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79F27-D8B3-48CF-810A-7903844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BDFC9-7136-4F91-9E53-124369D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6E3FBE-5E79-4C3D-A32C-432D8F0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Device Plugin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GFD / GPU Operator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（统一管理）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CA2E0-7D43-4B8A-B158-048FB8E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137EE5-FC26-488E-AD4A-6A9A337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2809C-0533-4EB4-8F96-39910E3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DCGM Exporter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Prometheus / Nsight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（性能定位）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B9B72-A1E1-4E85-8F24-FA088A8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9b9e37ef94347"/>
          <a:stretch xmlns:a="http://schemas.openxmlformats.org/drawingml/2006/main"/>
        </p:blipFill>
        <p:spPr>
          <a:xfrm xmlns:a="http://schemas.openxmlformats.org/drawingml/2006/main">
            <a:off x="6210300" y="1919144"/>
            <a:ext cx="1352550" cy="305086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640AE2-8F28-4C89-9DA7-157B964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软件生态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AC0C4C-E9F9-414A-A89D-9CEF085C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66487F-164A-467E-9EC2-DABD9C7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4E421-C530-428E-847A-8FA0E8A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5A55D6-BE2D-45E0-A9B1-2862143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1E63A5-88EE-4F3B-8CD5-BB9B39F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47DA5A-4569-4F0D-A7E6-BC7D22D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vLLM＋vLLM Ascend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SGLang Ascend 后端 / MindIE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82B249-7C48-4304-B18C-E663CDC7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4C3B13-21C2-459D-BDB4-A1EFC65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6EE50-FE53-46ED-8D01-E7295C3C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7A7692-C701-4533-A28F-7435FBF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D51BCD-2A12-4199-8741-D184551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C / Triton-Ascend / ATB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 Kernel NPU；量化按引擎核验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AD9F23-7D99-4A20-B9D0-28B5984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647CD0-EBBD-4B87-B3F3-0E469AD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E62C4C-E37F-4D20-8354-D990E11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4E1791-3361-4D4F-A2F1-19D4492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428393-3AEC-4CFC-AF95-136C57A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PyTorch＋torch_npu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MindSpore（另一条框架路径）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E4240D-E356-41B0-8F40-A69E04B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0923E5-F046-4CF9-9855-AED499D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D7C8EF-D403-4D16-A380-E5FACCD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C578D0-ED1A-4925-8763-0AD3EB2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FAC4BC-2CC1-4E2B-A1B8-FCBA1DE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CANN / AscendCL、算子包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HCCL、ATB（按引擎）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2D3620-EC71-4219-AAF3-E881B11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2AA2B0-6484-4DB5-9717-554EF22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EAFD1C-74B4-43C2-A948-7433747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16B733-A3EE-476B-B37B-00650D3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C52838-0D94-4E59-9963-74BB9D0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内核、NPU Driver＋固件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npu-smi / DCMI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164E0C-0A6A-4045-AFF1-F8D031C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883EB0-E05B-49A7-84B5-625ABA1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Docker*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Docker Runtime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设备挂载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1E7640-BE62-4115-AEC8-F890531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3EE409-EAF0-477C-A987-F8C80FEB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703F59-BF9D-4C9E-AD40-054D6B5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Device Plugin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Volcano / Ascend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Operator（按需）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0E5709-F808-4F0C-8632-4A71347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5EB767-0FBC-4008-83E8-CA0317D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750569-732D-471B-8875-24986D3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 Exporter / Prometheus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NodeD / ClusterD / msprof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（按需）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AC42E3-8831-4843-BBE9-BFF74BA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7300EC-5138-4F14-88E7-26B0538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944F72-C456-480A-8DEE-D97A3CD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驱动与运行库：设备可用     框架、算子与引擎：模型能跑     部署组件与版本须配套核验</a:t>
            </a:r>
          </a:p>
        </p:txBody>
      </p:sp>
    </p:spTree>
    <p:extLst>
      <p:ext uri="{BB962C8B-B14F-4D97-AF65-F5344CB8AC3E}">
        <p14:creationId xmlns:p14="http://schemas.microsoft.com/office/powerpoint/2010/main" val="1481259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49B7A-9F7B-4B2A-B18D-020BB79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67B2E-A6F0-49FF-920F-FFF7F3E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7C83E-DF0B-4442-BA8E-4A2B2AC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EFFFB-BDE8-4B38-A929-348602E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0F1E-F179-42A9-B8A2-364009E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1A270-D238-403D-B691-F7CD8A1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BA3D-4382-4FA1-9BA4-E20A8C1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90AD9-4E9F-4D5B-AEA1-7DFE8AF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804F-7E0B-40AA-B84C-6CDE26A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7781-76E2-43F8-96DA-16FFF1F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56CB-6E0A-409F-86C1-1233CB1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05DA-BFC9-4E8D-9BBA-79595A3A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2E00D-3CB7-497B-B612-C4D38F3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D4D0B-4C8C-4110-A6EB-B4B69B3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DDCF8-BE91-4E3E-A18F-6416307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B55F4-BF24-41FE-8E7D-6D043B95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4B4E-2859-43A3-AA84-3674AA5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4E54-CC73-40D1-A423-AC69C48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209925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81500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例子：部署 Qwen3-8B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先准备运行环境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NVIDIA 驱动，使用 CUDA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镜像内装匹配的 PyTorch 和 vLLM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NPU 驱动与固件，使用 CANN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装匹配的 torch_npu、vLLM 和 Ascend 插件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为什么不能直接照搬？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 FP16、小上下文、单卡试跑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8B 权重约 16GB，另需 KV 缓存，可能放不下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镜像不能直接用，需换昇腾后端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还要核对该模型的算子和精度是否受支持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怎么知道真的能用？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若显存不足，选受支持的量化或多卡方案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同一组问题检查答案，再测并发与响应时间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先检查答案与显存，再测多卡通信和并发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容器能启动、能识别卡，都不算模型验收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13857-526D-4F7D-8702-A186FEF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结论：同一个模型，两套软件环境；能加载、答得对、速度达标，才算部署通过。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D3C36-3A59-4E81-8853-1DB925B1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[5–6] vLLM 硬件 / 量化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50948-C913-4191-B717-3E2460E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[7–8] vLLM Ascend 安装 / 模型矩阵  [9–10] SGLang 安装 / Ascend 模型表   完整链接见备注与参考文档</a:t>
            </a:r>
          </a:p>
        </p:txBody>
      </p:sp>
    </p:spTree>
    <p:extLst>
      <p:ext uri="{BB962C8B-B14F-4D97-AF65-F5344CB8AC3E}">
        <p14:creationId xmlns:p14="http://schemas.microsoft.com/office/powerpoint/2010/main" val="167374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2026-09-16T07:07:50.4070000Z</dcterms:created>
  <dcterms:modified xsi:type="dcterms:W3CDTF">2026-09-16T07:07:50.4070000Z</dcterms:modified>
</coreProperties>
</file>