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15b7152e645f9" /><Relationship Type="http://schemas.openxmlformats.org/officeDocument/2006/relationships/extended-properties" Target="/docProps/app.xml" Id="R1c8ac7f3556d4ab5" /><Relationship Type="http://schemas.openxmlformats.org/officeDocument/2006/relationships/officeDocument" Target="/ppt/presentation.xml" Id="Re3f2302e49344a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3b52e9fb54477"/>
  </p:sldMasterIdLst>
  <p:notesMasterIdLst>
    <p:notesMasterId xmlns:r="http://schemas.openxmlformats.org/officeDocument/2006/relationships" r:id="R105d7eae1871493d"/>
  </p:notesMasterIdLst>
  <p:sldIdLst>
    <p:sldId xmlns:r="http://schemas.openxmlformats.org/officeDocument/2006/relationships" id="256" r:id="R1f134b8d142e4ab0"/>
    <p:sldId xmlns:r="http://schemas.openxmlformats.org/officeDocument/2006/relationships" id="257" r:id="R9b00b29f2f30477d"/>
    <p:sldId xmlns:r="http://schemas.openxmlformats.org/officeDocument/2006/relationships" id="258" r:id="Red91e0febefb4b75"/>
    <p:sldId xmlns:r="http://schemas.openxmlformats.org/officeDocument/2006/relationships" id="259" r:id="R9c9186cc7a584148"/>
    <p:sldId xmlns:r="http://schemas.openxmlformats.org/officeDocument/2006/relationships" id="260" r:id="Re11425df9edc4a59"/>
    <p:sldId xmlns:r="http://schemas.openxmlformats.org/officeDocument/2006/relationships" id="261" r:id="R483fcb8d2d4a4450"/>
    <p:sldId xmlns:r="http://schemas.openxmlformats.org/officeDocument/2006/relationships" id="262" r:id="R3d3912c318304cdf"/>
    <p:sldId xmlns:r="http://schemas.openxmlformats.org/officeDocument/2006/relationships" id="263" r:id="R53b0b00785a2486a"/>
    <p:sldId xmlns:r="http://schemas.openxmlformats.org/officeDocument/2006/relationships" id="264" r:id="R50db243432ee4362"/>
    <p:sldId xmlns:r="http://schemas.openxmlformats.org/officeDocument/2006/relationships" id="265" r:id="R75db00052ad24d46"/>
    <p:sldId xmlns:r="http://schemas.openxmlformats.org/officeDocument/2006/relationships" id="266" r:id="R609b9f8f7c8d4498"/>
    <p:sldId xmlns:r="http://schemas.openxmlformats.org/officeDocument/2006/relationships" id="267" r:id="Rb8b430f1fe904cbd"/>
    <p:sldId xmlns:r="http://schemas.openxmlformats.org/officeDocument/2006/relationships" id="268" r:id="Rbbcf52aa98774ebb"/>
    <p:sldId xmlns:r="http://schemas.openxmlformats.org/officeDocument/2006/relationships" id="269" r:id="R6dc3d6c5eaef4d11"/>
    <p:sldId xmlns:r="http://schemas.openxmlformats.org/officeDocument/2006/relationships" id="270" r:id="Reb946eb5e3724fa7"/>
    <p:sldId xmlns:r="http://schemas.openxmlformats.org/officeDocument/2006/relationships" id="271" r:id="Rf672a9a83463484e"/>
    <p:sldId xmlns:r="http://schemas.openxmlformats.org/officeDocument/2006/relationships" id="272" r:id="R6deda8cc3aa242ee"/>
    <p:sldId xmlns:r="http://schemas.openxmlformats.org/officeDocument/2006/relationships" id="273" r:id="Re26709acaee54f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73360d69ae423a" /><Relationship Type="http://schemas.openxmlformats.org/officeDocument/2006/relationships/slideMaster" Target="/ppt/slideMasters/slideMaster1.xml" Id="Rd7a3b52e9fb54477" /><Relationship Type="http://schemas.openxmlformats.org/officeDocument/2006/relationships/notesMaster" Target="/ppt/notesMasters/notesMaster1.xml" Id="R105d7eae1871493d" /><Relationship Type="http://schemas.openxmlformats.org/officeDocument/2006/relationships/presProps" Target="/ppt/presProps.xml" Id="Re4a6be5e860e41f6" /><Relationship Type="http://schemas.openxmlformats.org/officeDocument/2006/relationships/tableStyles" Target="/ppt/tableStyles.xml" Id="R2b725e6074ad4c77" /><Relationship Type="http://schemas.openxmlformats.org/officeDocument/2006/relationships/slide" Target="/ppt/slides/slide1.xml" Id="R1f134b8d142e4ab0" /><Relationship Type="http://schemas.openxmlformats.org/officeDocument/2006/relationships/slide" Target="/ppt/slides/slide2.xml" Id="R9b00b29f2f30477d" /><Relationship Type="http://schemas.openxmlformats.org/officeDocument/2006/relationships/slide" Target="/ppt/slides/slide3.xml" Id="Red91e0febefb4b75" /><Relationship Type="http://schemas.openxmlformats.org/officeDocument/2006/relationships/slide" Target="/ppt/slides/slide4.xml" Id="R9c9186cc7a584148" /><Relationship Type="http://schemas.openxmlformats.org/officeDocument/2006/relationships/slide" Target="/ppt/slides/slide5.xml" Id="Re11425df9edc4a59" /><Relationship Type="http://schemas.openxmlformats.org/officeDocument/2006/relationships/slide" Target="/ppt/slides/slide6.xml" Id="R483fcb8d2d4a4450" /><Relationship Type="http://schemas.openxmlformats.org/officeDocument/2006/relationships/slide" Target="/ppt/slides/slide7.xml" Id="R3d3912c318304cdf" /><Relationship Type="http://schemas.openxmlformats.org/officeDocument/2006/relationships/slide" Target="/ppt/slides/slide8.xml" Id="R53b0b00785a2486a" /><Relationship Type="http://schemas.openxmlformats.org/officeDocument/2006/relationships/slide" Target="/ppt/slides/slide9.xml" Id="R50db243432ee4362" /><Relationship Type="http://schemas.openxmlformats.org/officeDocument/2006/relationships/slide" Target="/ppt/slides/slide10.xml" Id="R75db00052ad24d46" /><Relationship Type="http://schemas.openxmlformats.org/officeDocument/2006/relationships/slide" Target="/ppt/slides/slide11.xml" Id="R609b9f8f7c8d4498" /><Relationship Type="http://schemas.openxmlformats.org/officeDocument/2006/relationships/slide" Target="/ppt/slides/slide12.xml" Id="Rb8b430f1fe904cbd" /><Relationship Type="http://schemas.openxmlformats.org/officeDocument/2006/relationships/slide" Target="/ppt/slides/slide13.xml" Id="Rbbcf52aa98774ebb" /><Relationship Type="http://schemas.openxmlformats.org/officeDocument/2006/relationships/slide" Target="/ppt/slides/slide14.xml" Id="R6dc3d6c5eaef4d11" /><Relationship Type="http://schemas.openxmlformats.org/officeDocument/2006/relationships/slide" Target="/ppt/slides/slide15.xml" Id="Reb946eb5e3724fa7" /><Relationship Type="http://schemas.openxmlformats.org/officeDocument/2006/relationships/slide" Target="/ppt/slides/slide16.xml" Id="Rf672a9a83463484e" /><Relationship Type="http://schemas.openxmlformats.org/officeDocument/2006/relationships/slide" Target="/ppt/slides/slide17.xml" Id="R6deda8cc3aa242ee" /><Relationship Type="http://schemas.openxmlformats.org/officeDocument/2006/relationships/slide" Target="/ppt/slides/slide18.xml" Id="Re26709acaee54f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750a3d28bb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7f863d3904fb0" /><Relationship Type="http://schemas.openxmlformats.org/officeDocument/2006/relationships/notesMaster" Target="/ppt/notesMasters/notesMaster1.xml" Id="R106003e66e7c47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ad44ce2bcc41b4" /><Relationship Type="http://schemas.openxmlformats.org/officeDocument/2006/relationships/notesMaster" Target="/ppt/notesMasters/notesMaster1.xml" Id="R0a218f20b75246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8fb4b7fb704216" /><Relationship Type="http://schemas.openxmlformats.org/officeDocument/2006/relationships/notesMaster" Target="/ppt/notesMasters/notesMaster1.xml" Id="R92376ee573f64c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4be3d56c4e4356" /><Relationship Type="http://schemas.openxmlformats.org/officeDocument/2006/relationships/notesMaster" Target="/ppt/notesMasters/notesMaster1.xml" Id="R6e77e8a03b4446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372aa139934a04" /><Relationship Type="http://schemas.openxmlformats.org/officeDocument/2006/relationships/notesMaster" Target="/ppt/notesMasters/notesMaster1.xml" Id="R0e43ebcfd17340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feaf7a518d45ad" /><Relationship Type="http://schemas.openxmlformats.org/officeDocument/2006/relationships/notesMaster" Target="/ppt/notesMasters/notesMaster1.xml" Id="R0683390a798740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4646acce2c4f43" /><Relationship Type="http://schemas.openxmlformats.org/officeDocument/2006/relationships/notesMaster" Target="/ppt/notesMasters/notesMaster1.xml" Id="Rbdff32c5d8a544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fac48299894aa5" /><Relationship Type="http://schemas.openxmlformats.org/officeDocument/2006/relationships/notesMaster" Target="/ppt/notesMasters/notesMaster1.xml" Id="Rbd84949e7ed642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717ab428f54281" /><Relationship Type="http://schemas.openxmlformats.org/officeDocument/2006/relationships/notesMaster" Target="/ppt/notesMasters/notesMaster1.xml" Id="R36dadfe134be48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dbb73f5ede44f7" /><Relationship Type="http://schemas.openxmlformats.org/officeDocument/2006/relationships/notesMaster" Target="/ppt/notesMasters/notesMaster1.xml" Id="R9a0a3278593041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9a7ac1c135f4d86" /><Relationship Type="http://schemas.openxmlformats.org/officeDocument/2006/relationships/notesMaster" Target="/ppt/notesMasters/notesMaster1.xml" Id="Rdc00725ea0f14a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f5b7e8802c4c64" /><Relationship Type="http://schemas.openxmlformats.org/officeDocument/2006/relationships/notesMaster" Target="/ppt/notesMasters/notesMaster1.xml" Id="R7e9621fef9224e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e8bbac94a642d8" /><Relationship Type="http://schemas.openxmlformats.org/officeDocument/2006/relationships/notesMaster" Target="/ppt/notesMasters/notesMaster1.xml" Id="Rb1b6c8ae0e0040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a2647bc1604356" /><Relationship Type="http://schemas.openxmlformats.org/officeDocument/2006/relationships/notesMaster" Target="/ppt/notesMasters/notesMaster1.xml" Id="R36058604841148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2552c9e46a4c1a" /><Relationship Type="http://schemas.openxmlformats.org/officeDocument/2006/relationships/notesMaster" Target="/ppt/notesMasters/notesMaster1.xml" Id="R9f75fb330a3d4c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adc728fc75e40bf" /><Relationship Type="http://schemas.openxmlformats.org/officeDocument/2006/relationships/notesMaster" Target="/ppt/notesMasters/notesMaster1.xml" Id="Ra4161df6ff464b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125c4fdd7c4aa7" /><Relationship Type="http://schemas.openxmlformats.org/officeDocument/2006/relationships/notesMaster" Target="/ppt/notesMasters/notesMaster1.xml" Id="Rff10037c505f4d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b8ffd9b62f24ee5" /><Relationship Type="http://schemas.openxmlformats.org/officeDocument/2006/relationships/notesMaster" Target="/ppt/notesMasters/notesMaster1.xml" Id="R6ab72e7aaa1242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内部立项与跨部门评审。依据已确认的执行文档v1.5制作，保留11个主题，合计18页。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优先建议Qwen3-8B作为910B文本联调候选，具体平台采购规格尚未确认。YOLO和Wan独立PoC，不阻塞首个文本计量案例。技术验证完成不代表商业闭环完成。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柜图为资源布置示意，不代表U位尺寸。通算服务器仅列配置类别，不画进两新柜。910B整机单台超过5kW为用户输入，因此两台不可装入同一10kW机柜。卡数计算2×8=16，6×8=48。T4多卡显存不是天然连续显存。RoCE交换机拟放A柜，图上不占服务器槽，功率另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均为相应整机/设备的设计负载峰值，不能用GPU板卡功耗代替整机，不能将冗余PSU铭牌额定值简单相加。P机柜可用由机房在回路、PDU、故障供电及制冷条件下确认，不自动等于标称10kW。A柜网络负载含RoCE交换机，B柜按实际驻留设备计。覆盖14台整机及网络设备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用户参考图的分层拓扑画法改绘，保留本项目规模。层级：平台入口、边界访问控制、核心业务汇聚、带外与业务接入、服务器端口、RoCE及可选存储。图中防火墙、核心/业务/管理交换设备是复用或补齐的逻辑职责，不代表已确认新增采购数量，实际可合并或按冗余需求拆分。运维管理区独立接入BMC网，不将BMC暴露在业务入口。每个代表服务器上方青色/绿色小口分别为BMC/业务；中间通算2…5代表四台同配置接入关系，总通算6台。T4全部六台逐台展示，每台8卡。两台910B各8条200GE实际光链路连接同一RoCE交换机，交换机侧端口1–16编号仅作接线示意，待实际端口映射确认。16条链路需要双端32个模块。交换机拟放A柜，B柜8条跨柜；没有额外Spine交换机，不具备交换机级冗余。紫线只连910B，不将T4接入HCCL通信组。业务/BMC速率未知，不照搬参考图的1G/25G/400G。可选存储图中绘制通算侧示意，910B/T4按需要另接存储交换机。光纤、模块、距离、FEC/MTU、IP、PFC/ECN及HCCL按设备兼容方案验证。图为拟议方案，未声称已完成连通与带宽测试。参考图仅用于布局风格，不照搬其设备或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roce: https://e.huawei.com/cn/products/computing/ascend/atlas-800t-a2</a:t>
            </a:r>
          </a:p>
          <a:p xmlns:a="http://schemas.openxmlformats.org/drawingml/2006/main">
            <a:r>
              <a:t>optics: https://e.huawei.com/cn/products/dcn-modules/200g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列为候选替代路径，不要求全部组件同时安装。T4支持FP16及经核验的INT4/INT8路径；BF16/FP8原生能力不能按新卡假定。CUDA专用kernel无法直接搬到Ascend。固定OS/CPU架构、驱动、固件、CUDA或CANN、框架、引擎和镜像digest，按选定release支持矩阵验收。当前文档快照只是研究来源，不宣称latest镜像已在本机验证。vLLM不作为YOLO或Wan统一引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gpu: https://docs.vllm.ai/en/latest/getting_started/installation/gpu/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trt: https://nvidia.github.io/TensorRT-LLM/reference/support-matrix.html</a:t>
            </a:r>
          </a:p>
          <a:p xmlns:a="http://schemas.openxmlformats.org/drawingml/2006/main">
            <a:r>
              <a:t>install: https://docs.vllm.ai/projects/ascend/en/main/getting_started/installation.html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逻辑架构，未声称全部功能属于MASS或已部署。管理/配置、请求、计量三个职责分开。计量字段：tenant_id、request_id、attempt_id、event_id、model/version、tokenizer版本、开始结束时间、状态、input/output/cache_hit/cache_miss、规则版本、原始证据引用。缓存量按双方计费规则核对，框架缓存块计数不得直接当计费Token。YOLO与Wan使用task_id和图片/视频任务单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固定候选ID：Qwen/Qwen3-8B；deepseek-ai/DeepSeek-R1-Distill-Qwen-32B；zai-org/GLM-4.5-Air。权重revision/hash、目标引擎release与镜像digest待设备验证阶段冻结，不能把研究候选称为已验收配置。Qwen3-Dense在当前A2/A3矩阵支持；DeepSeek Distill标为experimental。GLM-4.5-Air主干总参数106B、激活12B，仓库张量统计约110B，容量以实际权重字节与加载策略为准，不能按激活参数估算。优先单机支持的并行配置，只有容量或性能需要时再双机HCCL。备选完整DeepSeek-R1/V3.2须另算量化/双机容量，当前不承诺。所有模型均未本机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asc: https://docs.vllm.ai/projects/ascend/en/latest/user_guide/support_matrix/supported_models.html</a:t>
            </a:r>
          </a:p>
          <a:p xmlns:a="http://schemas.openxmlformats.org/drawingml/2006/main">
            <a:r>
              <a:t>qwen: https://huggingface.co/Qwen/Qwen3-8B</a:t>
            </a:r>
          </a:p>
          <a:p xmlns:a="http://schemas.openxmlformats.org/drawingml/2006/main">
            <a:r>
              <a:t>ds: https://huggingface.co/deepseek-ai/DeepSeek-R1-Distill-Qwen-32B</a:t>
            </a:r>
          </a:p>
          <a:p xmlns:a="http://schemas.openxmlformats.org/drawingml/2006/main">
            <a:r>
              <a:t>glm: https://huggingface.co/zai-org/GLM-4.5-Air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完整ID：Qwen/Qwen2.5-7B-Instruct-AWQ，Ultralytics YOLO26n，Wan-AI/Wan2.1-T2V-1.3B。7B AWQ先验证单卡容量与SM75 kernel，不保证任意上下文/并发。量化只降低字节数，不减少参数量。可增加同系列14B量化作为备选，需重新核验。YOLO官方表有T4/TensorRT列，不搬用其速度作为本台结果；模型/软件许可及商用供给方式待核。Wan仓库低显存参考约8.19GB，非T4完整兼容证据，需检验FP16数值、注意力后端和卸载开销；不搬用4090速度。各任务固定独立镜像，不默认TP8。48卡在任务之间按卡时分配，不重复满额计收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t4: https://www.nvidia.cn/content/dam/en-zz/Solutions/Data-Center/tesla-t4/t4-tensor-core-datasheet.pdf</a:t>
            </a:r>
          </a:p>
          <a:p xmlns:a="http://schemas.openxmlformats.org/drawingml/2006/main">
            <a:r>
              <a:t>awq: https://huggingface.co/Qwen/Qwen2.5-7B-Instruct-AWQ</a:t>
            </a:r>
          </a:p>
          <a:p xmlns:a="http://schemas.openxmlformats.org/drawingml/2006/main">
            <a:r>
              <a:t>quant: https://docs.vllm.ai/en/latest/features/quantization/</a:t>
            </a:r>
          </a:p>
          <a:p xmlns:a="http://schemas.openxmlformats.org/drawingml/2006/main">
            <a:r>
              <a:t>yolo: https://docs.ultralytics.com/models/yolo26</a:t>
            </a:r>
          </a:p>
          <a:p xmlns:a="http://schemas.openxmlformats.org/drawingml/2006/main">
            <a:r>
              <a:t>wan: https://github.com/Wan-Video/Wan2.1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操作记录包含nvidia-smi或npu-smi设备识别、每台8卡、PCIe/NUMA与网络，版本与镜像digest，模型文件hash与许可证。服务配置固定max_model_len、精度、量化、TP/PP/副本及CPU/内存限制。文本验证流式chunk边界、模板、截断、超时和输入输出计数。YOLO额外核验预/后处理、类别和坐标；Wan异步队列、任务状态、生成参数及结果文件交付。单模型成功不能外推所有候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完整压测脚本模板（未执行）：</a:t>
            </a:r>
          </a:p>
          <a:p xmlns:a="http://schemas.openxmlformats.org/drawingml/2006/main">
            <a:r>
              <a:t>#!/usr/bin/env bash</a:t>
            </a:r>
          </a:p>
          <a:p xmlns:a="http://schemas.openxmlformats.org/drawingml/2006/main">
            <a:r>
              <a:t># Text-service benchmark template; not executed against any service during PPT creation.</a:t>
            </a:r>
          </a:p>
          <a:p xmlns:a="http://schemas.openxmlformats.org/drawingml/2006/main">
            <a:r>
              <a:t># CLI reference: vLLM 0.27.0. Pin the client and verify --help before use.</a:t>
            </a:r>
          </a:p>
          <a:p xmlns:a="http://schemas.openxmlformats.org/drawingml/2006/main">
            <a:r>
              <a:t>set -euo pipefail</a:t>
            </a:r>
          </a:p>
          <a:p xmlns:a="http://schemas.openxmlformats.org/drawingml/2006/main">
            <a:r>
              <a:t>: "${MODEL:?Set MODEL to the deployed service model ID}"</a:t>
            </a:r>
          </a:p>
          <a:p xmlns:a="http://schemas.openxmlformats.org/drawingml/2006/main">
            <a:r>
              <a:t>: "${TOKENIZER:?Set TOKENIZER to the matching local tokenizer path or ID}"</a:t>
            </a:r>
          </a:p>
          <a:p xmlns:a="http://schemas.openxmlformats.org/drawingml/2006/main">
            <a:r>
              <a:t>BENCH_URL="${BENCH_URL:-http://127.0.0.1:8000}"</a:t>
            </a:r>
          </a:p>
          <a:p xmlns:a="http://schemas.openxmlformats.org/drawingml/2006/main">
            <a:r>
              <a:t>BENCH_DIR="${BENCH_DIR:-./benchmark-results-$(date +%Y%m%d-%H%M%S)}"</a:t>
            </a:r>
          </a:p>
          <a:p xmlns:a="http://schemas.openxmlformats.org/drawingml/2006/main">
            <a:r>
              <a:t>BENCH_PROMPTS="${BENCH_PROMPTS:-500}"</a:t>
            </a:r>
          </a:p>
          <a:p xmlns:a="http://schemas.openxmlformats.org/drawingml/2006/main">
            <a:r>
              <a:t>mkdir -p "$BENCH_DIR"</a:t>
            </a:r>
          </a:p>
          <a:p xmlns:a="http://schemas.openxmlformats.org/drawingml/2006/main">
            <a:r>
              <a:t>vllm --version &gt; "$BENCH_DIR/client-version.txt"</a:t>
            </a:r>
          </a:p>
          <a:p xmlns:a="http://schemas.openxmlformats.org/drawingml/2006/main">
            <a:r>
              <a:t>vllm bench serve --help &gt; "$BENCH_DIR/client-help.txt"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Initial exploration only. Small-sample P99 is not a stable SLA estimate.</a:t>
            </a:r>
          </a:p>
          <a:p xmlns:a="http://schemas.openxmlformats.org/drawingml/2006/main">
            <a:r>
              <a:t># No cache-hit claim: repeat-prefix workloads and server usage evidence are separate.</a:t>
            </a:r>
          </a:p>
          <a:p xmlns:a="http://schemas.openxmlformats.org/drawingml/2006/main">
            <a:r>
              <a:t>for lengths in '256 128' '1024 128' '256 512' '1024 512'; do</a:t>
            </a:r>
          </a:p>
          <a:p xmlns:a="http://schemas.openxmlformats.org/drawingml/2006/main">
            <a:r>
              <a:t>  read -r input_len output_len &lt;&lt;&lt; "$lengths"</a:t>
            </a:r>
          </a:p>
          <a:p xmlns:a="http://schemas.openxmlformats.org/drawingml/2006/main">
            <a:r>
              <a:t>  for concurrency in 1 2 4 8 16 32; do</a:t>
            </a:r>
          </a:p>
          <a:p xmlns:a="http://schemas.openxmlformats.org/drawingml/2006/main">
            <a:r>
              <a:t>    for repeat in 1 2 3; do</a:t>
            </a:r>
          </a:p>
          <a:p xmlns:a="http://schemas.openxmlformats.org/drawingml/2006/main">
            <a:r>
              <a:t>      vllm bench serve \</a:t>
            </a:r>
          </a:p>
          <a:p xmlns:a="http://schemas.openxmlformats.org/drawingml/2006/main">
            <a:r>
              <a:t>        --backend openai --endpoint /v1/completions \</a:t>
            </a:r>
          </a:p>
          <a:p xmlns:a="http://schemas.openxmlformats.org/drawingml/2006/main">
            <a:r>
              <a:t>        --base-url "$BENCH_URL" --model "$MODEL" --tokenizer "$TOKENIZER" \</a:t>
            </a:r>
          </a:p>
          <a:p xmlns:a="http://schemas.openxmlformats.org/drawingml/2006/main">
            <a:r>
              <a:t>        --dataset-name random --input-len "$input_len" --output-len "$output_len" \</a:t>
            </a:r>
          </a:p>
          <a:p xmlns:a="http://schemas.openxmlformats.org/drawingml/2006/main">
            <a:r>
              <a:t>        --num-prompts "$BENCH_PROMPTS" --num-warmups 20 \</a:t>
            </a:r>
          </a:p>
          <a:p xmlns:a="http://schemas.openxmlformats.org/drawingml/2006/main">
            <a:r>
              <a:t>        --max-concurrency "$concurrency" --request-rate inf \</a:t>
            </a:r>
          </a:p>
          <a:p xmlns:a="http://schemas.openxmlformats.org/drawingml/2006/main">
            <a:r>
              <a:t>        --percentile-metrics ttft,tpot,itl,e2el --metric-percentiles 50,95,99 \</a:t>
            </a:r>
          </a:p>
          <a:p xmlns:a="http://schemas.openxmlformats.org/drawingml/2006/main">
            <a:r>
              <a:t>        --save-result --save-detailed --result-dir "$BENCH_DIR" \</a:t>
            </a:r>
          </a:p>
          <a:p xmlns:a="http://schemas.openxmlformats.org/drawingml/2006/main">
            <a:r>
              <a:t>        --result-filename "in${input_len}-out${output_len}-c${concurrency}-r${repeat}.json"</a:t>
            </a:r>
          </a:p>
          <a:p xmlns:a="http://schemas.openxmlformats.org/drawingml/2006/main">
            <a:r>
              <a:t>    done</a:t>
            </a:r>
          </a:p>
          <a:p xmlns:a="http://schemas.openxmlformats.org/drawingml/2006/main">
            <a:r>
              <a:t>  done</a:t>
            </a:r>
          </a:p>
          <a:p xmlns:a="http://schemas.openxmlformats.org/drawingml/2006/main">
            <a:r>
              <a:t>done</a:t>
            </a:r>
          </a:p>
          <a:p xmlns:a="http://schemas.openxmlformats.org/drawingml/2006/main">
            <a:r>
              <a:t># Run a separate arrival-rate experiment by replacing inf with chosen rates.</a:t>
            </a:r>
          </a:p>
          <a:p xmlns:a="http://schemas.openxmlformats.org/drawingml/2006/main">
            <a:r>
              <a:t># Preserve actual arrival rate, errors, duration, sample counts and server telemetry.</a:t>
            </a:r>
          </a:p>
          <a:p xmlns:a="http://schemas.openxmlformats.org/drawingml/2006/main">
            <a:r>
              <a:t># For authenticated/chat-only endpoints, adapt the backend, endpoint, template and</a:t>
            </a:r>
          </a:p>
          <a:p xmlns:a="http://schemas.openxmlformats.org/drawingml/2006/main">
            <a:r>
              <a:t># authentication using the installed client's help before running this script.</a:t>
            </a:r>
          </a:p>
          <a:p xmlns:a="http://schemas.openxmlformats.org/drawingml/2006/main">
            <a:r>
              <a:t># request_goodput is requests/s. Aggregate qualified input/output/cache tokens</a:t>
            </a:r>
          </a:p>
          <a:p xmlns:a="http://schemas.openxmlformats.org/drawingml/2006/main">
            <a:r>
              <a:t># separately, using the same request set and time window, before revenue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官方参数依据：https://docs.vllm.ai/en/v0.27.0/cli/bench/serve/</a:t>
            </a:r>
          </a:p>
          <a:p xmlns:a="http://schemas.openxmlformats.org/drawingml/2006/main">
            <a:r>
              <a:t>查询日期：2026-09-16。缓存命中另用重复前缀工作负载并核对服务端实际计数。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TPOT仅用于输出Token数≥2的样本，stream chunk不等于Token。统计所有请求错误与超时，分位数记录样本量。合格Token/s采用事先约定的合格请求集合，质量门槛不能仅靠客户端耗时替代。输入总数=命中+未命中（按约定计费边界）。client request_goodput为满足SLO请求数/秒，不能直接代入Token公式；输出吞吐是实际输出Token/秒。单卡吞吐不线性外推48卡，分别实测资源池和MASS入口。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metrics: https://docs.vllm.ai/en/latest/api/vllm/benchmarks/serve/</a:t>
            </a:r>
          </a:p>
          <a:p xmlns:a="http://schemas.openxmlformats.org/drawingml/2006/main">
            <a:r>
              <a:t>bench: https://docs.vllm.ai/en/v0.27.0/cli/bench/serve/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原公式完整保留：Decode集群月价值=Decode TGS×30×24×3600×Decode GPU总卡数×Decode单价/1000000×产出率。Prefill非命中与cache各用相应TGS、GPU总卡数、单价及计费产出率。910B资源卡为NPU，N泛指该资源池实际参与卡数。若直接使用集群Token/s则不再乘N。Mini基线Prefill/Decode混合部署，三类产能来自同一工作负载，不相加独立压测峰值。缓存TGS为可计费逻辑命中Token速率，不代表实际执行完整Prefill。η仅反映未在测量中体现的可用性/需求/可计费损失，避免重复打折。市场价格适用deepseek-flash(DeepSeek-V4.1-Flash)，高峰UTC工作日01:00–04:00及06:00–10:00，其余非高峰。公开API美元零售价不是本项目平台采购价，且与首选Qwen3-8B及蒸馏模型不同，不可直接估收入。YOLO按图片/任务，Wan按视频任务或合同单位另算。实际结算=双方认可用量×约定采购价±调整，实际回款以银行凭证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>price: https://api-docs.deepseek.com/quick_start/pricing/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令R0是同一模型组合、同币种税口径、固定卡时与负载下以基准采购价计算的月收入，若三类单价同比例乘k且成本不变，则盈亏k*=C/R0；R0=0时无此边界。若收入uRfull、成本F+uV，则u*=F/(Rfull−V)，仅当Rfull&gt;V且u*≤1才存在该区间的盈亏可能。缓存比例改变会影响计费价格和产能，不可只改一个数就声称真实利润。月电量=实测平均kW×小时，机柜10kW不是持续负载。CAPEX与折旧不得同月重复全额计成本。实际T4卡时在文本/检测/视频间分配，总和不超过48张×可用时间。利润、应收与回款分别记录；共享CPU机柜已有资源按项目分摊，避免重复新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商务讨论清单，并非已签协议或法律意见。首批用同一请求样本比对Tokenizer、推理返回usage、接入记录及平台账单。需约定失败/取消/重试/部分输出及缓存口径，不能由技术默认免费或收费。检测/视频分别约定规格、质量、任务单位及价格。合同还需价格变更、税费、付款账户、争议处理和开票要求，以双方最终文本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议条款由商务/法务/财务评审。单交换机故障可能影响双机并行服务，同一资源池内独立单机服务的影响依赖网络与路由。合同约定故障责任归属、供应方与平台侧原因判定、不可用统计、维护排除项、赔付上限、退出与余额清算。数据最小留存及安全职责按实际数据和适用制度审查，不假定客户数据可任意留存或用于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以角色为泳道、阶段为列。公司制度未提供，不虚构审批姓名或时限。重要交接：技术产能报告传商务财务形成报价；商务法务确认条款后技术按配额发布；技术给出用量明细、商务获取平台对账确认、财务形成结算及发票、商务财务跟踪到账。真实商业闭环需要实际交易与凭证；模拟账单仅作为计量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报告不声称设备已上架、模型已部署、压测已通过、合同已签或款项已到账。与第2页三项评审目标对应：确定首轮范围；明确资源资料及责任；设置试供给门槛。扩容依据需要实际质量、产能、订单与全成本经济性，不以峰值吞吐或能输出文本为充分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资料查询日期：2026-09-16。方案报告，尚未执行设备部署、压测和交易。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913ba90d554b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7a4d9626114bdf" /><Relationship Type="http://schemas.openxmlformats.org/officeDocument/2006/relationships/slideLayout" Target="/ppt/slideLayouts/slideLayout1.xml" Id="Ra7f0cc97a0e54e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0cc97a0e54e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162d9fcde44cc" /><Relationship Type="http://schemas.openxmlformats.org/officeDocument/2006/relationships/notesSlide" Target="/ppt/notesSlides/notesSlide1.xml" Id="R151a3e6894be4a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f9663a9c64a46" /><Relationship Type="http://schemas.openxmlformats.org/officeDocument/2006/relationships/notesSlide" Target="/ppt/notesSlides/notesSlide2.xml" Id="Rb616146e020d4b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0668144ce478a" /><Relationship Type="http://schemas.openxmlformats.org/officeDocument/2006/relationships/notesSlide" Target="/ppt/notesSlides/notesSlide3.xml" Id="Re714da16324841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d50241e8743b7" /><Relationship Type="http://schemas.openxmlformats.org/officeDocument/2006/relationships/notesSlide" Target="/ppt/notesSlides/notesSlide4.xml" Id="R5d2dbc81da9f41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013616be34f29" /><Relationship Type="http://schemas.openxmlformats.org/officeDocument/2006/relationships/notesSlide" Target="/ppt/notesSlides/notesSlide5.xml" Id="R13f61b29c7fe4f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cee798a00465f" /><Relationship Type="http://schemas.openxmlformats.org/officeDocument/2006/relationships/notesSlide" Target="/ppt/notesSlides/notesSlide6.xml" Id="R6e6eaa6849fb43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95c9b29c24275" /><Relationship Type="http://schemas.openxmlformats.org/officeDocument/2006/relationships/notesSlide" Target="/ppt/notesSlides/notesSlide7.xml" Id="R3ad9dfc4db154b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775ef654db401d" /><Relationship Type="http://schemas.openxmlformats.org/officeDocument/2006/relationships/notesSlide" Target="/ppt/notesSlides/notesSlide8.xml" Id="R24422e2c3c194f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27cdc0a9f4b9a" /><Relationship Type="http://schemas.openxmlformats.org/officeDocument/2006/relationships/notesSlide" Target="/ppt/notesSlides/notesSlide9.xml" Id="R4a206032c4c94b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35ad490fb46fe" /><Relationship Type="http://schemas.openxmlformats.org/officeDocument/2006/relationships/notesSlide" Target="/ppt/notesSlides/notesSlide10.xml" Id="R94160b09082842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493f9db294151" /><Relationship Type="http://schemas.openxmlformats.org/officeDocument/2006/relationships/notesSlide" Target="/ppt/notesSlides/notesSlide11.xml" Id="Re8435df9912d4d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c0f41c10f4011" /><Relationship Type="http://schemas.openxmlformats.org/officeDocument/2006/relationships/notesSlide" Target="/ppt/notesSlides/notesSlide12.xml" Id="R7c3c021dda6c43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cb9370c8c4baa" /><Relationship Type="http://schemas.openxmlformats.org/officeDocument/2006/relationships/notesSlide" Target="/ppt/notesSlides/notesSlide13.xml" Id="R597986483fb940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716f2d5934448" /><Relationship Type="http://schemas.openxmlformats.org/officeDocument/2006/relationships/notesSlide" Target="/ppt/notesSlides/notesSlide14.xml" Id="R5a41b37c48144e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d76a285454cd8" /><Relationship Type="http://schemas.openxmlformats.org/officeDocument/2006/relationships/notesSlide" Target="/ppt/notesSlides/notesSlide15.xml" Id="Rdd18979d0914486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33d4b41274c35" /><Relationship Type="http://schemas.openxmlformats.org/officeDocument/2006/relationships/notesSlide" Target="/ppt/notesSlides/notesSlide16.xml" Id="R69d1f4b40ced45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0c4f130b949f2" /><Relationship Type="http://schemas.openxmlformats.org/officeDocument/2006/relationships/notesSlide" Target="/ppt/notesSlides/notesSlide17.xml" Id="Rb27f820b9e484f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cd5d0f7dd493c" /><Relationship Type="http://schemas.openxmlformats.org/officeDocument/2006/relationships/notesSlide" Target="/ppt/notesSlides/notesSlide18.xml" Id="R65061608f8b24c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C76C7-D268-466F-B975-CAC7AA6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668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token 魔方</a:t>
            </a:r>
          </a:p>
          <a:p xmlns:a="http://schemas.openxmlformats.org/drawingml/2006/main">
            <a:pPr algn="l">
              <a:def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Mini实验台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57712-3869-47D1-B6C8-150975DE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Token 生产与平台销售闭环验证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B2E0F9-1202-4E1F-A382-09B8D202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0FA26-939A-4399-A1CB-24E198F0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prepare:张帅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EC82D4-7E5E-457B-9393-F681EEFE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150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2026年9月16日</a:t>
            </a:r>
          </a:p>
        </p:txBody>
      </p:sp>
    </p:spTree>
    <p:extLst>
      <p:ext uri="{BB962C8B-B14F-4D97-AF65-F5344CB8AC3E}">
        <p14:creationId xmlns:p14="http://schemas.microsoft.com/office/powerpoint/2010/main" val="11336618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5E68C-998D-4B1A-B25E-DABBA52E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F537D-5BA4-41A6-B241-DD09841E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技术验证与商业验证的范围及评审目标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7F778-19A6-4D47-914C-309CB99E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首轮用一个文本服务贯通生产、计量与平台对账，再验证真实结算回款。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CB0C6-3041-48CB-A0C6-5A56B1F8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8D6EF-DDD9-49DF-8DF5-2F59F3B5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08F3B-AC66-46D6-BE72-7C0146BD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02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5EF25-91C3-40B4-AF03-A6234362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A  技术验证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3FAAB-876B-4458-A2A5-98081858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3835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B  商业验证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3B5C4-FE3D-49D1-8503-0C410F08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43200"/>
            <a:ext cx="50482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硬件设备与功率边界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网络拓扑与跨柜 RoCE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软件架构与 MASS 接入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模型适配与部署验收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98975-945B-47EB-B7B1-486AE96C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743200"/>
            <a:ext cx="5162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性能测算与可售产能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Token 收益与盈亏边界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商业协议与结算证据</a:t>
            </a:r>
          </a:p>
          <a:p xmlns:a="http://schemas.openxmlformats.org/drawingml/2006/main">
            <a:pPr algn="l">
              <a:def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公司流程与回款验收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A5338-2B12-4F39-A816-814A1F34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85E08-D095-4275-BDFA-FCFF377D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86375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本次评审形成：首轮服务范围、必补资源资料、平台试供给通过条件。</a:t>
            </a:r>
          </a:p>
        </p:txBody>
      </p:sp>
    </p:spTree>
    <p:extLst>
      <p:ext uri="{BB962C8B-B14F-4D97-AF65-F5344CB8AC3E}">
        <p14:creationId xmlns:p14="http://schemas.microsoft.com/office/powerpoint/2010/main" val="704270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7FDE3-0FE9-4D3A-A1F2-CB52A9EC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FFEF0-F0A3-4E37-AD86-689A0E16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双机柜资源配置：910B 分柜，T4 均衡布置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8A2C4-F00C-46E5-8E36-F3DF0DC2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 14 台服务器：16 张 910B NPU、48 张 T4 GPU及 6 台通算服务器。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5DB78-E342-47C1-8342-4209B4A2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E12B2-1440-4ED4-BAB9-E4AF9247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342FE-5559-48C3-ABD1-9473FCA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4A050-B678-4ED2-A786-0761237E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59C3DF-CD39-48CB-B672-3334FB3F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A  /  10 kW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419D5-387C-4AEC-B80E-D63E4ECE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D0924-D246-49AC-9976-41F2036E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18761-C7F4-4D54-A965-123CFAFB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81D15-88BC-44FE-84D9-46D4E9E1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08CBF-180F-4136-9572-870812F1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09775"/>
            <a:ext cx="2247900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F93607-9913-47B5-BC67-E7CBCEBA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95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机柜 B  /  10 kW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E7CBA-0D82-4A50-AB49-E05B3D53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38425"/>
            <a:ext cx="194310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服务器 ×1</a:t>
            </a:r>
          </a:p>
          <a:p xmlns:a="http://schemas.openxmlformats.org/drawingml/2006/main">
            <a:pPr algn="ctr">
              <a:def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8 张 NPU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66BB9-0C05-49E3-9E36-6CD46F9D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2CF1AB-2825-49E4-9F59-C90646D1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10025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35F16-0C16-409D-8EEE-096E4A18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194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377BB5"/>
                </a:solidFill>
                <a:latin typeface="Arial Unicode MS"/>
                <a:ea typeface="Arial Unicode MS"/>
                <a:cs typeface="Arial Unicode MS"/>
              </a:rPr>
              <a:t>T4 ×1  /  8 张 GPU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5762625" y="2009775"/>
          <a:ext xmlns:a="http://schemas.openxmlformats.org/drawingml/2006/main" cx="5848350" cy="3457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038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数量与核心配置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 台 × 8 张 NPU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子型号与显存待盘点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 × 8 张 GPU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单卡 16GB GDDR6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通算服务器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台，已有机柜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CPU / 内存 / 系统盘 / 数据盘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与光链路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 台交换机，16 条链路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32 个 200GE 光模块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B2C70-9B93-498A-80BD-07053775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每柜 1 台 910B＋3 台八卡 T4 为拟议装载，须通过整机功率和安装核验。</a:t>
            </a:r>
          </a:p>
        </p:txBody>
      </p:sp>
    </p:spTree>
    <p:extLst>
      <p:ext uri="{BB962C8B-B14F-4D97-AF65-F5344CB8AC3E}">
        <p14:creationId xmlns:p14="http://schemas.microsoft.com/office/powerpoint/2010/main" val="513096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1012E-78BB-4A5A-84B4-7E34FC91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A1  硬件设备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A0AE0-A137-4CFD-A8BE-9F33A263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功率与配套：逐柜整机峰值决定混装容量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EA7F2-9B2B-4696-9FCD-6FD8FE5D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kW 是机柜容量等级。八卡 T4 的 CPU、风扇和电源损耗都要纳入。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99A66-2B46-4009-B1B8-888A107A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45283-B265-463E-9C28-3A1446F7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AF533-2B32-48E8-BECE-19D9D630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9C521-5AD6-4964-B993-28CA266E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383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P910B + 3 × PT4 + P网络 + P预留 ≤ P机柜可用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2714625"/>
          <a:ext xmlns:a="http://schemas.openxmlformats.org/drawingml/2006/main" cx="11049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5743575"/>
                <a:gridCol w="349567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配套类别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上线前必备项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核验重点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整机与存储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机箱、主板、CPU、内存、风扇、冗余电源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系统盘、模型/日志盘、按需磁盘控制器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八卡槽位、PCIe / Riser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峰值功耗与散热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网络与光纤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业务网卡、BMC 口、业务/管理交换机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RoCE 交换机、32 个光模块、16 组光纤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端口、上联线缆、管理网线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速率、接口和距离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机柜与机房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导轨、PDU、电源线、接地、理线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供电回路、UPS、制冷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持续容量、U 位、承重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冗余供电工况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 / 可选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 台通算配套按现状盘点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可选共享存储、备份及存储网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复用边界、留存需求</a:t>
                      </a:r>
                    </a:p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不重复新增机柜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9665AD-9BB2-42AF-80CE-CAC44878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上架门槛：设备/运维提供两柜功率表和配件差缺清单，超限则调整 T4 分布。</a:t>
            </a:r>
          </a:p>
        </p:txBody>
      </p:sp>
    </p:spTree>
    <p:extLst>
      <p:ext uri="{BB962C8B-B14F-4D97-AF65-F5344CB8AC3E}">
        <p14:creationId xmlns:p14="http://schemas.microsoft.com/office/powerpoint/2010/main" val="7557586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2C64666-840C-44AA-9DA3-C723DDC6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A2  网络拓扑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30485-9196-44A9-83AD-AD42AFA4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跨柜 RoCE：两台 910B 共用一台交换机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68F76-2E99-4CDA-8D61-AA94C158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已确认：1 台 RoCE 交换机、16 条 200GE 链路、双端 32 个光模块。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29343-2E02-48B6-9756-0B00584D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1C5A3-F08E-4571-AAAA-9E940285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0BEA5-FDFB-4627-A7A4-68841641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1BD3E-B249-4199-B55F-7829C5D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47850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目标平台 / Internet / 压测入口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9449C-1BBE-4546-AE41-045E0BC4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76475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E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边界防火墙 / 访问控制（复用或补齐）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E6B12-01B1-4F1F-823B-817FD7B4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14625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D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核心 / 业务汇聚交换设备</a:t>
            </a:r>
          </a:p>
        </p:txBody>
      </p:sp>
      <p:cxnSp>
        <p:nvCxnSpPr>
          <p:cNvPr id="15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19800" y="21526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cxnSp>
        <p:nvCxnSpPr>
          <p:cNvPr id="154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19800" y="2581275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DC803E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7EBD0-7D27-4339-A7AA-1DEF434A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95525"/>
            <a:ext cx="26003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5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运维入口 / 管理区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9EE33-EA73-49D4-A838-AA945D86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43275"/>
            <a:ext cx="29813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2F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带外管理接入交换设备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FD4F7-2189-4E62-82A2-36399004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43275"/>
            <a:ext cx="29908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E2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业务网接入交换设备</a:t>
            </a:r>
          </a:p>
        </p:txBody>
      </p:sp>
      <p:cxnSp>
        <p:nvCxnSpPr>
          <p:cNvPr id="158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881188" y="2600325"/>
            <a:ext cx="60007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59" name=""/>
          <p:cNvCxnSpPr>
            <a:stCxn xmlns:a="http://schemas.openxmlformats.org/drawingml/2006/main" id="9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19800" y="3019425"/>
            <a:ext cx="212407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C117D-C0B0-4A07-B26C-71E39EB1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81300"/>
            <a:ext cx="138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交换设备</a:t>
            </a:r>
          </a:p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管理口接入带外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1B894-292D-4F10-9490-DF9340DC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2405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73A9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1219A-34B2-4711-80A9-658D7E89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8288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业务网：速率待盘点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B04D6-43BB-4413-A7BE-50BBA5E1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0027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139CC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4DFC3-8DFD-4FE9-8F8C-26442B32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10502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BMC 网：速率待盘点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349AE-A9B7-475F-9724-65B9FE7C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77429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3FDC94-20A4-4D57-B994-8CAB12BF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3812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RoCE：200GE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EFC3F8-AF8A-405E-9DF1-D11E9DF5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52725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317A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41621-9454-4C4C-9356-0F6DD3B6D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57475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存储网：可选 / 虚线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3239E5-D14A-4B0B-ABAC-CD5AF505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76700"/>
            <a:ext cx="2876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7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C5ECCE-AAE0-4E4C-9038-39E0014B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3848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A8AE54-4416-4C9D-93C0-51250786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76700"/>
            <a:ext cx="39719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7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500ED2-69F4-42E9-B6DC-BDC2C8D9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8482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A 柜 / 10 kW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6B79AC-F04B-4885-A2F2-08A91BDA1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84822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B 柜 / 10 kW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CD54C-21C6-487A-A438-7445E9F3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711428-7FFB-48AE-8A6D-5448D3E4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76" name=""/>
          <p:cNvCxnSpPr>
            <a:stCxn xmlns:a="http://schemas.openxmlformats.org/drawingml/2006/main" id="13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847725" y="3676650"/>
            <a:ext cx="163353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77" name=""/>
          <p:cNvCxnSpPr>
            <a:stCxn xmlns:a="http://schemas.openxmlformats.org/drawingml/2006/main" id="14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1019175" y="3676650"/>
            <a:ext cx="71247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343362-6C38-469D-9819-8F5EC553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781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0CD180-D8A7-4386-A44A-DD5E1253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33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B7C0F8-AF8E-49F8-B728-81E76199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19DE19-B35C-473D-8227-4FC5A04C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2" name=""/>
          <p:cNvCxnSpPr>
            <a:stCxn xmlns:a="http://schemas.openxmlformats.org/drawingml/2006/main" id="13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flipH="1">
            <a:off x="1752600" y="3676650"/>
            <a:ext cx="7286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83" name=""/>
          <p:cNvCxnSpPr>
            <a:stCxn xmlns:a="http://schemas.openxmlformats.org/drawingml/2006/main" id="14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 flipH="1">
            <a:off x="1924050" y="3676650"/>
            <a:ext cx="62198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812117-3649-4888-BDF6-5D057607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67200"/>
            <a:ext cx="857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2…5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5BB9BB-56C9-48A6-B0A7-42F37F42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33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492C9E-7C36-49D5-9271-B0ABCDD1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F10B06-4847-42C6-B806-AB19AE19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88" name=""/>
          <p:cNvCxnSpPr>
            <a:stCxn xmlns:a="http://schemas.openxmlformats.org/drawingml/2006/main" id="13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2481263" y="3676650"/>
            <a:ext cx="2524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89" name=""/>
          <p:cNvCxnSpPr>
            <a:stCxn xmlns:a="http://schemas.openxmlformats.org/drawingml/2006/main" id="14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 flipH="1">
            <a:off x="2905125" y="3676650"/>
            <a:ext cx="52387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07D67B-9133-4A66-9ADA-FACD8F5F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267200"/>
            <a:ext cx="7810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 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FA69EE3-9671-49C1-8A08-6F14039F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339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ABD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2E8A16-10DF-4752-8E45-FBA8B3C0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B3D435E-AC21-4541-8B27-755EE022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194" name=""/>
          <p:cNvCxnSpPr>
            <a:stCxn xmlns:a="http://schemas.openxmlformats.org/drawingml/2006/main" id="13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2481263" y="3676650"/>
            <a:ext cx="14335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195" name=""/>
          <p:cNvCxnSpPr>
            <a:stCxn xmlns:a="http://schemas.openxmlformats.org/drawingml/2006/main" id="14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 flipH="1">
            <a:off x="4086225" y="3676650"/>
            <a:ext cx="4057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8839F1-4A2A-4AE5-A1AC-0961A817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1295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910B-A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CC77152-7566-4C47-89B7-46A09EA0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122F12-E2E6-4505-BD86-DFD6ABBB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A44DE4-2E70-4441-9350-F2D57E3E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512644E-635C-4D64-8732-AB5BEE0E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F50801-5939-45D4-8A95-AF4F024F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0CB654-9F10-44AD-B324-7369DC1A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A06CFE-FCD0-4F94-991E-574CCA09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E9454F-E0BA-42D4-BD2E-ADBB61EA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9C03E6-2330-4336-AD85-71351113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3FEEAB1-C638-4A26-B002-D26F9944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07" name=""/>
          <p:cNvCxnSpPr>
            <a:stCxn xmlns:a="http://schemas.openxmlformats.org/drawingml/2006/main" id="13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2481263" y="3676650"/>
            <a:ext cx="28432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08" name=""/>
          <p:cNvCxnSpPr>
            <a:stCxn xmlns:a="http://schemas.openxmlformats.org/drawingml/2006/main" id="14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 flipH="1">
            <a:off x="5495925" y="3676650"/>
            <a:ext cx="26479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9FEDDE-6D10-475C-98BD-F564B15D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T4-1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89EF58-95C5-46EB-95D9-FDBE3BAB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3E72993-0905-4C03-837E-028702F6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2" name=""/>
          <p:cNvCxnSpPr>
            <a:stCxn xmlns:a="http://schemas.openxmlformats.org/drawingml/2006/main" id="13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2481263" y="3676650"/>
            <a:ext cx="35956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13" name=""/>
          <p:cNvCxnSpPr>
            <a:stCxn xmlns:a="http://schemas.openxmlformats.org/drawingml/2006/main" id="14" idx="2"/>
            <a:endCxn xmlns:a="http://schemas.openxmlformats.org/drawingml/2006/main" id="68" idx="0"/>
          </p:cNvCxnSpPr>
          <p:nvPr/>
        </p:nvCxnSpPr>
        <p:spPr>
          <a:xfrm xmlns:a="http://schemas.openxmlformats.org/drawingml/2006/main" flipH="1">
            <a:off x="6248400" y="3676650"/>
            <a:ext cx="18954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C63130-ED5A-4600-9079-582DE3D2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T4-2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109754F-36DA-4568-B9C5-9DA1F65E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6273D20-656A-4F91-87FD-E90A1E44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17" name=""/>
          <p:cNvCxnSpPr>
            <a:stCxn xmlns:a="http://schemas.openxmlformats.org/drawingml/2006/main" id="13" idx="2"/>
            <a:endCxn xmlns:a="http://schemas.openxmlformats.org/drawingml/2006/main" id="72" idx="0"/>
          </p:cNvCxnSpPr>
          <p:nvPr/>
        </p:nvCxnSpPr>
        <p:spPr>
          <a:xfrm xmlns:a="http://schemas.openxmlformats.org/drawingml/2006/main">
            <a:off x="2481263" y="3676650"/>
            <a:ext cx="43481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18" name=""/>
          <p:cNvCxnSpPr>
            <a:stCxn xmlns:a="http://schemas.openxmlformats.org/drawingml/2006/main" id="14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 flipH="1">
            <a:off x="7000875" y="3676650"/>
            <a:ext cx="11430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43CE49C-D63C-41FC-8D81-1A2ABABC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T4-3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85BC91-2351-4187-9494-EAF673D5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6F60F01-147D-4414-ABF7-992708ED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22" name=""/>
          <p:cNvCxnSpPr>
            <a:stCxn xmlns:a="http://schemas.openxmlformats.org/drawingml/2006/main" id="13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2481263" y="3676650"/>
            <a:ext cx="54721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23" name=""/>
          <p:cNvCxnSpPr>
            <a:stCxn xmlns:a="http://schemas.openxmlformats.org/drawingml/2006/main" id="14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 flipH="1">
            <a:off x="8124825" y="3676650"/>
            <a:ext cx="190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CFF9CC6-9587-4EA3-BE7A-6FA5D3B0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67200"/>
            <a:ext cx="12954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910B-B / 8 卡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8×200GE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2B5628C-8E25-4DCD-8731-097C7513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DEFCE67-2DF9-4C29-A9E8-7B50C8A8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042AEF0-9FBF-44C6-83D1-0828C574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2750B10-390D-4A8E-B7F8-2511A9CE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DB8DF42-E27B-4131-84B7-19248404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6139427-9FFE-428D-B15F-076E7028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5D5487-ACF3-4677-B299-3EDB2E68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E0058D4-54CF-4E0F-8F67-5A19D753A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33925"/>
            <a:ext cx="1238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03773D1-0D09-4628-9BD1-9614BFBA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CCA105D-FAE9-450D-9637-0B2DE0FD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35" name=""/>
          <p:cNvCxnSpPr>
            <a:stCxn xmlns:a="http://schemas.openxmlformats.org/drawingml/2006/main" id="13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2481263" y="3676650"/>
            <a:ext cx="688181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36" name=""/>
          <p:cNvCxnSpPr>
            <a:stCxn xmlns:a="http://schemas.openxmlformats.org/drawingml/2006/main" id="14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8143875" y="3676650"/>
            <a:ext cx="139065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E0DFD03-712E-4893-B80B-4150AD95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T4-4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D367365-AE2C-4432-9FC4-1084FEF7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6A01AA1-8D7D-4B35-8701-E05C5AB6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40" name=""/>
          <p:cNvCxnSpPr>
            <a:stCxn xmlns:a="http://schemas.openxmlformats.org/drawingml/2006/main" id="13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>
            <a:off x="2481263" y="3676650"/>
            <a:ext cx="7634288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41" name=""/>
          <p:cNvCxnSpPr>
            <a:stCxn xmlns:a="http://schemas.openxmlformats.org/drawingml/2006/main" id="14" idx="2"/>
            <a:endCxn xmlns:a="http://schemas.openxmlformats.org/drawingml/2006/main" id="96" idx="0"/>
          </p:cNvCxnSpPr>
          <p:nvPr/>
        </p:nvCxnSpPr>
        <p:spPr>
          <a:xfrm xmlns:a="http://schemas.openxmlformats.org/drawingml/2006/main">
            <a:off x="8143875" y="3676650"/>
            <a:ext cx="21431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40C4865-5160-4846-8752-84D48730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4267200"/>
            <a:ext cx="6953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T4-5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9C2854D-58DA-4A84-83E5-FA8C5622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9CC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7DC6C6C-336A-4509-8198-255DD2B7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A943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cxnSp>
        <p:nvCxnSpPr>
          <p:cNvPr id="245" name=""/>
          <p:cNvCxnSpPr>
            <a:stCxn xmlns:a="http://schemas.openxmlformats.org/drawingml/2006/main" id="13" idx="2"/>
            <a:endCxn xmlns:a="http://schemas.openxmlformats.org/drawingml/2006/main" id="100" idx="0"/>
          </p:cNvCxnSpPr>
          <p:nvPr/>
        </p:nvCxnSpPr>
        <p:spPr>
          <a:xfrm xmlns:a="http://schemas.openxmlformats.org/drawingml/2006/main">
            <a:off x="2481263" y="3676650"/>
            <a:ext cx="8386763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39CC9"/>
            </a:solidFill>
            <a:prstDash val="solid"/>
          </a:ln>
        </p:spPr>
      </p:cxnSp>
      <p:cxnSp>
        <p:nvCxnSpPr>
          <p:cNvPr id="246" name=""/>
          <p:cNvCxnSpPr>
            <a:stCxn xmlns:a="http://schemas.openxmlformats.org/drawingml/2006/main" id="14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8143875" y="3676650"/>
            <a:ext cx="28956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3A943"/>
            </a:solidFill>
            <a:prstDash val="solid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099EC8-4037-44DA-BDFF-E4342D3C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67200"/>
            <a:ext cx="8191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T4-6</a:t>
            </a:r>
          </a:p>
          <a:p xmlns:a="http://schemas.openxmlformats.org/drawingml/2006/main">
            <a:pPr algn="ctr">
              <a:def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8 卡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AFDA5DB-9383-44B4-866E-4A4507F4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648325"/>
            <a:ext cx="48863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4F5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RoCE 交换机 ×1（拟放 A 柜）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27B7D80-0611-43CE-A60D-8CC8A5FD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cxnSp>
        <p:nvCxnSpPr>
          <p:cNvPr id="250" name=""/>
          <p:cNvCxnSpPr>
            <a:stCxn xmlns:a="http://schemas.openxmlformats.org/drawingml/2006/main" id="54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3833813" y="4867275"/>
            <a:ext cx="13954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8E08706-109F-4393-8ECC-AE8FB736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cxnSp>
        <p:nvCxnSpPr>
          <p:cNvPr id="252" name=""/>
          <p:cNvCxnSpPr>
            <a:stCxn xmlns:a="http://schemas.openxmlformats.org/drawingml/2006/main" id="55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3986213" y="4867275"/>
            <a:ext cx="14811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36AB11-0166-43C8-9C5A-5F460A77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cxnSp>
        <p:nvCxnSpPr>
          <p:cNvPr id="254" name=""/>
          <p:cNvCxnSpPr>
            <a:stCxn xmlns:a="http://schemas.openxmlformats.org/drawingml/2006/main" id="56" idx="2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4138613" y="4867275"/>
            <a:ext cx="1566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2A8C74D-C61C-4536-A7A8-07E3905B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cxnSp>
        <p:nvCxnSpPr>
          <p:cNvPr id="256" name=""/>
          <p:cNvCxnSpPr>
            <a:stCxn xmlns:a="http://schemas.openxmlformats.org/drawingml/2006/main" id="57" idx="2"/>
            <a:endCxn xmlns:a="http://schemas.openxmlformats.org/drawingml/2006/main" id="112" idx="0"/>
          </p:cNvCxnSpPr>
          <p:nvPr/>
        </p:nvCxnSpPr>
        <p:spPr>
          <a:xfrm xmlns:a="http://schemas.openxmlformats.org/drawingml/2006/main">
            <a:off x="4291013" y="4867275"/>
            <a:ext cx="1652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6EC49CD-2E96-49B3-8817-D55F82AE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cxnSp>
        <p:nvCxnSpPr>
          <p:cNvPr id="258" name=""/>
          <p:cNvCxnSpPr>
            <a:stCxn xmlns:a="http://schemas.openxmlformats.org/drawingml/2006/main" id="58" idx="2"/>
            <a:endCxn xmlns:a="http://schemas.openxmlformats.org/drawingml/2006/main" id="114" idx="0"/>
          </p:cNvCxnSpPr>
          <p:nvPr/>
        </p:nvCxnSpPr>
        <p:spPr>
          <a:xfrm xmlns:a="http://schemas.openxmlformats.org/drawingml/2006/main">
            <a:off x="4443413" y="4867275"/>
            <a:ext cx="1738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23C42D5-92C0-4CCC-A524-9A12B503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  <p:cxnSp>
        <p:nvCxnSpPr>
          <p:cNvPr id="260" name=""/>
          <p:cNvCxnSpPr>
            <a:stCxn xmlns:a="http://schemas.openxmlformats.org/drawingml/2006/main" id="59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4595813" y="4867275"/>
            <a:ext cx="1824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FD49A6C-0A32-4128-815C-CEED4C9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cxnSp>
        <p:nvCxnSpPr>
          <p:cNvPr id="262" name=""/>
          <p:cNvCxnSpPr>
            <a:stCxn xmlns:a="http://schemas.openxmlformats.org/drawingml/2006/main" id="60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>
            <a:off x="4748213" y="4867275"/>
            <a:ext cx="1909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906C93D-A7DC-45DF-829A-AF6A09CE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  <p:cxnSp>
        <p:nvCxnSpPr>
          <p:cNvPr id="264" name=""/>
          <p:cNvCxnSpPr>
            <a:stCxn xmlns:a="http://schemas.openxmlformats.org/drawingml/2006/main" id="61" idx="2"/>
            <a:endCxn xmlns:a="http://schemas.openxmlformats.org/drawingml/2006/main" id="120" idx="0"/>
          </p:cNvCxnSpPr>
          <p:nvPr/>
        </p:nvCxnSpPr>
        <p:spPr>
          <a:xfrm xmlns:a="http://schemas.openxmlformats.org/drawingml/2006/main">
            <a:off x="4900613" y="4867275"/>
            <a:ext cx="19954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C92DA01-2B36-4A3E-B5FA-AA250C17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  <p:cxnSp>
        <p:nvCxnSpPr>
          <p:cNvPr id="266" name=""/>
          <p:cNvCxnSpPr>
            <a:stCxn xmlns:a="http://schemas.openxmlformats.org/drawingml/2006/main" id="82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 flipH="1">
            <a:off x="7658100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DA37B23-F42E-4F9B-BC8A-8294AB04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cxnSp>
        <p:nvCxnSpPr>
          <p:cNvPr id="268" name=""/>
          <p:cNvCxnSpPr>
            <a:stCxn xmlns:a="http://schemas.openxmlformats.org/drawingml/2006/main" id="8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 flipH="1">
            <a:off x="7896225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359FB7F-A9FC-4C7F-B973-7F284DF9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cxnSp>
        <p:nvCxnSpPr>
          <p:cNvPr id="270" name=""/>
          <p:cNvCxnSpPr>
            <a:stCxn xmlns:a="http://schemas.openxmlformats.org/drawingml/2006/main" id="84" idx="2"/>
            <a:endCxn xmlns:a="http://schemas.openxmlformats.org/drawingml/2006/main" id="126" idx="0"/>
          </p:cNvCxnSpPr>
          <p:nvPr/>
        </p:nvCxnSpPr>
        <p:spPr>
          <a:xfrm xmlns:a="http://schemas.openxmlformats.org/drawingml/2006/main" flipH="1">
            <a:off x="8134350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B75AADA-B27C-49EF-ADA6-7570F1C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cxnSp>
        <p:nvCxnSpPr>
          <p:cNvPr id="272" name=""/>
          <p:cNvCxnSpPr>
            <a:stCxn xmlns:a="http://schemas.openxmlformats.org/drawingml/2006/main" id="85" idx="2"/>
            <a:endCxn xmlns:a="http://schemas.openxmlformats.org/drawingml/2006/main" id="128" idx="0"/>
          </p:cNvCxnSpPr>
          <p:nvPr/>
        </p:nvCxnSpPr>
        <p:spPr>
          <a:xfrm xmlns:a="http://schemas.openxmlformats.org/drawingml/2006/main">
            <a:off x="8329613" y="4867275"/>
            <a:ext cx="428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7D36CB9-62C3-4B92-A924-D1FB806B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cxnSp>
        <p:nvCxnSpPr>
          <p:cNvPr id="274" name=""/>
          <p:cNvCxnSpPr>
            <a:stCxn xmlns:a="http://schemas.openxmlformats.org/drawingml/2006/main" id="86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8482013" y="4867275"/>
            <a:ext cx="12858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1C8ABB40-53AC-4546-9191-C69393BB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cxnSp>
        <p:nvCxnSpPr>
          <p:cNvPr id="276" name=""/>
          <p:cNvCxnSpPr>
            <a:stCxn xmlns:a="http://schemas.openxmlformats.org/drawingml/2006/main" id="87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8634413" y="4867275"/>
            <a:ext cx="21431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CEF86D7-3CFA-4CA9-BF21-4FAFCCA2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cxnSp>
        <p:nvCxnSpPr>
          <p:cNvPr id="278" name=""/>
          <p:cNvCxnSpPr>
            <a:stCxn xmlns:a="http://schemas.openxmlformats.org/drawingml/2006/main" id="88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8786813" y="4867275"/>
            <a:ext cx="300038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82A7EE5-41EB-4E3D-B861-48C47AB7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514975"/>
            <a:ext cx="171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429B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cxnSp>
        <p:nvCxnSpPr>
          <p:cNvPr id="280" name=""/>
          <p:cNvCxnSpPr>
            <a:stCxn xmlns:a="http://schemas.openxmlformats.org/drawingml/2006/main" id="89" idx="2"/>
            <a:endCxn xmlns:a="http://schemas.openxmlformats.org/drawingml/2006/main" id="136" idx="0"/>
          </p:cNvCxnSpPr>
          <p:nvPr/>
        </p:nvCxnSpPr>
        <p:spPr>
          <a:xfrm xmlns:a="http://schemas.openxmlformats.org/drawingml/2006/main">
            <a:off x="8939213" y="4867275"/>
            <a:ext cx="385763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77429B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228BF831-C9B4-4926-A503-4D9F7C98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33400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77429B"/>
                </a:solidFill>
                <a:latin typeface="Arial Unicode MS"/>
                <a:ea typeface="Arial Unicode MS"/>
                <a:cs typeface="Arial Unicode MS"/>
              </a:rPr>
              <a:t>跨柜光纤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FC25212D-A4CE-4523-ABC2-61798C7F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53075"/>
            <a:ext cx="32670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可选存储网 / 共享存储</a:t>
            </a:r>
          </a:p>
          <a:p xmlns:a="http://schemas.openxmlformats.org/drawingml/2006/main">
            <a:pPr algn="ctr">
              <a:def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通算及加速节点按需接入</a:t>
            </a:r>
          </a:p>
        </p:txBody>
      </p:sp>
      <p:cxnSp>
        <p:nvCxnSpPr>
          <p:cNvPr id="283" name=""/>
          <p:cNvCxnSpPr>
            <a:stCxn xmlns:a="http://schemas.openxmlformats.org/drawingml/2006/main" id="36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1228725" y="4867275"/>
            <a:ext cx="985838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cxnSp>
        <p:nvCxnSpPr>
          <p:cNvPr id="284" name=""/>
          <p:cNvCxnSpPr>
            <a:stCxn xmlns:a="http://schemas.openxmlformats.org/drawingml/2006/main" id="42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>
            <a:off x="2133600" y="4867275"/>
            <a:ext cx="80963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cxnSp>
        <p:nvCxnSpPr>
          <p:cNvPr id="285" name=""/>
          <p:cNvCxnSpPr>
            <a:stCxn xmlns:a="http://schemas.openxmlformats.org/drawingml/2006/main" id="48" idx="2"/>
            <a:endCxn xmlns:a="http://schemas.openxmlformats.org/drawingml/2006/main" id="139" idx="0"/>
          </p:cNvCxnSpPr>
          <p:nvPr/>
        </p:nvCxnSpPr>
        <p:spPr>
          <a:xfrm xmlns:a="http://schemas.openxmlformats.org/drawingml/2006/main" flipH="1">
            <a:off x="2214563" y="4867275"/>
            <a:ext cx="900113" cy="685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17ABD"/>
            </a:solidFill>
            <a:prstDash val="dash"/>
          </a:ln>
        </p:spPr>
      </p:cxn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B69F527D-08F3-4DBA-A7DD-07B52906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0991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接入层为逻辑设备组，数量、冗余与速率待盘点。6 台通算已有机柜，承载 MASS 等；混装须核验功率。</a:t>
            </a:r>
          </a:p>
        </p:txBody>
      </p:sp>
    </p:spTree>
    <p:extLst>
      <p:ext uri="{BB962C8B-B14F-4D97-AF65-F5344CB8AC3E}">
        <p14:creationId xmlns:p14="http://schemas.microsoft.com/office/powerpoint/2010/main" val="17781057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04FC8-74CD-4868-9C65-2D39BACD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4B5A0-A872-4952-A09D-473F16A8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生态与部署路径：软件依赖决定模型适配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1ECC6-3C46-4078-9936-41C29B8D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完整版本组合需要匹配驱动、运行时、模型算子和推理引擎。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564A-ABA9-4FB4-A418-E3D240A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96687-D965-4175-A608-B66C3363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F9322-E60E-40D3-9EFC-23C88A82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619625"/>
                <a:gridCol w="4619625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层次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 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 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硬件与设备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驱动、容器设备支持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/ SM75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驱动、固件、容器设备映射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子型号待核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运行时与通信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CUDA、计算库、NCCL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CANN、算子库、HCCL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框架与模型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PyTorch、Transformers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量化权重及兼容 kernel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+ torch_npu 等适配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量化与算子工具链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任务与引擎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文本：兼容 vLLM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YOLO：ONNX / TensorRT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Wan：官方推理流程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国产文本：vLLM Ascend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或 MindIE 对应路径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按模型单独验证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A07F0-5E6F-446B-85B8-DAD7BA6F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先冻结可运行镜像再扩功能。T4 的 TensorRT 路径不能推导为 TensorRT-LLM 支持。</a:t>
            </a:r>
          </a:p>
        </p:txBody>
      </p:sp>
    </p:spTree>
    <p:extLst>
      <p:ext uri="{BB962C8B-B14F-4D97-AF65-F5344CB8AC3E}">
        <p14:creationId xmlns:p14="http://schemas.microsoft.com/office/powerpoint/2010/main" val="1698433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D5F4DF-59CA-441F-894F-2F8EA996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2FBE2-E990-4695-B346-C24F4AB0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MASS 接入与计量：请求到用量的证据链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C1292-532F-40DF-B081-6EB7297C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台既有通算承载逻辑组件，具体能力归属和逐台部署待平台文档确认。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3DC04-6CA6-4921-8D1A-D5FB766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1AF99-0892-4B76-8C53-457F6431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110DA-BD6C-4E29-B9C4-5FAF9A57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8A0F3E-2DEC-4D65-831F-0C4BA307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19300"/>
            <a:ext cx="110109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管理配置：模型登记、资源配额、版本发布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3DAD90-CDA2-45D5-ABBC-FC6FD4AC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38475"/>
            <a:ext cx="2133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平台请求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租户 / 请求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5E3520-776E-431A-AF9F-58997209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38475"/>
            <a:ext cx="25050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接入鉴权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模型路由 / 限流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18ECE-15B8-492E-AAF7-F75A3D69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38475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910B / T4 推理服务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模型与版本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F1A3C-E509-490B-BA01-126C1D65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038475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服务结果</a:t>
            </a:r>
          </a:p>
        </p:txBody>
      </p: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733675" y="34290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29300" y="3429000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96400" y="342900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77BB5"/>
            </a:solidFill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05525" y="2524125"/>
            <a:ext cx="1785938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667B89"/>
            </a:solidFill>
            <a:prstDash val="dash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1BA18E-1272-425E-8714-C1AF7E08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72000"/>
            <a:ext cx="2514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原始用量事件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输入 / 输出 / 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8CFBC-B054-4F3E-8613-58A372EE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572000"/>
            <a:ext cx="2809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去重与规则计算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保留原始记录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D9F7A-E3DD-45D6-BABE-82AA229F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572000"/>
            <a:ext cx="17621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账单明细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对账差异</a:t>
            </a:r>
          </a:p>
        </p:txBody>
      </p:sp>
      <p:cxnSp>
        <p:nvCxnSpPr>
          <p:cNvPr id="42" name=""/>
          <p:cNvCxnSpPr>
            <a:stCxn xmlns:a="http://schemas.openxmlformats.org/drawingml/2006/main" id="10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4572000" y="3819525"/>
            <a:ext cx="3319463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829300" y="496252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296400" y="49625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8957F7-A9BF-48F9-AE6A-BC70FD23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295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拟集成职责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MASS 已有能力</a:t>
            </a:r>
          </a:p>
          <a:p xmlns:a="http://schemas.openxmlformats.org/drawingml/2006/main">
            <a:pPr algn="l">
              <a:def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需逐项核对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E0A42-4FEA-49D8-BE66-EDD43DBD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同一请求 ID 关联版本、状态、用量与账单。事件去重和重试计费分别处理。</a:t>
            </a:r>
          </a:p>
        </p:txBody>
      </p:sp>
    </p:spTree>
    <p:extLst>
      <p:ext uri="{BB962C8B-B14F-4D97-AF65-F5344CB8AC3E}">
        <p14:creationId xmlns:p14="http://schemas.microsoft.com/office/powerpoint/2010/main" val="1620500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ADA05-9925-45B0-8B95-D6DE1B06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82578-F24D-4E5E-84D3-CDC062EF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910B 国产模型：先验证稠密模型，再扩候选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8C9ED-E076-4238-9670-FBA506AC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筛选顺序：许可与平台规格、引擎支持、逐卡容量、通信、质量与负载验证。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356B8B-3AAE-4C39-A3A9-423F1CCC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DBB1C-B288-4423-A585-207D1227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1164B-3BF3-4E4C-816B-B648EA07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08 / 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2028825"/>
          <a:ext xmlns:a="http://schemas.openxmlformats.org/drawingml/2006/main" cx="11049000" cy="28479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3543300"/>
                <a:gridCol w="39814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候选模型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精度与起测路径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本轮判断与证据边界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 / Qwen3-8B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BF16 或 FP16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短上下文、低并发起测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建议首个文本联调候选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 A2/A3 家族支持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DeepSeek-R1-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Distill-Qwen-32B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位或适配量化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先核算权重＋KV＋工作区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进入条件性 PoC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蒸馏家族为实验性适配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96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zai-org / GLM-4.5-Air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16 位或匹配 W8A8 路径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核对 MoE 分片和通信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容量核验后再启动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家族支持不等于本台成功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2FB693-AD6E-4ECF-B217-0CE731D1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逐卡峰值 = 本卡权重＋KV Cache＋激活/工作区＋通信缓冲＋余量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CCE36-1096-4F70-9040-DF4F5798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16 张卡是资源总量。910B 显存未知，暂不承诺完整 DeepSeek 大模型的双机容量。</a:t>
            </a:r>
          </a:p>
        </p:txBody>
      </p:sp>
    </p:spTree>
    <p:extLst>
      <p:ext uri="{BB962C8B-B14F-4D97-AF65-F5344CB8AC3E}">
        <p14:creationId xmlns:p14="http://schemas.microsoft.com/office/powerpoint/2010/main" val="20112404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72D79-A8E4-4759-B4B7-0B2E6913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A4  模型适配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63A21-44B7-4DBB-9C24-CC4E5276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T4 模型分工：文本、检测、视频分别验收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78CFA9-15DA-4B2F-8B5B-B352B5FD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6 台八卡服务器共 48 张 GPU。单卡 16GB，多副本和多卡并行按任务选择。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3C75B-E6AD-4D01-9FB5-2D9C9EE3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BDC05-87DD-4B05-B3A9-AF5D4507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8DCB0-2B83-4407-B246-7A8AE7C3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09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09775"/>
          <a:ext xmlns:a="http://schemas.openxmlformats.org/drawingml/2006/main" cx="11049000" cy="3295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3667125"/>
                <a:gridCol w="39052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任务 / 首选候选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起测路径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验收指标与判断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量化文本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Qwen2.5-7B-Instruct-AWQ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 + 兼容 AWQ kernel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FP16 激活，先单卡短上下文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质量、TTFT / TPOT、Token/s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优先 PoC，实机待验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目标检测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YOLO26n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基线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ONNX / TensorRT 优化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mAP、召回率、端到端延迟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图片/帧吞吐，复验 T4 参考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视频生成</a:t>
                      </a:r>
                    </a:p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Wan2.1-T2V-1.3B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官方流程与必要卸载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核验 dtype / attention 后端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质量、分辨率/帧数/步数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生成耗时、视频/小时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条件性 PoC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916E6-913F-44E4-A64E-66129EF8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文本模型按总参数 &lt;20B 筛选。Wan 低显存参考不能证明 T4 的生成速度可交付。</a:t>
            </a:r>
          </a:p>
        </p:txBody>
      </p:sp>
    </p:spTree>
    <p:extLst>
      <p:ext uri="{BB962C8B-B14F-4D97-AF65-F5344CB8AC3E}">
        <p14:creationId xmlns:p14="http://schemas.microsoft.com/office/powerpoint/2010/main" val="3082915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6EFD6-AD05-47F9-82E4-B1A59D77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A5  模型部署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EA821-1B70-49DA-8BA3-0E461D30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部署与发布：以阶段证据作为上线门槛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B9496-FE60-4B45-8FC2-8500BB07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部署流程从设备验收开始，到可回退的服务版本结束。以下为待执行流程。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93A6A-A550-489B-852D-09A1DB48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1A69D-4E3F-4F73-BE5E-EC2E8772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135DAF-3EA6-482E-B739-D1D03616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10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DFE0C-BEB8-493F-8444-57CC0D6C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设备与网络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277A04-BB26-4F03-B74D-D326C8E8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资产与健康记录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功率 / 光链路 / HCCL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AF52F-737B-456C-82F8-7023D6A7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370BE-002D-45F2-BF0C-E075DAB0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环境与模型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C2136-55C2-4653-9193-03DAB551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镜像与权重校验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许可 / Tokenizer / 模板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76C27-0342-4EA5-A346-CFDC8B9E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2216C-9864-4419-97D0-B8C1D327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66925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服务启动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685EA-60CC-4C5F-9C8E-9543ABDA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81275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精度 / 上下文 / 并行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健康检查与启动日志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E6649-33A4-4FAB-9C97-435C3E8F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35EB0-E928-4D30-AEDE-1BB12428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正确性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8E000-C98A-43E9-84A3-91DCB3E8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中文 / 多轮 / 流式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质量集与异常请求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BCEF3C-0CBF-470F-A6E9-CAA288B5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529D9-4C89-4B16-8EA6-BD54818E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05  MASS 与平台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F70BC-B1B7-4938-B718-017679EE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鉴权 / 路由 / 计量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同批请求联调记录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83482C-BA8C-46CF-A779-FA5C0F1C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92416-D449-4556-8378-2B7E6F91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76650"/>
            <a:ext cx="3495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06  性能与发布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D9955-E7D5-45C7-92B8-361FC914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91000"/>
            <a:ext cx="3476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稳定性 / 限流 / 恢复</a:t>
            </a:r>
          </a:p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配额、告警与回退版本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862B6-06EE-4CEF-8D5A-FFFB06DC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086350"/>
            <a:ext cx="3438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448136-1D68-4F34-8475-6195F147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每阶段不通过即定位修复并回归。可发布产物是版本包、验收记录与回退配置。</a:t>
            </a:r>
          </a:p>
        </p:txBody>
      </p:sp>
    </p:spTree>
    <p:extLst>
      <p:ext uri="{BB962C8B-B14F-4D97-AF65-F5344CB8AC3E}">
        <p14:creationId xmlns:p14="http://schemas.microsoft.com/office/powerpoint/2010/main" val="9034738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C032CC-8E2B-4436-8900-3899181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CE9AB-4040-4BCC-9D11-74D70407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压测设计：分别扫描并发与请求到达率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A8B85-2526-4002-B348-8D69614D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先固定模型、任务规格和服务目标，再从单实例扩到资源池和平台入口。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F36FA-BB39-4B09-9370-669C3F1C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E7025A-E7D1-47F3-B053-CC6BE712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537FB-7A1E-4784-9AC5-22966FFF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11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3C131-220A-4723-AE5B-8DBE0CAB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90725"/>
            <a:ext cx="2743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并发初探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DEDBB-C4E3-4F9D-9A8A-CC4230CB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002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1 / 2 / 4 / 8 / 16 / 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B9CBF-6782-480E-BAA5-BA308891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9251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四类输入输出组合，分别测试未命中与重复前缀。边界未出现时继续加压。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42077-597D-4197-8328-8AEE080E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48025"/>
            <a:ext cx="658177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vllm bench serve --backend openai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--model &lt;服务模型&gt; --base-url &lt;地址&gt;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--max-concurrency 8 --request-rate inf</a:t>
            </a:r>
          </a:p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--save-result --save-detailed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EB0F8-66AA-4ED8-8CC8-AFD8EA3C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2861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执行与记录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BF1E4-CE06-440C-82D7-D02817AF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800475"/>
            <a:ext cx="38385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预热后至少重复 3 次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记录样本数和测试窗口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保留实际到达率与错误率</a:t>
            </a:r>
          </a:p>
          <a:p xmlns:a="http://schemas.openxmlformats.org/drawingml/2006/main">
            <a:pPr algn="l">
              <a:def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检查客户端和接入层瓶颈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2D86F-C9DA-4297-958E-AFFB25A5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完整可复制脚本在备注及随附文件。示例参数是初探设定，正式阈值由平台需求确定。</a:t>
            </a:r>
          </a:p>
        </p:txBody>
      </p:sp>
    </p:spTree>
    <p:extLst>
      <p:ext uri="{BB962C8B-B14F-4D97-AF65-F5344CB8AC3E}">
        <p14:creationId xmlns:p14="http://schemas.microsoft.com/office/powerpoint/2010/main" val="15625994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0F047-BE83-4F9E-A5A8-BB1362EE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B1  性能测试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30653-5462-47D7-B983-DF57A66A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结果判读：服务目标约束下的可售产能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0114F-FB23-4469-A8ED-E513BEB8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结果判读方法：在同一请求集合、同一统计窗口内汇总，当前没有实测结果。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766B8-B393-4B47-9BC0-38E74FB1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A5EDA-7A8E-4107-A748-0C53CF5C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E213E-835D-4DD2-B1B8-82D187EA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12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05000"/>
          <a:ext xmlns:a="http://schemas.openxmlformats.org/drawingml/2006/main" cx="110490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85950"/>
                <a:gridCol w="4524375"/>
                <a:gridCol w="46386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指标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计算或判读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对经营测算的影响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/ TPOT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TTFT：发出请求到首 Token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TPOT：(末到达时刻−首到达时刻)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÷ (输出 Token 数−1)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TTFT 含排队与网络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纯 Prefill 耗时需服务端 trace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并发与吞吐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报告实际并发、到达率、成功率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输入/输出 Token 数 ÷ 窗口秒数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选择满足服务目标的稳定负载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避免只取无约束峰值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计费 Token/s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同一窗口分别汇总合格输出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未命中输入、命中输入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request_goodput 单位是请求/s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缓存块数需映射为计费 Token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953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 / Wan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检测质量＋图片/帧吞吐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视频质量＋任务数/小时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按任务规格单独计价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不套文本 Token 指标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09FE7-8FC3-4252-A8E1-59F09B40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产能交付表应绑定模型版本、卡数、任务规格、SLO、样本数和原始用量证据。</a:t>
            </a:r>
          </a:p>
        </p:txBody>
      </p:sp>
    </p:spTree>
    <p:extLst>
      <p:ext uri="{BB962C8B-B14F-4D97-AF65-F5344CB8AC3E}">
        <p14:creationId xmlns:p14="http://schemas.microsoft.com/office/powerpoint/2010/main" val="2079173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A2E32-F7D8-4EB8-B476-3F0DE640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B986D0-EDA8-42CB-9C84-265154EC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产能估值：三类 Token 分别计算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370DCE-52CD-497F-85EB-412CAAB3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以下为产能计算口径。S = 30×24×3600 = 2,592,000 秒。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8822A-D312-4313-A0AC-C94A6D3A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E8D8B-7AA9-4B32-BC1D-9AEE4EB8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ED360-DDBA-4F6D-A609-D47682D7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13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93849-3DE1-4069-9593-F3C9871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71675"/>
            <a:ext cx="1100137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Decode 月价值 = TGSout × S × Nout × Pout ÷ 10⁶ × ηout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未命中 Prefill 月价值 = TGSunc × S × Nunc × Punc ÷ 10⁶ × ηunc</a:t>
            </a:r>
          </a:p>
          <a:p xmlns:a="http://schemas.openxmlformats.org/drawingml/2006/main">
            <a:pPr algn="l">
              <a:def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命中 Prefill 月价值 = TGScache × S × Ncache × Pcache ÷ 10⁶ × ηcache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3724275"/>
          <a:ext xmlns:a="http://schemas.openxmlformats.org/drawingml/2006/main" cx="110490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76900"/>
                <a:gridCol w="1638300"/>
                <a:gridCol w="2047875"/>
                <a:gridCol w="1685925"/>
              </a:tblGrid>
              <a:tr h="4572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公开市场参照（USD / 百万 Token）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输出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输入未命中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输入命中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高峰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1.20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0.30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0.006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DeepSeek-V4.1-Flash  非高峰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0.60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0.15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0.003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28779-8D4B-4D4B-803F-F09B6ECC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0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价格查询：2026-09-16，仅作市场参照。该 API 与本台候选并非同一模型，不能代入报价。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54F5B-AC4A-4D36-82BF-9E70816C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TGS 按单卡才乘卡数；混合部署三类速率共用同一负载，已含损耗时不再乘同一 η。</a:t>
            </a:r>
          </a:p>
        </p:txBody>
      </p:sp>
    </p:spTree>
    <p:extLst>
      <p:ext uri="{BB962C8B-B14F-4D97-AF65-F5344CB8AC3E}">
        <p14:creationId xmlns:p14="http://schemas.microsoft.com/office/powerpoint/2010/main" val="6732257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0CE07-177F-47EC-8F5E-DB515519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B2  Token 收益分析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BF7D5-FCEB-46D2-BFD0-7C75C33B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经济性判断：增量收支、全成本与盈亏边界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D5B05-EFDF-4EAF-B1F9-A9461750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缺少实测产能、采购价与成本，当前能够给出盈亏条件，不能给出确定利润。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692B2-F1BA-4761-AA15-D463AF08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D199C-CA6D-41A6-9B75-906A5046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490247-04B5-4FDC-A8A9-315A25532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14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E7A23-B67A-474E-ABDB-113441AB5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9775"/>
            <a:ext cx="10953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月经营结果 = 文本收入＋检测收入＋视频收入−项目成本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2876550"/>
          <a:ext xmlns:a="http://schemas.openxmlformats.org/drawingml/2006/main" cx="11049000" cy="18954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5324475"/>
                <a:gridCol w="35814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决策视角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纳入成本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能回答的问题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增量运营收支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新增电费、网络、机房与运维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按实际承担范围计入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已有设备试供给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能否覆盖新增现金支出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191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全成本经营结果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增量成本＋折旧/租赁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既有通算和机柜的约定分摊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持续经营与后续扩容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是否具备经济性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D231B9-8CC5-4A82-A9EC-27B036BD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盈亏边界：固定业务组合时，采购价系数 k* = 月成本 ÷ 基准月收入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22818A-A829-4923-AE4E-81CBF5B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采购价、需求利用、缓存比例和卡时分配分别做敏感性分析，资源重分配后需重测产能。</a:t>
            </a:r>
          </a:p>
        </p:txBody>
      </p:sp>
    </p:spTree>
    <p:extLst>
      <p:ext uri="{BB962C8B-B14F-4D97-AF65-F5344CB8AC3E}">
        <p14:creationId xmlns:p14="http://schemas.microsoft.com/office/powerpoint/2010/main" val="10748677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5563F-0D1F-424C-AA84-B75E3CFB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4AD76-227A-4FE4-92FC-59F64AF8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计量与结算：请求如何形成双方认可的账单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A60B7-B952-4536-9891-A90A61F7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拟议条款从平台接受的服务目录开始，连接双方认可的用量证据。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1C24D-C809-4BF3-9633-D342D0A7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8F9D7-2B1E-4FF6-9B48-23776F03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FD27D-53E8-4F0D-B4B6-6EF2DB6C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15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E74C4-C861-4D32-A665-F24F2BDE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服务目录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模型 / 任务规格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48EB4-8102-4FB7-AE49-391A726E4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请求或任务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统一关联 ID</a:t>
            </a:r>
          </a:p>
        </p:txBody>
      </p: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0032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D14DC-7127-4F48-BA45-16719B6A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用量明细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计数与状态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5775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7D3E3-43B6-4D4D-9D80-F5F6EABB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对账确认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差异与冲正</a:t>
            </a:r>
          </a:p>
        </p:txBody>
      </p:sp>
      <p:cxnSp>
        <p:nvCxnSpPr>
          <p:cNvPr id="3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15175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5426D-FE1D-49CE-BA88-361B8099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20097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F4"/>
          </a:solidFill>
          <a:ln xmlns:a="http://schemas.openxmlformats.org/drawingml/2006/main" w="9525">
            <a:solidFill>
              <a:srgbClr val="D4E0E6"/>
            </a:solidFill>
          </a:ln>
        </p:spPr>
        <p:txBody>
          <a:bodyPr xmlns:a="http://schemas.openxmlformats.org/drawingml/2006/main" lIns="95250" tIns="47625" rIns="952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结算条目</a:t>
            </a:r>
          </a:p>
          <a:p xmlns:a="http://schemas.openxmlformats.org/drawingml/2006/main">
            <a:pPr algn="ctr">
              <a:def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单价与周期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72600" y="2528888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E9C"/>
            </a:solidFill>
            <a:tailEnd type="triangle" w="sm" len="sm"/>
          </a:ln>
        </p:spPr>
      </p:cxnSp>
      <p:graphicFrame>
        <p:nvGraphicFramePr>
          <p:cNvPr id="33" name=""/>
          <p:cNvGraphicFramePr/>
          <p:nvPr/>
        </p:nvGraphicFramePr>
        <p:xfrm>
          <a:off xmlns:a="http://schemas.openxmlformats.org/drawingml/2006/main" x="571500" y="3219450"/>
          <a:ext xmlns:a="http://schemas.openxmlformats.org/drawingml/2006/main" cx="11049000" cy="2343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50292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必须约定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拟议处理方式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留存证据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输入、输出与缓存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统一 Tokenizer 和缓存定义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三类单价、币种税费分别写明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规则版本、原始计数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平台与供应方明细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超时、重试、部分输出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逐类约定是否计费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重复事件去重，重试保留关联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attempt ID、状态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实际交付量与异常记录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对账差异与结算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确定权威依据、核验时限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冲正、补结算和账期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差异单、确认单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结算单与调整记录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285D1D-7A35-4316-9BAD-E9441621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技术可运行仍需平台认可模型、区域、容量与质量规格，才具备采购前提。</a:t>
            </a:r>
          </a:p>
        </p:txBody>
      </p:sp>
    </p:spTree>
    <p:extLst>
      <p:ext uri="{BB962C8B-B14F-4D97-AF65-F5344CB8AC3E}">
        <p14:creationId xmlns:p14="http://schemas.microsoft.com/office/powerpoint/2010/main" val="16883476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DDEC0-90D3-4B9A-9D29-7357C887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B3  商业协议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774F7-AC17-4148-B682-AC14D7FF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服务与责任：承诺范围匹配架构和实测能力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5865C-944C-45C6-B4F6-61D4369D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拟议协议在可验收范围内确定服务窗口、维护、故障处理与责任。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45743-0810-4528-910D-DAD9E8E8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AD0AC-7A02-4CA0-A7DF-58842C0E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37E3D-9BAA-4AF4-9FBC-0F45A84F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16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62200"/>
                <a:gridCol w="4800600"/>
                <a:gridCol w="3886200"/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当前约束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需要约定的边界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验收与责任证据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一台 RoCE 交换机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无交换机级冗余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维护窗口、故障响应与赔付边界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故障演练与恢复记录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运维联系人和升级路径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性能尚未实测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绑定模型、精度、上下文与配额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以验收负载确定服务目标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双方验收报告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监控口径与限流记录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模型与版本会变化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变更审批、回归测试和回退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禁用不满足许可的供给方式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模型权利依据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版本清单与发布记录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548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数据、暂停与退出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用途、留存、权限和责任分工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余额清算、数据处理与开票回款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访问与删除记录</a:t>
                      </a:r>
                    </a:p>
                    <a:p>
                      <a:r>
                        <a:rPr sz="180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最终对账单及回款凭证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51864-685F-4C4A-BA26-AEE8E3F3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SLA 数值和赔付条款留待验收及双方协商，现阶段不承诺未经验证的可用性。</a:t>
            </a:r>
          </a:p>
        </p:txBody>
      </p:sp>
    </p:spTree>
    <p:extLst>
      <p:ext uri="{BB962C8B-B14F-4D97-AF65-F5344CB8AC3E}">
        <p14:creationId xmlns:p14="http://schemas.microsoft.com/office/powerpoint/2010/main" val="4583877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B7811-04C7-47CB-BF9C-DAC116BF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05BCE-AA65-408E-8485-7844109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协作与回款：各角色按凭证完成交接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A1151-1A37-4BD8-A868-B94E0B79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建议流程：技术、商务和财务在每个阶段明确接收什么产物。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16697-5518-4592-A9D3-FF56D58C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F8731-2702-4B90-8AA8-2844847C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0BA45-9D38-4F64-8DF1-8A8DBE57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17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990725"/>
          <a:ext xmlns:a="http://schemas.openxmlformats.org/drawingml/2006/main" cx="11049000" cy="3533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71675"/>
                <a:gridCol w="2943225"/>
                <a:gridCol w="2943225"/>
                <a:gridCol w="3190875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责任角色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立项与准备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验收与试供给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月度经营与回款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资源与预算确认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首轮范围批准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试供给决策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经营复盘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后续资源决策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技术 / 运维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设备、网络和模型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版本与部署记录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质量/压测验收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接入、发布与回退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用量明细与告警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差异核验与复测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 / 法务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平台采购规格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模型与服务权利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报价和合同评审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双方验收确认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对账确认与争议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逾期跟进与变更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成本边界与预算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价格口径核对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报价及结算条款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账期和开票要求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结算、开票与收款</a:t>
                      </a:r>
                    </a:p>
                    <a:p>
                      <a:r>
                        <a:rPr sz="17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凭证归档和分摊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0C41A-E657-4379-A43B-1AC510A2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同批请求贯通用量、对账确认、结算、发票与回款，才能宣称完成商业闭环。</a:t>
            </a:r>
          </a:p>
        </p:txBody>
      </p:sp>
    </p:spTree>
    <p:extLst>
      <p:ext uri="{BB962C8B-B14F-4D97-AF65-F5344CB8AC3E}">
        <p14:creationId xmlns:p14="http://schemas.microsoft.com/office/powerpoint/2010/main" val="466177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2F042A-0928-4595-B0E3-3C6BEC79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B4  公司流程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10940-64E2-4F50-BEC1-5F82E46A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闭环验收：下一阶段通过条件与责任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07452-16B5-468C-9B8F-B474F99A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当前已确认资源基线与分柜原则，模型、平台采购和实测证据仍需逐步补齐。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0227B-062D-46E1-B236-A70372D6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46249-38EF-4562-9872-4E1D4B55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99EB1-394E-4C63-B98B-BD148FD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18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2038350"/>
          <a:ext xmlns:a="http://schemas.openxmlformats.org/drawingml/2006/main" cx="110490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533900"/>
                <a:gridCol w="4133850"/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评审事项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进入下一阶段的通过条件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下一项证据 / 责任</a:t>
                      </a:r>
                    </a:p>
                  </a:txBody>
                  <a:tcPr marL="123825" marR="114300" marT="19050" marB="19050" anchor="ctr">
                    <a:solidFill>
                      <a:srgbClr val="12304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首轮服务范围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Qwen3-8B 等具体版本完成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质量、负载与计量联调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显存/功率清单、版本包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设备运维与模型负责人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平台试供给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平台接受服务规格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性能目标、采购价和规则明确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接入验收、报价与协议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平台技术、商务、财务</a:t>
                      </a:r>
                    </a:p>
                  </a:txBody>
                  <a:tcPr marL="123825" marR="114300" marT="19050" marB="19050" anchor="ctr">
                    <a:solidFill>
                      <a:srgbClr val="EDF4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商业闭环与扩容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同批真实用量完成结算回款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订单需求和经济性支持扩容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对账单、回款、经营复盘</a:t>
                      </a:r>
                    </a:p>
                    <a:p>
                      <a:r>
                        <a:rPr sz="187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商务、财务、项目负责人</a:t>
                      </a:r>
                    </a:p>
                  </a:txBody>
                  <a:tcPr marL="123825" marR="1143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FBA0B-F23A-4911-B879-1FD09588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48275"/>
            <a:ext cx="109918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当前决策建议：继续最小文本闭环验证。YOLO 与 Wan 保持独立 PoC。</a:t>
            </a:r>
          </a:p>
        </p:txBody>
      </p:sp>
    </p:spTree>
    <p:extLst>
      <p:ext uri="{BB962C8B-B14F-4D97-AF65-F5344CB8AC3E}">
        <p14:creationId xmlns:p14="http://schemas.microsoft.com/office/powerpoint/2010/main" val="16851189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2026-09-16T05:35:53.5830000Z</dcterms:created>
  <dcterms:modified xsi:type="dcterms:W3CDTF">2026-09-16T05:35:53.5840000Z</dcterms:modified>
</coreProperties>
</file>