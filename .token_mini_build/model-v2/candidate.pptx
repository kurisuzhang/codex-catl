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ec8e48ffe428e" /><Relationship Type="http://schemas.openxmlformats.org/officeDocument/2006/relationships/extended-properties" Target="/docProps/app.xml" Id="Rc7a1af903e194ea4" /><Relationship Type="http://schemas.openxmlformats.org/officeDocument/2006/relationships/officeDocument" Target="/ppt/presentation.xml" Id="R1b18d55070e7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fe4ebe550418d"/>
  </p:sldMasterIdLst>
  <p:notesMasterIdLst>
    <p:notesMasterId xmlns:r="http://schemas.openxmlformats.org/officeDocument/2006/relationships" r:id="R7e0bce8111294f24"/>
  </p:notesMasterIdLst>
  <p:sldIdLst>
    <p:sldId xmlns:r="http://schemas.openxmlformats.org/officeDocument/2006/relationships" id="256" r:id="Rf412afbebc6e41b6"/>
    <p:sldId xmlns:r="http://schemas.openxmlformats.org/officeDocument/2006/relationships" id="257" r:id="Rfb8c5ca9394a45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722a9e7c3e4b6b" /><Relationship Type="http://schemas.openxmlformats.org/officeDocument/2006/relationships/slideMaster" Target="/ppt/slideMasters/slideMaster1.xml" Id="R311fe4ebe550418d" /><Relationship Type="http://schemas.openxmlformats.org/officeDocument/2006/relationships/notesMaster" Target="/ppt/notesMasters/notesMaster1.xml" Id="R7e0bce8111294f24" /><Relationship Type="http://schemas.openxmlformats.org/officeDocument/2006/relationships/presProps" Target="/ppt/presProps.xml" Id="R6bcbfd08764d4f75" /><Relationship Type="http://schemas.openxmlformats.org/officeDocument/2006/relationships/tableStyles" Target="/ppt/tableStyles.xml" Id="R781c2cd4d8c94320" /><Relationship Type="http://schemas.openxmlformats.org/officeDocument/2006/relationships/slide" Target="/ppt/slides/slide1.xml" Id="Rf412afbebc6e41b6" /><Relationship Type="http://schemas.openxmlformats.org/officeDocument/2006/relationships/slide" Target="/ppt/slides/slide2.xml" Id="Rfb8c5ca9394a45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277fa54b4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c5e8f33b174209" /><Relationship Type="http://schemas.openxmlformats.org/officeDocument/2006/relationships/notesMaster" Target="/ppt/notesMasters/notesMaster1.xml" Id="R024f733c4eae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161b3733454c16" /><Relationship Type="http://schemas.openxmlformats.org/officeDocument/2006/relationships/notesMaster" Target="/ppt/notesMasters/notesMaster1.xml" Id="R460618c1dd77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为本项目根据官方项目指南作出的条件分析。A2卡型与64GB必须由实物确认。W8A8为8位权重/8位激活，W4A8为4位权重/8位激活，C8指8位KV缓存。每个模型必须使用指南匹配的镜像、权重格式和并行配置。GLM5.3-Flash指南第3节描述含歧义，第5.2节明确2台A2各8×64GB，TP8且跨节点DP2，不能误读为每台16卡。MiniMax-M3约428B总参数，W8A8单A2是参考路径，BF16需至少双A2。Kimi-K2.6为1T总参数，32B激活参数不能当作显存计算基数。DeepSeek-V4.1-Flash为552B总参数，现有指南列4台A2或2台A3，A3不能等同本项目A2；本页暂缓意为缺少当前2台规模已验证路径，不宣称其他量化/卸载方案绝对不可能。其量化权重还需按指南核验获取与ModelSlim转换。GLM5.3指南标Experimental。所有模型先验权重可获取和软件版本配套，固定输入长度、输出长度和并发，再测逐卡峰值、固定题集回答质量及TTFT/TPOT。双机还需HCCL/RoCE验证。结论统计4个候选不意味着四个模型可同时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本页统计指定范围内已核实的候选，不声称穷尽所有可运行模型。Qwen3.5官方0.8B/2B/4B/9B均低于20B。未将Qwen3.8-27B或Qwen3.5-35B-A3B纳入，后者虽激活3B但总参数35B。HF Inference Endpoints目录列unsloth/Qwen3.5-9B-GGUF Q4_K_M、llama.cpp、1×NVIDIA T4，这是平台参考配置，不是本项目测试结果，也不等于Qwen官方量化权重。0.8/2/4B单卡为容量与架构支持推断，需实测对应GGUF转换/视觉投影和CUDA构建。9B×2字节约18GB为权重粗估，另外还有KV和工作区，不能据此承诺上下文或并发。T4按支持的FP16或量化路径部署，不默认支持原生BF16/FP8。Qwen3.5混合注意力算子需要核验，vLLM的T4基础门槛不能证明具体模型后端兼容。YOLO26n官方文档有T4 TensorRT基准，本项目仍需验证匹配版本、导出和质量，INT8需校准。Wan2.1-T2V-1.3B官方显存8.19GB仅作初筛，不是T4保障；需要核验模型dtype、注意力实现和必要的CPU卸载，固定分辨率/帧数/步数后评估可交付性，不把视频生成速度当作Token吞吐。模型部署和商业使用前记录对应许可证与权重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8847102da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6b647a4654d3f" /><Relationship Type="http://schemas.openxmlformats.org/officeDocument/2006/relationships/slideLayout" Target="/ppt/slideLayouts/slideLayout1.xml" Id="R30814587f8614d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814587f8614d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288ab4e0c4434" /><Relationship Type="http://schemas.openxmlformats.org/officeDocument/2006/relationships/notesSlide" Target="/ppt/notesSlides/notesSlide1.xml" Id="Rc2c03605ebbe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1132852a41ac" /><Relationship Type="http://schemas.openxmlformats.org/officeDocument/2006/relationships/notesSlide" Target="/ppt/notesSlides/notesSlide2.xml" Id="R8611b086708e48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3AA1D-C9AF-4D70-998B-24EC9064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CB722-88B3-4EC1-8DAB-F47334B4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910B：6 个指定候选的部署判断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C62F1-23E5-42A1-8408-5D808CD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设备前提：2 台 × 8 卡。暂按 A2、64GB / 卡匹配参考方案，实际卡型与显存待核验。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FAF1D-53DB-4547-82F8-99AF4E5E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3ADB6-3136-4B28-A2A3-396810C6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BD6BF-B386-4847-9233-9EB0BAB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DC75E-94A2-4F45-AA61-B4354EB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C0750-B892-41DA-939B-75495917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查具体模型部署指南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55853-B8FE-41EA-8EF1-29DD43A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12724-EDAE-43F8-84FF-0D539D44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对齐卡数与量化格式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9DCCB-6617-4EE6-B506-1CA5A20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4AFDC-E1B6-463A-B675-71AAFC6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核算逐卡显存峰值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4988C-D1D7-4835-89A6-7BC4A17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FBEDC-1172-4B8D-BA23-107A6B5C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实测质量、并发与通信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2371725"/>
          <a:ext xmlns:a="http://schemas.openxmlformats.org/drawingml/2006/main" cx="11049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238500"/>
                <a:gridCol w="5048250"/>
              </a:tblGrid>
              <a:tr h="3619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参考配置与精度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本项目判断 / 下一步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 A2，BF16 或 W8A8 [5]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优先验证：先完成单机服务闭环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MiniMax-M3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 A2，W8A8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单机候选：采用对应量化权重与镜像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A2，W8A8 [2]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双机候选：按指南 TP8 / DP2 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Kimi-K2.6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A2，W4A8 [6]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双机候选：占用 16 卡，先验 RoCE 通信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台 A2，W8A8 [1]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当前暂缓：参考方案较现有多 2 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台 A2，W8A8C8 [3]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当前暂缓：参考方案需扩容，且为实验支持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8E1BD-2264-4AD3-9454-3E5BD45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结果：4 个模型有当前规模的参考路径，2 个暂不进入首轮部署。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7AF0A-968A-454F-AD49-39719E5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显存核算包含全部权重、KV 缓存、工作区与通信开销。MoE 按总参数量估算，不按激活参数量。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E7760-51BE-4B0B-B53D-DA50514D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1010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[1–6] vLLM Ascend 模型指南，查询 2026-09-16。以上为资料筛选，均未实机验收，也不代表可同时驻留。</a:t>
            </a:r>
          </a:p>
        </p:txBody>
      </p:sp>
    </p:spTree>
    <p:extLst>
      <p:ext uri="{BB962C8B-B14F-4D97-AF65-F5344CB8AC3E}">
        <p14:creationId xmlns:p14="http://schemas.microsoft.com/office/powerpoint/2010/main" val="1016784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1CF94-1894-4BBE-8F60-0FA2F53F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06549-CAC6-4579-95D5-E797308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T4：Qwen 小模型、目标检测与视频生成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079A5-EBEA-443C-BC4E-5183AE3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设备前提：6 台 × 8 卡 × 16GB。先按单卡服务验证，再扩展副本，48 张卡不会自动合并显存。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4CAA-CA65-4DD1-B300-3A52FCE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EC345-572D-480B-85B9-EB26ADA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D191-EB79-4235-A10D-6BFE2BC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2089A-A4DB-4F6D-9609-077C38A3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73577-8ADE-4240-B5C7-7A79221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总参数少于 20B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98D9A-4872-41BE-A2ED-2F385F2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63B61-7A93-4E7D-9BD2-5DCEFB16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核验 T4 算子与精度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56317-5683-4684-B108-6B10CF3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4EE9-B2AD-4252-8A01-D457494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控制上下文 / 视频规格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03689-AE82-454F-87E6-6051B28C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28E95-4F18-4187-AD8D-31CECFD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24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分任务验收效果与速度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2371725"/>
          <a:ext xmlns:a="http://schemas.openxmlformats.org/drawingml/2006/main" cx="110490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91000"/>
                <a:gridCol w="4000500"/>
              </a:tblGrid>
              <a:tr h="3619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建议路径与部署条件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筛选结果 / 验收重点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Qwen3.5-0.8B / 2B / 4B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单卡，兼容的 FP16 或 GGUF 量化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先选支持该架构的 llama.cpp 版本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进入验证：3 个小模型候选</a:t>
                      </a:r>
                    </a:p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固定题集、显存峰值、TTFT / TPOT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Qwen3.5-9B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GGUF Q4_K_M＋llama.cpp [8]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HF 目录已有 1×T4 配置参考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优先验证：FP16 权重约 18GB</a:t>
                      </a:r>
                    </a:p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应选量化并验证回答质量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基线，再导出 TensorRT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官方已有 T4 TensorRT 测试 [9]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优先验证：固定图像尺寸与批量</a:t>
                      </a:r>
                    </a:p>
                    <a:p>
                      <a:r>
                        <a:rPr sz="1425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 mAP、召回率、延迟、图像 / 秒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独立视频推理管线，先测 480P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官方约 8.19GB 参考，非 T4 实测 [10]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条件验证：核验 FP16 与注意力后端</a:t>
                      </a:r>
                    </a:p>
                    <a:p>
                      <a:r>
                        <a:rPr sz="1425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固定帧数 / 步数，测质量与秒 / 视频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FFD8A-5036-4C3E-BC25-5AB72ADB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1101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结果：先验证 Qwen3.5-9B 量化与 YOLO26n，Wan 作为视频专项验证。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819B7-8EF3-4563-BA9B-1E7E31C6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范围：已核实 4 个 Qwen3.5 小模型。27B 及 MoE 总参数 ≥20B 的型号不纳入此轮 T4 清单。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08AA1-5448-47D6-A2C5-554EBA0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[7–12] 官方模型卡、部署目录与任务仓库。SM75 基础支持不等于所有 vLLM / SGLang 模型算子可用。</a:t>
            </a:r>
          </a:p>
        </p:txBody>
      </p:sp>
    </p:spTree>
    <p:extLst>
      <p:ext uri="{BB962C8B-B14F-4D97-AF65-F5344CB8AC3E}">
        <p14:creationId xmlns:p14="http://schemas.microsoft.com/office/powerpoint/2010/main" val="295258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2026-09-16T07:25:48.7920000Z</dcterms:created>
  <dcterms:modified xsi:type="dcterms:W3CDTF">2026-09-16T07:25:48.7920000Z</dcterms:modified>
</coreProperties>
</file>