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3c3dd8d4e840e4" /><Relationship Type="http://schemas.openxmlformats.org/officeDocument/2006/relationships/extended-properties" Target="/docProps/app.xml" Id="Rf89ee895c1a74dbf" /><Relationship Type="http://schemas.openxmlformats.org/officeDocument/2006/relationships/officeDocument" Target="/ppt/presentation.xml" Id="R842e64d419e9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0e6890cf8c4631"/>
  </p:sldMasterIdLst>
  <p:notesMasterIdLst>
    <p:notesMasterId xmlns:r="http://schemas.openxmlformats.org/officeDocument/2006/relationships" r:id="R48c57053ea2e47d1"/>
  </p:notesMasterIdLst>
  <p:sldIdLst>
    <p:sldId xmlns:r="http://schemas.openxmlformats.org/officeDocument/2006/relationships" id="256" r:id="Rb79db761e3b94295"/>
    <p:sldId xmlns:r="http://schemas.openxmlformats.org/officeDocument/2006/relationships" id="257" r:id="R5017738b920842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471cb9f77641c2" /><Relationship Type="http://schemas.openxmlformats.org/officeDocument/2006/relationships/slideMaster" Target="/ppt/slideMasters/slideMaster1.xml" Id="R090e6890cf8c4631" /><Relationship Type="http://schemas.openxmlformats.org/officeDocument/2006/relationships/notesMaster" Target="/ppt/notesMasters/notesMaster1.xml" Id="R48c57053ea2e47d1" /><Relationship Type="http://schemas.openxmlformats.org/officeDocument/2006/relationships/presProps" Target="/ppt/presProps.xml" Id="R57e9993d54874313" /><Relationship Type="http://schemas.openxmlformats.org/officeDocument/2006/relationships/tableStyles" Target="/ppt/tableStyles.xml" Id="R85f0641c0f794eb7" /><Relationship Type="http://schemas.openxmlformats.org/officeDocument/2006/relationships/slide" Target="/ppt/slides/slide1.xml" Id="Rb79db761e3b94295" /><Relationship Type="http://schemas.openxmlformats.org/officeDocument/2006/relationships/slide" Target="/ppt/slides/slide2.xml" Id="R5017738b920842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5c8442218342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ac2eaab61b4264" /><Relationship Type="http://schemas.openxmlformats.org/officeDocument/2006/relationships/notesMaster" Target="/ppt/notesMasters/notesMaster1.xml" Id="R73c230b4c8f942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2aa6633ac4c08" /><Relationship Type="http://schemas.openxmlformats.org/officeDocument/2006/relationships/notesMaster" Target="/ppt/notesMasters/notesMaster1.xml" Id="R515181030bbd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并发阶梯、稳态复测次数为本项目测试方案，不是工具默认规则。先定义P95 TTFT/TPOT或E2E及成功率阈值。达到配置并发不等于服务端实际运行同等请求数，需记录在途、运行、等待和请求速率。闭环并发压测用无限到达率结合max-concurrency，有利于测给定并发承载；另按真实到达率做开放负载测试，验证队列不会持续增长。建议每档预热后至少测5分钟，临界点重复3次，再做30分钟持续验证；样本不足时延长。所有具体时长是建议。工具版本/参数以冻结版本--help核对，不能把SGLang工具误当作必须部署SGLang服务。缓存命中由服务端实际计数校验，重启或重置缓存应只在隔离测试实例上操作。缓存预热在计时外，正式缓存用例使用相同token前缀和不同后缀。前缀模板/BOS/系统提示会影响块级命中。压力机CPU网络需留余量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为统一测量窗口秒数；同一批成功请求及其输入、实际命中、实际输出构成可对账数据。推荐测量阶段请求全部完成或超时后结束计时，包含排空时间，预热请求排除。若选择固定稳态窗口，只统计窗口内事件并明确跨界请求处理，不混用两种口径。客户端计时应记录发送、首有效token、最后有效token、请求结束时间。SSE空块、角色块不算首token，一个chunk可能包含多个token，因此只能估计token间隔时需明确标注；TPOT按实际token数量和首末时刻计算，不把每个chunk当token。TTFT并非纯prefill时延，需纯计算耗时另采引擎prefill/queue指标。TPOT逐请求后汇总，不能拿吞吐倒数替代。cached_tokens必须是实际复用量，不可使用设计前缀长度代替；如用服务端Prometheus计数，核实版本、单位和是否包含预热/失败/其他流量，计数器重启与跨卡汇总也要处理，不能无条件与成功请求口径混算。量化、缓存配置、引擎版本、镜像、并行、输入输出长度、工具、随机种子及完整命令都归档。单卡归一化token/s=token/min÷60÷实际占用卡数，仅作为同规格平均值；PD混部不能按同一批卡重复计算两份产能。所有表格为空白记录规范，未伪造测试结果。</a:t>
            </a:r>
          </a:p>
          <a:p xmlns:a="http://schemas.openxmlformats.org/drawingml/2006/main">
            <a:r>
              <a:t>查询2026-09-16：</a:t>
            </a:r>
          </a:p>
          <a:p xmlns:a="http://schemas.openxmlformats.org/drawingml/2006/main">
            <a:r>
              <a:t>https://docs.vllm.ai/en/latest/benchmarking/cli/</a:t>
            </a:r>
          </a:p>
          <a:p xmlns:a="http://schemas.openxmlformats.org/drawingml/2006/main">
            <a:r>
              <a:t>https://docs.vllm.ai/en/latest/cli/bench/serve/</a:t>
            </a:r>
          </a:p>
          <a:p xmlns:a="http://schemas.openxmlformats.org/drawingml/2006/main">
            <a:r>
              <a:t>https://github.com/sgl-project/sglang/blob/main/docs/developer_guide/benchmark_and_profiling.md</a:t>
            </a:r>
          </a:p>
          <a:p xmlns:a="http://schemas.openxmlformats.org/drawingml/2006/main">
            <a:r>
              <a:t>https://github.com/modelscope/evalscope/blob/main/docs/en/user_guides/stress_test/quick_start.md</a:t>
            </a:r>
          </a:p>
          <a:p xmlns:a="http://schemas.openxmlformats.org/drawingml/2006/main">
            <a:r>
              <a:t>https://docs.vllm.ai/en/latest/design/metrics/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5b401cf97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83c36c3623435f" /><Relationship Type="http://schemas.openxmlformats.org/officeDocument/2006/relationships/slideLayout" Target="/ppt/slideLayouts/slideLayout1.xml" Id="Re5cfe82ec43149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fe82ec43149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1602b064142d2" /><Relationship Type="http://schemas.openxmlformats.org/officeDocument/2006/relationships/notesSlide" Target="/ppt/notesSlides/notesSlide1.xml" Id="R6331118f013e4f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c5831b3784c51" /><Relationship Type="http://schemas.openxmlformats.org/officeDocument/2006/relationships/notesSlide" Target="/ppt/notesSlides/notesSlide2.xml" Id="R83d4a5ebb03543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F05E6-BF69-4612-9A09-3339F78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0D458-5078-488A-918E-81AB39E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压测方法：逐级加压，找到满足服务目标的最大并发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BC67F-B148-47FD-9DD0-F75E479E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从独立压测机直连推理服务测基线，再经 MASS 复测；固定模型、精度、卡数、长度和缓存场景。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909DD-AFFE-4285-ACC4-179CC391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D2773-6210-4CA7-88FF-BE94CE1C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99F75-C886-406D-AACC-ED98FD1F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00CAC-36C6-47C6-9F7A-9393D93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1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选择开源压测工具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2333625"/>
          <a:ext xmlns:a="http://schemas.openxmlformats.org/drawingml/2006/main" cx="110490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667250"/>
              </a:tblGrid>
              <a:tr h="304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调用入口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本项目用法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自带工具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bench serve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 与 --request-rate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自带工具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python -m sglang.bench_serving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设置 --max-concurrency，导出逐请求结果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EvalScope（统一复测）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evalscope perf --api openai --stream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 --parallel 扫并发，对齐两类服务的负载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86E04-369A-4984-8A42-4C3A5766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构造三组负载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EC117-A8CA-4043-82E8-3ACFD17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无命中：独立前缀，核验命中≈0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有命中：预热公共前缀＋不同后缀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混合：按业务比例组合，实测命中率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A913D-4EC1-4196-8ECC-478724A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逐级增加并发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2FD56-27EF-4C17-AA60-F61E756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示例：1、2、4、8、16、32…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临界区细扫，直至超时 / SLA 失败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记录实际在途请求与服务端排队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77420-35A2-4FAB-A851-4169B3A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95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复测最大可用并发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DD6E1-7F4D-4F23-ACCF-282D0B6A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3476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每档预热后测稳态，临界点重复3次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吞吐不再增加且延迟上升时标饱和</a:t>
            </a:r>
          </a:p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最大可用并发须满足延迟与成功率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2B17-1BC8-4E03-8FA3-4594B5E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测量纪律：流式响应计时；预热不计入；三组保持相同输入 / 输出长度；记录失败与提前结束。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56A71-2945-422C-9713-F663FFC0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101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交付结果：并发—吞吐—P95 延迟曲线，分别标注饱和点与满足 SLA 的最大可用并发。</a:t>
            </a:r>
          </a:p>
        </p:txBody>
      </p:sp>
    </p:spTree>
    <p:extLst>
      <p:ext uri="{BB962C8B-B14F-4D97-AF65-F5344CB8AC3E}">
        <p14:creationId xmlns:p14="http://schemas.microsoft.com/office/powerpoint/2010/main" val="1543071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78777-2342-40F4-B9F6-6D3390E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5A763-B7B4-41D7-9147-204B715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记录指标：延迟、并发与三类 Token 吞吐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3638-7DF5-41D9-8C82-C9C9FE9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每个模型 × 精度 × 卡数 × 长度组合 × 缓存场景 × 并发档，单独保留一行结果和原始请求记录。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29EC6-3B48-4FF5-9567-13FD9A5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0E23-F6DE-4399-9392-9C05307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48AD0-4E0E-4928-AD9C-EEFFB04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14525"/>
          <a:ext xmlns:a="http://schemas.openxmlformats.org/drawingml/2006/main" cx="110490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143500"/>
                <a:gridCol w="3429000"/>
              </a:tblGrid>
              <a:tr h="333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必须记录的指标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定义与单位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统计 / 取数方式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并发与可靠性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 / 实际并发、请求速率、成功率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超时数、错误数、排队长度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压测端请求日志＋服务端运行 / 等待指标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TTFT：首 Token 延迟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首个有效输出 Token 时间－请求发出时间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ms，记录 P50 / P95 / P99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客户端流式计时，包含网络、排队和 Prefill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TPOT：平均后续 Token 间隔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（最后 Token 时间－首 Token 时间）/（输出数－1）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ms/token，输出数≤1时不计算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逐请求计算再汇总分位数；另存 E2E 延迟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无命中吞吐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Σ（输入 Token－命中 Token）×60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分别报告冷 / 热 / 混合场景，T 为统一计时秒数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Prefill 缓存命中吞吐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命中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token/min，表示缓存复用服务量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读实际 cached_tokens；缺失则标不可得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Decode 输出吞吐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Σ 实际输出 Token ×60 / 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单位 token/min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以实际返回 Token 计数，不能使用最大输出长度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辅助与资源指标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 / 输出总量、命中率、E2E 分位数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逐卡峰值显存、利用率、功率 / 网络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命中率＝命中输入 / 总输入；保留版本与卡数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16569-A01B-4142-BFE7-DA951F7B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口径：统一测量窗口及请求集合；报告成功请求吞吐，同时保留失败请求数量和资源消耗。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DC379-2692-4757-85E9-D613F4F3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缓存命中吞吐不是重新计算的算力吞吐。混部测得的是服务吞吐，不能直接当作独立 P / D 集群产能。</a:t>
            </a:r>
          </a:p>
        </p:txBody>
      </p:sp>
    </p:spTree>
    <p:extLst>
      <p:ext uri="{BB962C8B-B14F-4D97-AF65-F5344CB8AC3E}">
        <p14:creationId xmlns:p14="http://schemas.microsoft.com/office/powerpoint/2010/main" val="992549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2026-09-16T08:09:26.3070000Z</dcterms:created>
  <dcterms:modified xsi:type="dcterms:W3CDTF">2026-09-16T08:09:26.3070000Z</dcterms:modified>
</coreProperties>
</file>