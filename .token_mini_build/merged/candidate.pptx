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ource02/docProps/app.xml" ContentType="application/vnd.openxmlformats-officedocument.extended-properties+xml"/>
  <Override PartName="/ppt/source02/ppt/presentation.xml" ContentType="application/vnd.openxmlformats-officedocument.presentationml.presentation.main+xml"/>
  <Override PartName="/ppt/source02/ppt/theme/theme1.xml" ContentType="application/vnd.openxmlformats-officedocument.theme+xml"/>
  <Override PartName="/ppt/source02/ppt/slideMasters/slideMaster1.xml" ContentType="application/vnd.openxmlformats-officedocument.presentationml.slideMaster+xml"/>
  <Override PartName="/ppt/source02/ppt/slideMasters/theme/theme2.xml" ContentType="application/vnd.openxmlformats-officedocument.theme+xml"/>
  <Override PartName="/ppt/source02/ppt/slideLayouts/slideLayout1.xml" ContentType="application/vnd.openxmlformats-officedocument.presentationml.slideLayout+xml"/>
  <Override PartName="/ppt/source02/ppt/notesMasters/notesMaster1.xml" ContentType="application/vnd.openxmlformats-officedocument.presentationml.notesMaster+xml"/>
  <Override PartName="/ppt/source02/ppt/notesMasters/theme/theme3.xml" ContentType="application/vnd.openxmlformats-officedocument.theme+xml"/>
  <Override PartName="/ppt/source02/ppt/presProps.xml" ContentType="application/vnd.openxmlformats-officedocument.presentationml.presProps+xml"/>
  <Override PartName="/ppt/source02/ppt/tableStyles.xml" ContentType="application/vnd.openxmlformats-officedocument.presentationml.tableStyles+xml"/>
  <Override PartName="/ppt/slides/slide2.xml" ContentType="application/vnd.openxmlformats-officedocument.presentationml.slide+xml"/>
  <Override PartName="/ppt/source02/ppt/notesSlides/notesSlide1.xml" ContentType="application/vnd.openxmlformats-officedocument.presentationml.notesSlide+xml"/>
  <Override PartName="/ppt/source03/docProps/app.xml" ContentType="application/vnd.openxmlformats-officedocument.extended-properties+xml"/>
  <Override PartName="/ppt/source03/ppt/presentation.xml" ContentType="application/vnd.openxmlformats-officedocument.presentationml.presentation.main+xml"/>
  <Override PartName="/ppt/source03/ppt/theme/theme1.xml" ContentType="application/vnd.openxmlformats-officedocument.theme+xml"/>
  <Override PartName="/ppt/source03/ppt/slideMasters/slideMaster1.xml" ContentType="application/vnd.openxmlformats-officedocument.presentationml.slideMaster+xml"/>
  <Override PartName="/ppt/source03/ppt/slideMasters/theme/theme2.xml" ContentType="application/vnd.openxmlformats-officedocument.theme+xml"/>
  <Override PartName="/ppt/source03/ppt/slideLayouts/slideLayout1.xml" ContentType="application/vnd.openxmlformats-officedocument.presentationml.slideLayout+xml"/>
  <Override PartName="/ppt/source03/ppt/notesMasters/notesMaster1.xml" ContentType="application/vnd.openxmlformats-officedocument.presentationml.notesMaster+xml"/>
  <Override PartName="/ppt/source03/ppt/notesMasters/theme/theme3.xml" ContentType="application/vnd.openxmlformats-officedocument.theme+xml"/>
  <Override PartName="/ppt/source03/ppt/presProps.xml" ContentType="application/vnd.openxmlformats-officedocument.presentationml.presProps+xml"/>
  <Override PartName="/ppt/source03/ppt/tableStyles.xml" ContentType="application/vnd.openxmlformats-officedocument.presentationml.tableStyles+xml"/>
  <Override PartName="/ppt/slides/slide3.xml" ContentType="application/vnd.openxmlformats-officedocument.presentationml.slide+xml"/>
  <Override PartName="/ppt/source03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ource03/ppt/notesSlides/notesSlide2.xml" ContentType="application/vnd.openxmlformats-officedocument.presentationml.notesSlide+xml"/>
  <Override PartName="/ppt/source04/docProps/app.xml" ContentType="application/vnd.openxmlformats-officedocument.extended-properties+xml"/>
  <Override PartName="/ppt/source04/ppt/presentation.xml" ContentType="application/vnd.openxmlformats-officedocument.presentationml.presentation.main+xml"/>
  <Override PartName="/ppt/source04/ppt/theme/theme1.xml" ContentType="application/vnd.openxmlformats-officedocument.theme+xml"/>
  <Override PartName="/ppt/source04/ppt/slideMasters/slideMaster1.xml" ContentType="application/vnd.openxmlformats-officedocument.presentationml.slideMaster+xml"/>
  <Override PartName="/ppt/source04/ppt/slideMasters/theme/theme2.xml" ContentType="application/vnd.openxmlformats-officedocument.theme+xml"/>
  <Override PartName="/ppt/source04/ppt/slideLayouts/slideLayout1.xml" ContentType="application/vnd.openxmlformats-officedocument.presentationml.slideLayout+xml"/>
  <Override PartName="/ppt/source04/ppt/notesMasters/notesMaster1.xml" ContentType="application/vnd.openxmlformats-officedocument.presentationml.notesMaster+xml"/>
  <Override PartName="/ppt/source04/ppt/notesMasters/theme/theme3.xml" ContentType="application/vnd.openxmlformats-officedocument.theme+xml"/>
  <Override PartName="/ppt/source04/ppt/presProps.xml" ContentType="application/vnd.openxmlformats-officedocument.presentationml.presProps+xml"/>
  <Override PartName="/ppt/source04/ppt/tableStyles.xml" ContentType="application/vnd.openxmlformats-officedocument.presentationml.tableStyles+xml"/>
  <Override PartName="/ppt/slides/slide5.xml" ContentType="application/vnd.openxmlformats-officedocument.presentationml.slide+xml"/>
  <Override PartName="/ppt/source04/ppt/notesSlides/notesSlide1.xml" ContentType="application/vnd.openxmlformats-officedocument.presentationml.notesSlide+xml"/>
  <Override PartName="/ppt/source05/docProps/app.xml" ContentType="application/vnd.openxmlformats-officedocument.extended-properties+xml"/>
  <Override PartName="/ppt/source05/ppt/presentation.xml" ContentType="application/vnd.openxmlformats-officedocument.presentationml.presentation.main+xml"/>
  <Override PartName="/ppt/source05/ppt/theme/theme1.xml" ContentType="application/vnd.openxmlformats-officedocument.theme+xml"/>
  <Override PartName="/ppt/source05/ppt/slideMasters/slideMaster1.xml" ContentType="application/vnd.openxmlformats-officedocument.presentationml.slideMaster+xml"/>
  <Override PartName="/ppt/source05/ppt/slideMasters/theme/theme2.xml" ContentType="application/vnd.openxmlformats-officedocument.theme+xml"/>
  <Override PartName="/ppt/source05/ppt/slideLayouts/slideLayout1.xml" ContentType="application/vnd.openxmlformats-officedocument.presentationml.slideLayout+xml"/>
  <Override PartName="/ppt/source05/ppt/notesMasters/notesMaster1.xml" ContentType="application/vnd.openxmlformats-officedocument.presentationml.notesMaster+xml"/>
  <Override PartName="/ppt/source05/ppt/notesMasters/theme/theme3.xml" ContentType="application/vnd.openxmlformats-officedocument.theme+xml"/>
  <Override PartName="/ppt/source05/ppt/presProps.xml" ContentType="application/vnd.openxmlformats-officedocument.presentationml.presProps+xml"/>
  <Override PartName="/ppt/source05/ppt/tableStyles.xml" ContentType="application/vnd.openxmlformats-officedocument.presentationml.tableStyles+xml"/>
  <Override PartName="/ppt/slides/slide6.xml" ContentType="application/vnd.openxmlformats-officedocument.presentationml.slide+xml"/>
  <Override PartName="/ppt/source05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source05/ppt/notesSlides/notesSlide2.xml" ContentType="application/vnd.openxmlformats-officedocument.presentationml.notesSlide+xml"/>
  <Override PartName="/ppt/source06/docProps/app.xml" ContentType="application/vnd.openxmlformats-officedocument.extended-properties+xml"/>
  <Override PartName="/ppt/source06/ppt/presentation.xml" ContentType="application/vnd.openxmlformats-officedocument.presentationml.presentation.main+xml"/>
  <Override PartName="/ppt/source06/ppt/theme/theme1.xml" ContentType="application/vnd.openxmlformats-officedocument.theme+xml"/>
  <Override PartName="/ppt/source06/ppt/slideMasters/slideMaster1.xml" ContentType="application/vnd.openxmlformats-officedocument.presentationml.slideMaster+xml"/>
  <Override PartName="/ppt/source06/ppt/slideMasters/theme/theme2.xml" ContentType="application/vnd.openxmlformats-officedocument.theme+xml"/>
  <Override PartName="/ppt/source06/ppt/slideLayouts/slideLayout1.xml" ContentType="application/vnd.openxmlformats-officedocument.presentationml.slideLayout+xml"/>
  <Override PartName="/ppt/source06/ppt/notesMasters/notesMaster1.xml" ContentType="application/vnd.openxmlformats-officedocument.presentationml.notesMaster+xml"/>
  <Override PartName="/ppt/source06/ppt/notesMasters/theme/theme3.xml" ContentType="application/vnd.openxmlformats-officedocument.theme+xml"/>
  <Override PartName="/ppt/source06/ppt/presProps.xml" ContentType="application/vnd.openxmlformats-officedocument.presentationml.presProps+xml"/>
  <Override PartName="/ppt/source06/ppt/tableStyles.xml" ContentType="application/vnd.openxmlformats-officedocument.presentationml.tableStyles+xml"/>
  <Override PartName="/ppt/slides/slide8.xml" ContentType="application/vnd.openxmlformats-officedocument.presentationml.slide+xml"/>
  <Override PartName="/ppt/source06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ource06/ppt/notesSlides/notesSlide2.xml" ContentType="application/vnd.openxmlformats-officedocument.presentationml.notesSlide+xml"/>
  <Override PartName="/ppt/source07/docProps/app.xml" ContentType="application/vnd.openxmlformats-officedocument.extended-properties+xml"/>
  <Override PartName="/ppt/source07/ppt/presentation.xml" ContentType="application/vnd.openxmlformats-officedocument.presentationml.presentation.main+xml"/>
  <Override PartName="/ppt/source07/ppt/theme/theme1.xml" ContentType="application/vnd.openxmlformats-officedocument.theme+xml"/>
  <Override PartName="/ppt/source07/ppt/slideMasters/slideMaster1.xml" ContentType="application/vnd.openxmlformats-officedocument.presentationml.slideMaster+xml"/>
  <Override PartName="/ppt/source07/ppt/slideMasters/theme/theme2.xml" ContentType="application/vnd.openxmlformats-officedocument.theme+xml"/>
  <Override PartName="/ppt/source07/ppt/slideLayouts/slideLayout1.xml" ContentType="application/vnd.openxmlformats-officedocument.presentationml.slideLayout+xml"/>
  <Override PartName="/ppt/source07/ppt/notesMasters/notesMaster1.xml" ContentType="application/vnd.openxmlformats-officedocument.presentationml.notesMaster+xml"/>
  <Override PartName="/ppt/source07/ppt/notesMasters/theme/theme3.xml" ContentType="application/vnd.openxmlformats-officedocument.theme+xml"/>
  <Override PartName="/ppt/source07/ppt/presProps.xml" ContentType="application/vnd.openxmlformats-officedocument.presentationml.presProps+xml"/>
  <Override PartName="/ppt/source07/ppt/tableStyles.xml" ContentType="application/vnd.openxmlformats-officedocument.presentationml.tableStyles+xml"/>
  <Override PartName="/ppt/slides/slide10.xml" ContentType="application/vnd.openxmlformats-officedocument.presentationml.slide+xml"/>
  <Override PartName="/ppt/source07/ppt/notesSlides/notesSlide1.xml" ContentType="application/vnd.openxmlformats-officedocument.presentationml.notesSlide+xml"/>
  <Override PartName="/ppt/source08/docProps/app.xml" ContentType="application/vnd.openxmlformats-officedocument.extended-properties+xml"/>
  <Override PartName="/ppt/source08/ppt/presentation.xml" ContentType="application/vnd.openxmlformats-officedocument.presentationml.presentation.main+xml"/>
  <Override PartName="/ppt/source08/ppt/theme/theme1.xml" ContentType="application/vnd.openxmlformats-officedocument.theme+xml"/>
  <Override PartName="/ppt/source08/ppt/slideMasters/slideMaster1.xml" ContentType="application/vnd.openxmlformats-officedocument.presentationml.slideMaster+xml"/>
  <Override PartName="/ppt/source08/ppt/slideMasters/theme/theme2.xml" ContentType="application/vnd.openxmlformats-officedocument.theme+xml"/>
  <Override PartName="/ppt/source08/ppt/slideLayouts/slideLayout1.xml" ContentType="application/vnd.openxmlformats-officedocument.presentationml.slideLayout+xml"/>
  <Override PartName="/ppt/source08/ppt/notesMasters/notesMaster1.xml" ContentType="application/vnd.openxmlformats-officedocument.presentationml.notesMaster+xml"/>
  <Override PartName="/ppt/source08/ppt/notesMasters/theme/theme3.xml" ContentType="application/vnd.openxmlformats-officedocument.theme+xml"/>
  <Override PartName="/ppt/source08/ppt/presProps.xml" ContentType="application/vnd.openxmlformats-officedocument.presentationml.presProps+xml"/>
  <Override PartName="/ppt/source08/ppt/tableStyles.xml" ContentType="application/vnd.openxmlformats-officedocument.presentationml.tableStyles+xml"/>
  <Override PartName="/ppt/slides/slide11.xml" ContentType="application/vnd.openxmlformats-officedocument.presentationml.slide+xml"/>
  <Override PartName="/ppt/source08/ppt/notesSlides/notesSlide1.xml" ContentType="application/vnd.openxmlformats-officedocument.presentationml.notesSlide+xml"/>
  <Override PartName="/ppt/slides/slide12.xml" ContentType="application/vnd.openxmlformats-officedocument.presentationml.slide+xml"/>
  <Override PartName="/ppt/source08/ppt/notesSlides/notesSlide2.xml" ContentType="application/vnd.openxmlformats-officedocument.presentationml.notesSlide+xml"/>
  <Override PartName="/ppt/source09/docProps/app.xml" ContentType="application/vnd.openxmlformats-officedocument.extended-properties+xml"/>
  <Override PartName="/ppt/source09/ppt/presentation.xml" ContentType="application/vnd.openxmlformats-officedocument.presentationml.presentation.main+xml"/>
  <Override PartName="/ppt/source09/ppt/theme/theme1.xml" ContentType="application/vnd.openxmlformats-officedocument.theme+xml"/>
  <Override PartName="/ppt/source09/ppt/slideMasters/slideMaster1.xml" ContentType="application/vnd.openxmlformats-officedocument.presentationml.slideMaster+xml"/>
  <Override PartName="/ppt/source09/ppt/slideMasters/theme/theme2.xml" ContentType="application/vnd.openxmlformats-officedocument.theme+xml"/>
  <Override PartName="/ppt/source09/ppt/slideLayouts/slideLayout1.xml" ContentType="application/vnd.openxmlformats-officedocument.presentationml.slideLayout+xml"/>
  <Override PartName="/ppt/source09/ppt/notesMasters/notesMaster1.xml" ContentType="application/vnd.openxmlformats-officedocument.presentationml.notesMaster+xml"/>
  <Override PartName="/ppt/source09/ppt/notesMasters/theme/theme3.xml" ContentType="application/vnd.openxmlformats-officedocument.theme+xml"/>
  <Override PartName="/ppt/source09/ppt/presProps.xml" ContentType="application/vnd.openxmlformats-officedocument.presentationml.presProps+xml"/>
  <Override PartName="/ppt/source09/ppt/tableStyles.xml" ContentType="application/vnd.openxmlformats-officedocument.presentationml.tableStyles+xml"/>
  <Override PartName="/ppt/slides/slide13.xml" ContentType="application/vnd.openxmlformats-officedocument.presentationml.slide+xml"/>
  <Override PartName="/ppt/source09/ppt/notesSlides/notesSlide1.xml" ContentType="application/vnd.openxmlformats-officedocument.presentationml.notesSlide+xml"/>
  <Override PartName="/ppt/slides/slide14.xml" ContentType="application/vnd.openxmlformats-officedocument.presentationml.slide+xml"/>
  <Override PartName="/ppt/source09/ppt/notesSlides/notesSlide2.xml" ContentType="application/vnd.openxmlformats-officedocument.presentationml.notesSlide+xml"/>
  <Override PartName="/ppt/source10/docProps/app.xml" ContentType="application/vnd.openxmlformats-officedocument.extended-properties+xml"/>
  <Override PartName="/ppt/source10/ppt/presentation.xml" ContentType="application/vnd.openxmlformats-officedocument.presentationml.presentation.main+xml"/>
  <Override PartName="/ppt/source10/ppt/theme/theme1.xml" ContentType="application/vnd.openxmlformats-officedocument.theme+xml"/>
  <Override PartName="/ppt/source10/ppt/slideMasters/slideMaster1.xml" ContentType="application/vnd.openxmlformats-officedocument.presentationml.slideMaster+xml"/>
  <Override PartName="/ppt/source10/ppt/slideMasters/theme/theme2.xml" ContentType="application/vnd.openxmlformats-officedocument.theme+xml"/>
  <Override PartName="/ppt/source10/ppt/slideLayouts/slideLayout1.xml" ContentType="application/vnd.openxmlformats-officedocument.presentationml.slideLayout+xml"/>
  <Override PartName="/ppt/source10/ppt/notesMasters/notesMaster1.xml" ContentType="application/vnd.openxmlformats-officedocument.presentationml.notesMaster+xml"/>
  <Override PartName="/ppt/source10/ppt/notesMasters/theme/theme3.xml" ContentType="application/vnd.openxmlformats-officedocument.theme+xml"/>
  <Override PartName="/ppt/source10/ppt/presProps.xml" ContentType="application/vnd.openxmlformats-officedocument.presentationml.presProps+xml"/>
  <Override PartName="/ppt/source10/ppt/tableStyles.xml" ContentType="application/vnd.openxmlformats-officedocument.presentationml.tableStyles+xml"/>
  <Override PartName="/ppt/slides/slide15.xml" ContentType="application/vnd.openxmlformats-officedocument.presentationml.slide+xml"/>
  <Override PartName="/ppt/source10/ppt/notesSlides/notesSlide1.xml" ContentType="application/vnd.openxmlformats-officedocument.presentationml.notesSlide+xml"/>
  <Override PartName="/ppt/slides/slide16.xml" ContentType="application/vnd.openxmlformats-officedocument.presentationml.slide+xml"/>
  <Override PartName="/ppt/source10/ppt/notesSlides/notesSlide2.xml" ContentType="application/vnd.openxmlformats-officedocument.presentationml.notesSlide+xml"/>
  <Override PartName="/ppt/source11/docProps/app.xml" ContentType="application/vnd.openxmlformats-officedocument.extended-properties+xml"/>
  <Override PartName="/ppt/source11/ppt/presentation.xml" ContentType="application/vnd.openxmlformats-officedocument.presentationml.presentation.main+xml"/>
  <Override PartName="/ppt/source11/ppt/theme/theme1.xml" ContentType="application/vnd.openxmlformats-officedocument.theme+xml"/>
  <Override PartName="/ppt/source11/ppt/slideMasters/slideMaster1.xml" ContentType="application/vnd.openxmlformats-officedocument.presentationml.slideMaster+xml"/>
  <Override PartName="/ppt/source11/ppt/slideMasters/theme/theme2.xml" ContentType="application/vnd.openxmlformats-officedocument.theme+xml"/>
  <Override PartName="/ppt/source11/ppt/slideLayouts/slideLayout1.xml" ContentType="application/vnd.openxmlformats-officedocument.presentationml.slideLayout+xml"/>
  <Override PartName="/ppt/source11/ppt/notesMasters/notesMaster1.xml" ContentType="application/vnd.openxmlformats-officedocument.presentationml.notesMaster+xml"/>
  <Override PartName="/ppt/source11/ppt/notesMasters/theme/theme3.xml" ContentType="application/vnd.openxmlformats-officedocument.theme+xml"/>
  <Override PartName="/ppt/source11/ppt/presProps.xml" ContentType="application/vnd.openxmlformats-officedocument.presentationml.presProps+xml"/>
  <Override PartName="/ppt/source11/ppt/tableStyles.xml" ContentType="application/vnd.openxmlformats-officedocument.presentationml.tableStyles+xml"/>
  <Override PartName="/ppt/slides/slide17.xml" ContentType="application/vnd.openxmlformats-officedocument.presentationml.slide+xml"/>
  <Override PartName="/ppt/source11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ource11/ppt/notesSlides/notesSlide2.xml" ContentType="application/vnd.openxmlformats-officedocument.presentationml.notesSlide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docProps/core.xml" Id="R72e15b7152e645f9" /><ns0:Relationship Type="http://schemas.openxmlformats.org/officeDocument/2006/relationships/extended-properties" Target="docProps/app.xml" Id="R1c8ac7f3556d4ab5" /><ns0:Relationship Type="http://schemas.openxmlformats.org/officeDocument/2006/relationships/officeDocument" Target="ppt/presentation.xml" Id="Re3f2302e49344ac8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erged_slideMaster_1"/>
    <p:sldMasterId id="2147483649" r:id="merged_slideMaster_2"/>
    <p:sldMasterId id="2147483650" r:id="merged_slideMaster_3"/>
    <p:sldMasterId id="2147483651" r:id="merged_slideMaster_4"/>
    <p:sldMasterId id="2147483652" r:id="merged_slideMaster_5"/>
    <p:sldMasterId id="2147483653" r:id="merged_slideMaster_6"/>
    <p:sldMasterId id="2147483654" r:id="merged_slideMaster_7"/>
    <p:sldMasterId id="2147483655" r:id="merged_slideMaster_8"/>
    <p:sldMasterId id="2147483656" r:id="merged_slideMaster_9"/>
    <p:sldMasterId id="2147483657" r:id="merged_slideMaster_10"/>
    <p:sldMasterId id="2147483658" r:id="merged_slideMaster_11"/>
  </p:sldMasterIdLst>
  <p:notesMasterIdLst>
    <p:notesMasterId r:id="R105d7eae1871493d"/>
  </p:notesMasterIdLst>
  <p:sldIdLst>
    <p:sldId id="256" r:id="merged_slide_1"/>
    <p:sldId id="257" r:id="merged_slide_2"/>
    <p:sldId id="258" r:id="merged_slide_3"/>
    <p:sldId id="259" r:id="merged_slide_4"/>
    <p:sldId id="260" r:id="merged_slide_5"/>
    <p:sldId id="261" r:id="merged_slide_6"/>
    <p:sldId id="262" r:id="merged_slide_7"/>
    <p:sldId id="263" r:id="merged_slide_8"/>
    <p:sldId id="264" r:id="merged_slide_9"/>
    <p:sldId id="265" r:id="merged_slide_10"/>
    <p:sldId id="266" r:id="merged_slide_11"/>
    <p:sldId id="267" r:id="merged_slide_12"/>
    <p:sldId id="268" r:id="merged_slide_13"/>
    <p:sldId id="269" r:id="merged_slide_14"/>
    <p:sldId id="270" r:id="merged_slide_15"/>
    <p:sldId id="271" r:id="merged_slide_16"/>
    <p:sldId id="272" r:id="merged_slide_17"/>
    <p:sldId id="273" r:id="merged_slide_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7f73360d69ae423a" /><ns0:Relationship Type="http://schemas.openxmlformats.org/officeDocument/2006/relationships/notesMaster" Target="notesMasters/notesMaster1.xml" Id="R105d7eae1871493d" /><ns0:Relationship Type="http://schemas.openxmlformats.org/officeDocument/2006/relationships/presProps" Target="presProps.xml" Id="Re4a6be5e860e41f6" /><ns0:Relationship Type="http://schemas.openxmlformats.org/officeDocument/2006/relationships/tableStyles" Target="tableStyles.xml" Id="R2b725e6074ad4c77" /><ns0:Relationship Id="merged_slide_1" Type="http://schemas.openxmlformats.org/officeDocument/2006/relationships/slide" Target="slides/slide1.xml" /><ns0:Relationship Id="merged_slide_2" Type="http://schemas.openxmlformats.org/officeDocument/2006/relationships/slide" Target="slides/slide2.xml" /><ns0:Relationship Id="merged_slide_3" Type="http://schemas.openxmlformats.org/officeDocument/2006/relationships/slide" Target="slides/slide3.xml" /><ns0:Relationship Id="merged_slide_4" Type="http://schemas.openxmlformats.org/officeDocument/2006/relationships/slide" Target="slides/slide4.xml" /><ns0:Relationship Id="merged_slide_5" Type="http://schemas.openxmlformats.org/officeDocument/2006/relationships/slide" Target="slides/slide5.xml" /><ns0:Relationship Id="merged_slide_6" Type="http://schemas.openxmlformats.org/officeDocument/2006/relationships/slide" Target="slides/slide6.xml" /><ns0:Relationship Id="merged_slide_7" Type="http://schemas.openxmlformats.org/officeDocument/2006/relationships/slide" Target="slides/slide7.xml" /><ns0:Relationship Id="merged_slide_8" Type="http://schemas.openxmlformats.org/officeDocument/2006/relationships/slide" Target="slides/slide8.xml" /><ns0:Relationship Id="merged_slide_9" Type="http://schemas.openxmlformats.org/officeDocument/2006/relationships/slide" Target="slides/slide9.xml" /><ns0:Relationship Id="merged_slide_10" Type="http://schemas.openxmlformats.org/officeDocument/2006/relationships/slide" Target="slides/slide10.xml" /><ns0:Relationship Id="merged_slide_11" Type="http://schemas.openxmlformats.org/officeDocument/2006/relationships/slide" Target="slides/slide11.xml" /><ns0:Relationship Id="merged_slide_12" Type="http://schemas.openxmlformats.org/officeDocument/2006/relationships/slide" Target="slides/slide12.xml" /><ns0:Relationship Id="merged_slide_13" Type="http://schemas.openxmlformats.org/officeDocument/2006/relationships/slide" Target="slides/slide13.xml" /><ns0:Relationship Id="merged_slide_14" Type="http://schemas.openxmlformats.org/officeDocument/2006/relationships/slide" Target="slides/slide14.xml" /><ns0:Relationship Id="merged_slide_15" Type="http://schemas.openxmlformats.org/officeDocument/2006/relationships/slide" Target="slides/slide15.xml" /><ns0:Relationship Id="merged_slide_16" Type="http://schemas.openxmlformats.org/officeDocument/2006/relationships/slide" Target="slides/slide16.xml" /><ns0:Relationship Id="merged_slide_17" Type="http://schemas.openxmlformats.org/officeDocument/2006/relationships/slide" Target="slides/slide17.xml" /><ns0:Relationship Id="merged_slide_18" Type="http://schemas.openxmlformats.org/officeDocument/2006/relationships/slide" Target="slides/slide18.xml" /><ns0:Relationship Id="merged_slideMaster_1" Type="http://schemas.openxmlformats.org/officeDocument/2006/relationships/slideMaster" Target="slideMasters/slideMaster1.xml" /><ns0:Relationship Id="merged_slideMaster_2" Type="http://schemas.openxmlformats.org/officeDocument/2006/relationships/slideMaster" Target="source02/ppt/slideMasters/slideMaster1.xml" /><ns0:Relationship Id="merged_slideMaster_3" Type="http://schemas.openxmlformats.org/officeDocument/2006/relationships/slideMaster" Target="source03/ppt/slideMasters/slideMaster1.xml" /><ns0:Relationship Id="merged_slideMaster_4" Type="http://schemas.openxmlformats.org/officeDocument/2006/relationships/slideMaster" Target="source04/ppt/slideMasters/slideMaster1.xml" /><ns0:Relationship Id="merged_slideMaster_5" Type="http://schemas.openxmlformats.org/officeDocument/2006/relationships/slideMaster" Target="source05/ppt/slideMasters/slideMaster1.xml" /><ns0:Relationship Id="merged_slideMaster_6" Type="http://schemas.openxmlformats.org/officeDocument/2006/relationships/slideMaster" Target="source06/ppt/slideMasters/slideMaster1.xml" /><ns0:Relationship Id="merged_slideMaster_7" Type="http://schemas.openxmlformats.org/officeDocument/2006/relationships/slideMaster" Target="source07/ppt/slideMasters/slideMaster1.xml" /><ns0:Relationship Id="merged_slideMaster_8" Type="http://schemas.openxmlformats.org/officeDocument/2006/relationships/slideMaster" Target="source08/ppt/slideMasters/slideMaster1.xml" /><ns0:Relationship Id="merged_slideMaster_9" Type="http://schemas.openxmlformats.org/officeDocument/2006/relationships/slideMaster" Target="source09/ppt/slideMasters/slideMaster1.xml" /><ns0:Relationship Id="merged_slideMaster_10" Type="http://schemas.openxmlformats.org/officeDocument/2006/relationships/slideMaster" Target="source10/ppt/slideMasters/slideMaster1.xml" /><ns0:Relationship Id="merged_slideMaster_11" Type="http://schemas.openxmlformats.org/officeDocument/2006/relationships/slideMaster" Target="source11/ppt/slideMasters/slideMaster1.xml" /></ns0:Relationships>
</file>

<file path=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e3750a3d28bb45de" /></ns0: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slides/slide1.xml" Id="Raf87f863d3904fb0" /><ns0:Relationship Type="http://schemas.openxmlformats.org/officeDocument/2006/relationships/notesMaster" Target="../notesMasters/notesMaster1.xml" Id="R106003e66e7c47a9" /></ns0: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内部立项与跨部门评审。依据已确认的执行文档v1.5制作，保留11个主题，合计18页。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f6913ba90d554bbc" /></ns0: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5e7a4d9626114bdf" /><ns0:Relationship Type="http://schemas.openxmlformats.org/officeDocument/2006/relationships/slideLayout" Target="../slideLayouts/slideLayout1.xml" Id="Ra7f0cc97a0e54e78" /></ns0: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1.xml" Id="R276162d9fcde44cc" /><ns0:Relationship Type="http://schemas.openxmlformats.org/officeDocument/2006/relationships/notesSlide" Target="../notesSlides/notesSlide1.xml" Id="R151a3e6894be4a00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ource02/ppt/slideLayouts/slideLayout1.xml" Id="R8ebed1f3f608487f" /><ns0:Relationship Type="http://schemas.openxmlformats.org/officeDocument/2006/relationships/notesSlide" Target="../source02/ppt/notesSlides/notesSlide1.xml" Id="R28c4c89d6f4d411d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../source03/ppt/slideLayouts/slideLayout1.xml" Id="R670da13c72504f92" /><ns0:Relationship Type="http://schemas.openxmlformats.org/officeDocument/2006/relationships/notesSlide" Target="../source03/ppt/notesSlides/notesSlide1.xml" Id="R101a7f2de88e41a8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../source03/ppt/slideLayouts/slideLayout1.xml" Id="R56e779772cad4652" /><ns0:Relationship Type="http://schemas.openxmlformats.org/officeDocument/2006/relationships/notesSlide" Target="../source03/ppt/notesSlides/notesSlide2.xml" Id="R867e6b10af9d4a96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../source04/ppt/slideLayouts/slideLayout1.xml" Id="R085fcd76d63245ef" /><ns0:Relationship Type="http://schemas.openxmlformats.org/officeDocument/2006/relationships/notesSlide" Target="../source04/ppt/notesSlides/notesSlide1.xml" Id="R2dc23aa1cfee455c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../source05/ppt/slideLayouts/slideLayout1.xml" Id="Rd9915df1f8b14416" /><ns0:Relationship Type="http://schemas.openxmlformats.org/officeDocument/2006/relationships/image" Target="../source05/ppt/media/image.png" Id="R73f7be5e736c4679" /><ns0:Relationship Type="http://schemas.openxmlformats.org/officeDocument/2006/relationships/image" Target="../source05/ppt/media/image2.png" Id="R3609b9e37ef94347" /><ns0:Relationship Type="http://schemas.openxmlformats.org/officeDocument/2006/relationships/notesSlide" Target="../source05/ppt/notesSlides/notesSlide1.xml" Id="R8fe9e35da4fd4a7d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../source05/ppt/slideLayouts/slideLayout1.xml" Id="Rf253bdada8aa4074" /><ns0:Relationship Type="http://schemas.openxmlformats.org/officeDocument/2006/relationships/notesSlide" Target="../source05/ppt/notesSlides/notesSlide2.xml" Id="R52a37f2df3044fa5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../source06/ppt/slideLayouts/slideLayout1.xml" Id="R2cc6121a618a474f" /><ns0:Relationship Type="http://schemas.openxmlformats.org/officeDocument/2006/relationships/notesSlide" Target="../source06/ppt/notesSlides/notesSlide1.xml" Id="R57f86d4984524379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../source06/ppt/slideLayouts/slideLayout1.xml" Id="R2c82978ba60e46f3" /><ns0:Relationship Type="http://schemas.openxmlformats.org/officeDocument/2006/relationships/notesSlide" Target="../source06/ppt/notesSlides/notesSlide2.xml" Id="R158cbd7536714038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../source07/ppt/slideLayouts/slideLayout1.xml" Id="R9e7d22742a1a488d" /><ns0:Relationship Type="http://schemas.openxmlformats.org/officeDocument/2006/relationships/notesSlide" Target="../source07/ppt/notesSlides/notesSlide1.xml" Id="R69f8fbdc38e34a7c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../source08/ppt/slideLayouts/slideLayout1.xml" Id="R72d1602b064142d2" /><ns0:Relationship Type="http://schemas.openxmlformats.org/officeDocument/2006/relationships/notesSlide" Target="../source08/ppt/notesSlides/notesSlide1.xml" Id="R6331118f013e4f5a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../source08/ppt/slideLayouts/slideLayout1.xml" Id="Rf44c5831b3784c51" /><ns0:Relationship Type="http://schemas.openxmlformats.org/officeDocument/2006/relationships/notesSlide" Target="../source08/ppt/notesSlides/notesSlide2.xml" Id="R83d4a5ebb0354327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../source09/ppt/slideLayouts/slideLayout1.xml" Id="R8a34dd05451a4b73" /><ns0:Relationship Type="http://schemas.openxmlformats.org/officeDocument/2006/relationships/notesSlide" Target="../source09/ppt/notesSlides/notesSlide1.xml" Id="R655176a27c8e438e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../source09/ppt/slideLayouts/slideLayout1.xml" Id="Ra9ac53fac0824d18" /><ns0:Relationship Type="http://schemas.openxmlformats.org/officeDocument/2006/relationships/image" Target="../source09/ppt/media/image.png" Id="Ra92de390d6bf491f" /><ns0:Relationship Type="http://schemas.openxmlformats.org/officeDocument/2006/relationships/notesSlide" Target="../source09/ppt/notesSlides/notesSlide2.xml" Id="R4aef69f28e9642cf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../source10/ppt/slideLayouts/slideLayout1.xml" Id="Rc80d76a285454cd8" /><ns0:Relationship Type="http://schemas.openxmlformats.org/officeDocument/2006/relationships/notesSlide" Target="../source10/ppt/notesSlides/notesSlide1.xml" Id="Rdd18979d09144869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../source10/ppt/slideLayouts/slideLayout1.xml" Id="R5a633d4b41274c35" /><ns0:Relationship Type="http://schemas.openxmlformats.org/officeDocument/2006/relationships/notesSlide" Target="../source10/ppt/notesSlides/notesSlide2.xml" Id="R69d1f4b40ced451a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../source11/ppt/slideLayouts/slideLayout1.xml" Id="R95c0c4f130b949f2" /><ns0:Relationship Type="http://schemas.openxmlformats.org/officeDocument/2006/relationships/notesSlide" Target="../source11/ppt/notesSlides/notesSlide1.xml" Id="Rb27f820b9e484fa5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../source11/ppt/slideLayouts/slideLayout1.xml" Id="R66ccd5d0f7dd493c" /><ns0:Relationship Type="http://schemas.openxmlformats.org/officeDocument/2006/relationships/notesSlide" Target="../source11/ppt/notesSlides/notesSlide2.xml" Id="R65061608f8b24cb3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C76C7-D268-466F-B975-CAC7AA6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token 魔方</a:t>
            </a:r>
          </a:p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Mini实验台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57712-3869-47D1-B6C8-150975DE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Token 生产与平台销售闭环验证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2E0F9-1202-4E1F-A382-09B8D202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0FA26-939A-4399-A1CB-24E198F0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prepare:张帅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C82D4-7E5E-457B-9393-F681EEFE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2026年9月16日</a:t>
            </a:r>
          </a:p>
        </p:txBody>
      </p:sp>
    </p:spTree>
    <p:extLst>
      <p:ext uri="{BB962C8B-B14F-4D97-AF65-F5344CB8AC3E}">
        <p14:creationId xmlns:p14="http://schemas.microsoft.com/office/powerpoint/2010/main" val="1133661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767F51-D921-4613-A3E8-7D5C19E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3606D-7F35-417F-A607-681041AE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技术验证与商业验证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C3A04-78B6-42E6-B59D-5E1DD4AF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从设备与软件适配，到部署、压测、文本收入与结算回款。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C9623-E62E-440B-AC22-3767335A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2532A-C4B6-4C71-B217-357C1E6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90002-568E-48E0-B888-D7461FB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FEF0E-F412-4750-98ED-CDD6481C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4317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03–04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D5E6E-B791-4F45-9FE3-9DE2F4C8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机柜布局、服务器配置与上架配套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C2455-BD1C-42DB-A2B3-7D1BA9BE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FA4BC-42CC-4714-AB21-21464A5B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6D186-7381-4F5A-BD20-7B9F11FD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业务、带外管理、RoCE 与存储连接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8A862-3603-49AE-A6C3-D4F3ADC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479A6-45A9-4D44-86AE-CE199AE4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338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06–07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B3270-AFFC-451F-8D76-D63BB05F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T4 / 910B 软件生态与模型部署支持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055AD-D756-4DAB-9548-B74B3EB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38331-CD57-4A54-BA1A-B79C3233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2915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08–09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74EAA-6CEE-40AB-BAAA-4A6F9D72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4347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适配方法论与现有设备候选模型清单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13200-752C-4942-A8CF-4C5E0BA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3CBC4-CC81-4D8C-A430-A459401C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2447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786F5-FC02-4C25-8A49-A8661D1C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模型下载、环境准备、部署与验收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7AFF0-80B9-4115-923E-A0E7CE55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43175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6A1CE-8DFB-42A9-9900-2337C0A3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4317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3362B-E191-4014-A6D6-A4C18809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压测方法、最大并发与关键指标记录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CB1BD-FA93-4745-8A3E-5D38911F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DEDEE-A9E9-4B4C-8FF6-DC08D1D7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CD11F-8D33-4511-9685-ECD6B704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5282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文本收入公式与 DeepSeek 价格算例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59E94-79BD-42B9-87CA-BF97E9DB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33825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B8F1E-71C5-4DA1-B6F1-4D182AC7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338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7AFDE-5508-40C0-81DF-0D828B93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4815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计量结算、服务承诺与责任边界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9470B-CEBD-4AB5-ABAB-526AFBC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29150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60A1E0-5478-4640-B3FD-0F6F4BC0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2915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0BA8BB-B4CE-4DC7-8DDA-6846528D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4347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角色协作、凭证交接与闭环验收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E9457-F901-421C-8009-5C28F622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599E84-1983-42AB-95FC-C398067F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6AA18-D61C-4005-960C-3865225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2143010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7E1D9AB-8611-45C6-AA7E-6DE97EE4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FAE1B-D0FA-43C4-9B36-6194D2CC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机柜布局与服务器配置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1D231-B8A7-478F-A6DC-53BBB49E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台服务器分布于 3 个机柜：2 台 910B、6 台八卡 T4、6 台通算。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18822-1080-4912-AEC5-152CBF27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3E74F-DB49-4B8B-8923-81FCE700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4AF46-EB50-4779-A0F4-D626574D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D147D-5D1C-42DC-A335-4F621EC3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4772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机柜布局（示意，非实际 U 位）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31EE3-4B8A-4093-ACBB-4AE7C5AC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463A6-044D-4845-B8B7-A1FC773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D8069-BD0C-4F02-8D34-0D17F05B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7A505-FB41-46D5-BA33-7158EAB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94DB7-FD4E-4968-B8AD-D9902DC1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F3AC-FC79-4CE6-8F3B-5985A6C5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67E5D-5938-42B6-B089-2D169B4C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AF6EB-1C25-4E30-85EF-0602151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C23EE-307A-4E5E-89F5-839DCB6F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E30AC-890E-40F9-B7E9-6F420B79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6150E-E2D1-4314-B0EC-3B5E969E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594AE-F3FF-4541-B7A2-A5D53BA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A0B4A-EF1E-4DDB-A644-BBBDCC28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7F825-3CD1-4EC2-8B8A-0ABBB03E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C586B-1B5F-4DC6-BFDB-8A3E2F12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4C88C4-E0C3-4B10-975E-A1ED0080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60EA0-77EF-4207-BF39-ACE2233F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95051-C815-4ECF-B7BE-7BA40499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21D72-EBF6-477D-9450-9773CAF9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CE50F-6A51-4F6D-940F-78197B2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B5D0DD-48BD-4B9D-AE5F-AF6ED17F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896429-2C5C-4B12-AB42-4ED0E881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D4706B-C809-4CF9-BF43-C9A492D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36AA61-AAEF-40CB-AD9F-095DB06D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5E6F9B-2D49-4D37-840B-C7CB46CC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D087E-9B9F-4982-A930-5348FAB1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0EDBC6-5B80-47AF-8F44-3E7F92DD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C95E58-C779-40D3-90D5-8FAADA7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FC3DF7-D451-46AE-9A63-24EC919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432D85-4E97-4C08-877B-E349CABD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C217B-35A8-4338-A422-660B8231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245BB4-FBE1-42B2-B762-EFFA469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5EA145-AFD3-4453-B7F7-93324AFD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9A22F7-F21A-4BC4-A077-C21C1D0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DD062B-1737-466A-AA83-561E72FD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883A7A-0E92-46DF-9173-3B7D5930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D79E68-8E93-4A33-9B4C-8E83071B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C34CE5-7DE9-4B65-B7AD-E43B5B23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78351F-7130-4237-8840-6FC1902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A8464C-5F2A-462A-AC63-9E2DA2C4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104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F2BDFC-C557-4972-9CF4-7F25C39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C1DC2E-AEC0-4C56-9DD2-11E35F3F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9332F4-42AE-4843-BE56-679BED26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95600"/>
            <a:ext cx="866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910B-1</a:t>
            </a:r>
          </a:p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E19568-5386-4BAD-9331-A8DFD21B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723A2D-C498-4250-B8CD-4062F564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D00794-7674-4B9E-A5A0-5B85F1B6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9D309C-4930-4C05-BF94-1B35A6D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B894BB-2797-4907-A2E1-F90A50DD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T4-1  8 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B1F1E3-F1B1-4189-BE7E-7714405B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6385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6B0B9F-57A9-4ECC-AC62-20A57A4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29EEAE-A968-47C2-8594-583C0096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AFD4DA-1F1D-4B79-B0A6-9712C4E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83723E-8B2F-4EEC-87DE-AEFD8ACD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T4-2  8 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49CA34-D00C-4506-ADE1-586048A9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10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E8C98F-9C2A-47D3-9F75-6B34DD8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CDCC13-A56A-47C3-AC42-09423217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02D307-5658-465C-9E9D-5D02260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DBEA34-C84E-4FDA-8AA9-D0B0BE4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T4-3  8 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D6384D-3227-471A-ACF0-49491B3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3815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138B86-74CD-4B40-B0C5-CCFD8855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734FBB-86E6-4795-A81C-ED57D2E4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30EFC3-C45C-42F1-BC34-AC2B471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478F1C-A11F-4886-88CD-016E4D78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F49EF3-A59B-4B9B-B987-DDEACE4E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37B302-E0E6-4CD5-8E45-6E55458E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8F96210-97B7-4A62-B68C-5D45882C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C9E4288-C391-4FC3-8E10-57479BCF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DCD667-84D0-409F-8ECB-2258C23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8A63C5-9431-4E05-A8F2-152AE1A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BB1C501-8307-45A0-9598-6A52995F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92653B-B2EF-4FCB-837C-7148C24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E9C9537-4802-467E-B1C0-FDA15FC8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E66754A-8DB0-4550-A724-558AB7B4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7F3D932-3B8E-46B1-A82B-8EF2EC9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BE7EC4-0ACF-42DE-8641-9843F19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E0A3168-07DA-411C-88D9-49CE5C2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52C68F-8EBB-43E4-A7A4-970C1AE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AE1DAF1-4D37-4170-80E3-27AD3500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3FD4C75-74F9-4104-8BBD-F8CB007C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F003959-0289-4272-9EC9-93618A8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664984-615B-4BF9-AD84-749EE91E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9DB99C3-3A27-4E2C-A92E-BAA0FFB7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BD08F98-9B48-493D-8787-E254B04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8C5F84-AF59-4B87-9746-2017FBBF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8AB82A7-2A50-4D1F-B696-38127DE5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BEED63-4406-4003-9430-7B44FFE4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A62E0C-3651-4FCC-BF4E-B38A12FC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619F0A-43AF-4868-9942-0E5B6D8B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47AED13-83F0-49B3-9112-4044E69C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B81628-6E3C-41DB-A262-FAA08F9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29C5E4E-0C6A-485C-8D11-71B967F1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3AF529-A424-4689-AD9D-EF42276E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1B8AFE-AE05-4CAD-B232-630D8E98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309718-6DD7-444E-AB04-2D50A6B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14C3368-C701-433A-A43C-8D079A16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4FA459-694B-4854-A1BB-9A231F17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DEBFABA-3F07-49C6-A5E9-918F053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BAE420-2222-47E3-A462-6E0C83F3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9C9A585-66C0-4A24-9A8F-368FB38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FDE7C0-1FE7-48BF-A80E-03139F8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F97662-A71C-4E4A-AA71-786D090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65389B2-2522-44B6-A071-A46C543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DC6A057-E1A9-442D-8A1C-0F97FB88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2AF8F25-CD0B-402F-88F8-4F3E69A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86075"/>
            <a:ext cx="1104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5DEBFA-A581-4EDB-B98D-0B07971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8607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D70870E-CB54-40D8-B54F-5837E7B4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2C04DF-E8F3-4916-AF84-E9F933E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95600"/>
            <a:ext cx="866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910B-2</a:t>
            </a:r>
          </a:p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FA3B4B1-E944-4729-97B3-F56B6E48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E8195E-C8C2-481F-94BB-4C580CBD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97E5989-0154-4623-BCDC-A18CAB2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229B113-BEA9-41D2-881A-87F1C5FA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290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73956C1-98CC-404C-9ECC-C685A99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57187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T4-4  8 卡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F35BB86-DD74-4E58-85DF-FCA6B4FC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385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5EEA68-4ED1-4B1A-8652-DBDC1BD8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33825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EC3648-600C-41C4-BBF4-D7A62E2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33825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9A7485-EBF8-41EC-944B-EB23F1BF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0050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0DFD2DC-8DAC-41D4-A5D2-0A0C88A2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43350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T4-5  8 卡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7158332-86C7-407C-A783-1BFF6D9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0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93135B9-7C4E-498A-8185-F96C373F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053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1BC80EF-480E-4477-AA33-678381AA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05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585C7DA-EF09-47C3-95CD-D153DDA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7197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01A2694-CE9F-49C8-B09B-CD5F566D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1482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T4-6  8 卡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533D78F-06A9-441D-B426-19AF26C7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815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8696F2C-0518-4262-87E3-1EBB428D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339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316EDC0-168D-4DBE-BD73-FB5C2C16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101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C0CA1C9-8889-4B8F-B89D-2603888F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863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31D7949-333A-4F2E-9CB2-5F817788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2C42885-E8D5-41E6-8075-83514BD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7413199-85F4-4BBE-A047-040B5FBF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B357F2F-0D89-460B-9F5A-EE8807D3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256705F-1D11-486F-A9DA-EED835BC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0597B9D-2EC3-49DC-ADB9-9CC359B9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C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9C0A16C-72EE-4B25-A8ED-FD84F927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既有 / 通算专用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C6FA730-EF34-4A82-A8C7-1DC235DB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6C0173E-1F49-4FA7-8C46-830797A3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FCBFD09-50E1-4B6A-92D9-9793AED9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A627510-5056-49EA-A88A-D28389C8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F43AF0E-5ED9-4BC1-9610-B3D7C885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767DBC7-9DAC-4B74-973D-3AF227F5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D74AF03-F203-4784-876F-DB9008AC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3D0C7FD-36E1-4CCF-B276-7AB76FA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30CF335-FD45-417C-B921-9DA24BD8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9878D2E-6159-478A-AF2A-0FFB1644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B51B3CF-D7F4-4ED2-8F32-CD2B8952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0F71C0D-ECE5-4A2A-9212-71B4DD80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AC54A81-5801-4EDC-A4F4-42D7B5E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90413D0-27AB-4DE2-8BE5-406BC1FA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736459F-286D-4930-A88D-B86D8C8D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AFD4D9A-0724-47C4-A485-0EA9FFF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3EEC1F0-AD98-40BA-8032-86C977A3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7BEB0A5-951D-4DCD-8C29-3F22BB89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60A2E61-86E1-45E5-961E-829F815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421D62D-83B9-47BF-A4CD-1A6E1C0C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086F9BB-51EB-4B23-986C-0BB013C6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9445790-DF4A-4FD6-9759-AAF6C1C2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4B40A83-A852-44F0-B716-D92B7323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BA70FA0-0960-48A4-B914-4FB652B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97AB839-05C4-4CC9-9903-A7E87C5A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8346E85-F19C-4447-8B90-8A664323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CCA5858-0B2D-4A3C-A273-AF00952F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2B7AD83-B5F4-43E9-88F9-1A3D56C5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EE10D1F-91C7-4AFC-92D6-CE920A6C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5487CFA-41F9-43B2-AF1D-53A968AC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28165FB-1A86-4A32-8B14-01A59DA5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22D8451-CA90-43FC-8F35-2AB587EE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F7143CB-1B61-4D09-A591-141991B4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5A84AFE-52B9-4345-B6B0-6A040589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DD37C04-9DBC-451C-AD13-7EF07CA2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860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DAD7A9D-2BB0-494D-8CAF-691A1F19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8607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1200B5C-CB69-4F06-9194-55F06FE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535E579-E1F8-4A8C-8B89-E2755B4F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9560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81D7D0A-FBF9-4DE2-B167-7760A26C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6FCA38B-593C-4D17-B790-55269404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2926A9B-F685-4762-8EAD-BD7E0151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5816C57-8B93-49B1-B979-E160814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861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08889B4-EAEC-4C8F-BC4B-DE1D0E94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2897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11E252-C27B-4D9D-86A2-CF56B07C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956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4DAB6CA-D5CF-4807-88F8-6D69645F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5282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878F971-7EC0-4599-A706-12ECBA78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5282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60A87C9-DF11-4C40-9648-4305366A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EC8A91F-6492-4BD1-806F-6AB07CBF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6235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通算-3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01C318F-CBFD-405D-A825-9095DCC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29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7E75C3E-682D-4E34-BAD7-5CB69054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862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81C3004-E712-4940-AA9C-78BA4EC8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8620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503238E-75C0-465E-ABF4-0B7AA16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528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70939D1-9693-4945-A095-38AC4DAC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9572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通算-4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3DF3789-E1E0-4F62-9326-144EA44E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624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8147931-AB28-40B7-8AC7-7F87D85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95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294446B-38C7-43F6-B164-B0555E5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957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90D65EC-2092-496A-AF81-5C7D6278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7AF0E93-9F39-407C-984F-97495AE3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22910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通算-5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79C33DD-DFCF-469C-84B6-587CB82B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957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6BE448FC-ED58-44AD-A410-3049B57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529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8AE0B80-6920-475A-B4BE-C6925831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529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22F2AFC-0E30-4100-BB99-93CB05B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DD455C5-A246-4AD9-B017-99DC380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6247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通算-6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A9E35EE-E9FC-4AC4-B477-E07355D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6291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CDF5AD8-FC90-48ED-9F0B-B2E8C1E6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C09E7CB-9CC8-49A5-A961-129CEE43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C097611-8EFF-4A9C-875C-77CA5FA5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 / B：模型推理</a:t>
            </a:r>
          </a:p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C：MASS 平台及支撑服务</a:t>
            </a:r>
          </a:p>
        </p:txBody>
      </p:sp>
      <p:graphicFrame>
        <p:nvGraphicFramePr>
          <p:cNvPr id="417" name=""/>
          <p:cNvGraphicFramePr/>
          <p:nvPr/>
        </p:nvGraphicFramePr>
        <p:xfrm>
          <a:off xmlns:a="http://schemas.openxmlformats.org/drawingml/2006/main" x="5524500" y="1943100"/>
          <a:ext xmlns:a="http://schemas.openxmlformats.org/drawingml/2006/main" cx="607695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4724400"/>
              </a:tblGrid>
              <a:tr h="3714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服务器 / 数量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单台配置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</a:tr>
              <a:tr h="1352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×2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16 张 NPU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已定：8×910B，8×200GE RoCE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参考：4×Kunpeng 920_5250，24×32GB 内存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 SATA，数据盘 4×1.92TB NVMe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参考卡标为 Ascend 910_4-64G，需核对型号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48 张 GPU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已定：8×NVIDIA T4（单卡 16GB）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待补：CPU、内存、系统盘、数据盘、网卡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整机需核验八卡槽位、供电和散热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既有设备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5218R，12×32GB DDR4 2933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2×480GB，数据盘 14×1.92TB SATA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 2×GE＋4×10GE，现有配置待资产核对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1A8899C-E521-4859-B4CD-AA461CF9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95975"/>
            <a:ext cx="1100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上架条件：每柜 1 台 910B＋3 台 T4＋网络设备的整机峰值及预留，不得超过机柜可用功率。</a:t>
            </a:r>
          </a:p>
        </p:txBody>
      </p:sp>
    </p:spTree>
    <p:extLst>
      <p:ext uri="{BB962C8B-B14F-4D97-AF65-F5344CB8AC3E}">
        <p14:creationId xmlns:p14="http://schemas.microsoft.com/office/powerpoint/2010/main" val="1207629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06293-ADA8-448F-8E83-AB07DA06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F196B-5FE6-4D26-8742-94812C1B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网络、存储与上架配套清单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9ED9F-9F30-4947-A5A0-23D9886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盘点口径：已确定数量直接列示，参考规格保留，选配设备单独计算。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91976-E237-457E-9DFD-29AE7D72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A7EC6-2BB6-4544-B354-49D8861E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04E57-4536-4C6E-9FD5-6877B99C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5925"/>
                <a:gridCol w="1524000"/>
                <a:gridCol w="7839075"/>
              </a:tblGrid>
              <a:tr h="352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设备类别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 / 状态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配置与盘点要求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台，已确定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32×200GE；本期接入 16 个 200GE 端口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另一参考为 16×400GE 分拆接入，需核验端口分拆及线缆兼容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光链路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条链路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个光模块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 910B 各 8 条 200GE；服务器端 16 个＋交换机端 16 个模块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 16 组光纤，按模块接口和跨柜距离选型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48×25GE＋8×100GE；核对服务器网卡、上联与所需光模块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管理交换机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48×GE/10GE；接入 14 台服务器 BMC 及交换设备管理口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对象存储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可选，数量待定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4214R，12×16GB 内存，2×480GB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20×8TB HDD，2×1.6TB NVMe，2×1GE＋4×10GE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整机配件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逐台核对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机箱、主板、CPU/散热器、内存、系统/数据盘、磁盘控制器（按需）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八卡槽位及 Riser、网卡/BMC、风扇、冗余电源、导轨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机柜及机房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逐柜核对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PDU、电源线、接地、理线器、管理网线、业务光模块及光纤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供电回路、UPS、制冷、U 位及承重，核验新增与既有资源差缺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16B67-BDCF-498D-ADBE-275547E6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盘点结果应形成逐台配置表、逐端口接线表和逐柜功率表，再确定补购数量。</a:t>
            </a:r>
          </a:p>
        </p:txBody>
      </p:sp>
    </p:spTree>
    <p:extLst>
      <p:ext uri="{BB962C8B-B14F-4D97-AF65-F5344CB8AC3E}">
        <p14:creationId xmlns:p14="http://schemas.microsoft.com/office/powerpoint/2010/main" val="253366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B0A5144-D3FE-45E8-A647-7D6463D7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81053-7F10-4F6A-B59F-DBEFB397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B6825-9314-4610-A995-9F769132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已确认：1 台 RoCE 交换机、16 条 200GE 链路、双端 32 个光模块。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DBE79-1D7E-434F-B6E3-6682BA9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1312C-919D-4A37-B6BD-8A5001A3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A334B-AF83-4406-A5A0-C5E5B5E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EC50B-5C99-46A5-B6F2-4012271D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47850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目标平台 / Internet / 压测入口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E75D8-BE00-4651-9BC9-2D0B4ADF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76475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1F5E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边界防火墙 / 访问控制（复用或补齐）</a:t>
            </a:r>
          </a:p>
        </p:txBody>
      </p:sp>
      <p:cxnSp>
        <p:nvCxnSpPr>
          <p:cNvPr id="15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19800" y="21526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C37B2-F0B0-4833-9B19-AA0A5A61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95525"/>
            <a:ext cx="260032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运维入口 / 管理区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B3881-5B2C-4A20-912A-F59A731E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98132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A40FE-4BF0-476B-A83C-EF6E9791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299085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5E2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业务网接入交换设备</a:t>
            </a:r>
          </a:p>
        </p:txBody>
      </p:sp>
      <p:cxnSp>
        <p:nvCxnSpPr>
          <p:cNvPr id="15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881188" y="2600325"/>
            <a:ext cx="60007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56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19800" y="2581275"/>
            <a:ext cx="21240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B491A-69CD-48AF-A901-AB8B031E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813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交换设备</a:t>
            </a:r>
          </a:p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管理口接入带外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FF972-A2AB-484A-8544-A824047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240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3E4E9-F0BD-4AE3-81EA-CB5755CC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288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业务网：速率待盘点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78971-B4AD-4924-8CB2-0C2E57CF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027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724F1-0A81-4FDD-8E66-53C0C299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050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网：速率待盘点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BDD83-C02E-4DF3-9605-370E7C68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77429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34502-900D-4730-80F4-8965F330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812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RoCE：200GE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9A92C-A4EC-4BFF-8977-FF1CCDA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527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7DDA0-0540-49BF-9812-D7E0BAD1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574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存储网：可选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36FD0-2C12-4F7A-B451-0962774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7670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226B6-DA12-425A-9FA5-D67591C3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3848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17C29-ADF9-4427-9538-E0274AA2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76700"/>
            <a:ext cx="3971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EB87B-8731-4B12-B190-B04B7ABB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· 通算 ×6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24CEEB-0DF8-4B9F-BBE7-FEB34E50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57750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/ 10 kW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06619E-4B65-4DAD-92DE-107BBE9D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57750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C / 10 kW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E36AB-6C62-4E15-87CE-76160412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2F929D-70AA-4B55-92E3-EB059780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74" name=""/>
          <p:cNvCxnSpPr>
            <a:stCxn xmlns:a="http://schemas.openxmlformats.org/drawingml/2006/main" id="11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847725" y="3676650"/>
            <a:ext cx="163353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75" name=""/>
          <p:cNvCxnSpPr>
            <a:stCxn xmlns:a="http://schemas.openxmlformats.org/drawingml/2006/main" id="12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1019175" y="3676650"/>
            <a:ext cx="7124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57AF53-55A4-4F5A-8D85-15F17A01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7810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81E7D6-3C21-4594-A115-1D3A046E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B25A22-D399-4A4F-834F-0B72AC08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79" name=""/>
          <p:cNvCxnSpPr>
            <a:stCxn xmlns:a="http://schemas.openxmlformats.org/drawingml/2006/main" id="11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1752600" y="3676650"/>
            <a:ext cx="7286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80" name=""/>
          <p:cNvCxnSpPr>
            <a:stCxn xmlns:a="http://schemas.openxmlformats.org/drawingml/2006/main" id="12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1924050" y="3676650"/>
            <a:ext cx="62198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62544D-DC9E-4E39-AC74-C197EA80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8572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9245C-FDDE-4879-9C82-E02DF229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EACB31-C502-4659-AB26-A4F47205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4" name=""/>
          <p:cNvCxnSpPr>
            <a:stCxn xmlns:a="http://schemas.openxmlformats.org/drawingml/2006/main" id="11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2481263" y="3676650"/>
            <a:ext cx="2524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85" name=""/>
          <p:cNvCxnSpPr>
            <a:stCxn xmlns:a="http://schemas.openxmlformats.org/drawingml/2006/main" id="12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2905125" y="3676650"/>
            <a:ext cx="52387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E5A68E-5E6F-42A5-9941-A8B6CBD2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7810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737B75-17AD-4BC5-A632-82549B1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DB3247-1C30-440C-9F82-A52A99F3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9" name=""/>
          <p:cNvCxnSpPr>
            <a:stCxn xmlns:a="http://schemas.openxmlformats.org/drawingml/2006/main" id="11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481263" y="3676650"/>
            <a:ext cx="14335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90" name=""/>
          <p:cNvCxnSpPr>
            <a:stCxn xmlns:a="http://schemas.openxmlformats.org/drawingml/2006/main" id="12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 flipH="1">
            <a:off x="4086225" y="3676650"/>
            <a:ext cx="4057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A85AF-1B40-4ADA-989A-77A8D784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295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910B-1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39A166-397E-46A3-9116-CA0FA686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00DEBB-95D8-4024-9A3D-E912C036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165F64-4D5D-4F30-AEAA-683CA863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1CF520-BAC9-4243-9DE4-AF1ED419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CC9C9B-39F2-43B3-9965-C38C18FF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9D13EF-E510-43B5-A052-F223F93D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395F11-63C4-433C-9498-A78A47A1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08D0AE-C8C1-41EA-AE27-523FB4F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651CE6-649C-48D0-84B1-096B5214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C46FB1-5630-424E-AD87-75D353F6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02" name=""/>
          <p:cNvCxnSpPr>
            <a:stCxn xmlns:a="http://schemas.openxmlformats.org/drawingml/2006/main" id="11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481263" y="3676650"/>
            <a:ext cx="28432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03" name=""/>
          <p:cNvCxnSpPr>
            <a:stCxn xmlns:a="http://schemas.openxmlformats.org/drawingml/2006/main" id="12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 flipH="1">
            <a:off x="5495925" y="3676650"/>
            <a:ext cx="26479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0DB2D6-AF42-498F-A201-E0276BF2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E7C3E3-6696-43DB-A0D0-419286F7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84F84F-9C21-4A61-8DF3-E8C1721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07" name=""/>
          <p:cNvCxnSpPr>
            <a:stCxn xmlns:a="http://schemas.openxmlformats.org/drawingml/2006/main" id="11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2481263" y="3676650"/>
            <a:ext cx="35956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08" name=""/>
          <p:cNvCxnSpPr>
            <a:stCxn xmlns:a="http://schemas.openxmlformats.org/drawingml/2006/main" id="12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 flipH="1">
            <a:off x="6248400" y="3676650"/>
            <a:ext cx="18954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7E5A9F-8B92-4C70-B250-182B0D7D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E63380-9EF3-4B3A-BC43-5E75D13E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92CF9B-CE01-435D-AE0B-D61E4F85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2" name=""/>
          <p:cNvCxnSpPr>
            <a:stCxn xmlns:a="http://schemas.openxmlformats.org/drawingml/2006/main" id="11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2481263" y="3676650"/>
            <a:ext cx="43481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13" name=""/>
          <p:cNvCxnSpPr>
            <a:stCxn xmlns:a="http://schemas.openxmlformats.org/drawingml/2006/main" id="12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 flipH="1">
            <a:off x="7000875" y="3676650"/>
            <a:ext cx="1143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9C6DAB-D1FC-444A-A7F9-17F7BEE5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DF499E-C946-457A-896B-51191B44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3BF8CC-BE0E-4C9C-B613-03148D1F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7" name=""/>
          <p:cNvCxnSpPr>
            <a:stCxn xmlns:a="http://schemas.openxmlformats.org/drawingml/2006/main" id="11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2481263" y="3676650"/>
            <a:ext cx="54721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18" name=""/>
          <p:cNvCxnSpPr>
            <a:stCxn xmlns:a="http://schemas.openxmlformats.org/drawingml/2006/main" id="12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8124825" y="3676650"/>
            <a:ext cx="19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64EF3FA-504C-43D1-B38F-E99FCCAF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95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910B-2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EDB5F2-9444-4540-B587-C20D73A3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861155-28FD-4F3C-9054-64FC6C6F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0BBE2FF-4591-420B-A43A-F6482215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ECC082-7392-4BB3-BE4B-5538E323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559CC1-0A96-4786-965F-F31C1D97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CE428A-550E-44B5-AFCE-F7291D90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337F21B-72AC-481E-833C-41E1F74F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D10AFE2-DF54-417D-8DC7-1B9C7C51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9C3898-4603-480C-942A-14D8D9E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FE2F98-C554-4637-ABA2-A230FB17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0" name=""/>
          <p:cNvCxnSpPr>
            <a:stCxn xmlns:a="http://schemas.openxmlformats.org/drawingml/2006/main" id="11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481263" y="3676650"/>
            <a:ext cx="68818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31" name=""/>
          <p:cNvCxnSpPr>
            <a:stCxn xmlns:a="http://schemas.openxmlformats.org/drawingml/2006/main" id="12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143875" y="3676650"/>
            <a:ext cx="1390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F761D8-3F06-4640-94CE-A1638935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0CC2387-DD32-4A66-9CB4-85BB74E3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2C4A7A9-71E0-48CD-99A1-A60FB4F2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5" name=""/>
          <p:cNvCxnSpPr>
            <a:stCxn xmlns:a="http://schemas.openxmlformats.org/drawingml/2006/main" id="11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2481263" y="3676650"/>
            <a:ext cx="76342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36" name=""/>
          <p:cNvCxnSpPr>
            <a:stCxn xmlns:a="http://schemas.openxmlformats.org/drawingml/2006/main" id="12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8143875" y="3676650"/>
            <a:ext cx="21431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59C443-A88A-42DD-813D-CA542612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0C6D3D5-2B00-4F4F-A82A-AD83A3E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30367FF-B1C2-4168-AB32-6F8CCE0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0" name=""/>
          <p:cNvCxnSpPr>
            <a:stCxn xmlns:a="http://schemas.openxmlformats.org/drawingml/2006/main" id="11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2481263" y="3676650"/>
            <a:ext cx="83867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41" name=""/>
          <p:cNvCxnSpPr>
            <a:stCxn xmlns:a="http://schemas.openxmlformats.org/drawingml/2006/main" id="12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143875" y="3676650"/>
            <a:ext cx="28956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A10AF0-0BD9-446C-A0CF-D6E3A680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67200"/>
            <a:ext cx="8191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724D64F-9835-4310-B591-530B367E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648325"/>
            <a:ext cx="4886325" cy="314325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交换机 ×1（拟放 B 柜）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C049538-FF89-4698-8A89-41719B45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cxnSp>
        <p:nvCxnSpPr>
          <p:cNvPr id="245" name=""/>
          <p:cNvCxnSpPr>
            <a:stCxn xmlns:a="http://schemas.openxmlformats.org/drawingml/2006/main" id="50" idx="2"/>
            <a:endCxn xmlns:a="http://schemas.openxmlformats.org/drawingml/2006/main" id="102" idx="0"/>
          </p:cNvCxnSpPr>
          <p:nvPr/>
        </p:nvCxnSpPr>
        <p:spPr>
          <a:xfrm xmlns:a="http://schemas.openxmlformats.org/drawingml/2006/main">
            <a:off x="3833813" y="4867275"/>
            <a:ext cx="13954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EECC2FD-F2A5-48DB-91FF-35946EAB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cxnSp>
        <p:nvCxnSpPr>
          <p:cNvPr id="247" name=""/>
          <p:cNvCxnSpPr>
            <a:stCxn xmlns:a="http://schemas.openxmlformats.org/drawingml/2006/main" id="51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3986213" y="4867275"/>
            <a:ext cx="14811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D9E2441-892B-4CDA-853D-5EDB9035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cxnSp>
        <p:nvCxnSpPr>
          <p:cNvPr id="249" name=""/>
          <p:cNvCxnSpPr>
            <a:stCxn xmlns:a="http://schemas.openxmlformats.org/drawingml/2006/main" id="52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4138613" y="4867275"/>
            <a:ext cx="1566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BEB263-EB2A-4F80-9F34-58F8C41A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cxnSp>
        <p:nvCxnSpPr>
          <p:cNvPr id="251" name=""/>
          <p:cNvCxnSpPr>
            <a:stCxn xmlns:a="http://schemas.openxmlformats.org/drawingml/2006/main" id="53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4291013" y="4867275"/>
            <a:ext cx="1652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CFE98B1-8A29-48E2-83B7-FB22F572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253" name=""/>
          <p:cNvCxnSpPr>
            <a:stCxn xmlns:a="http://schemas.openxmlformats.org/drawingml/2006/main" id="54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4443413" y="4867275"/>
            <a:ext cx="1738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650BFDB-6F63-4BA3-B0EE-923315C9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cxnSp>
        <p:nvCxnSpPr>
          <p:cNvPr id="255" name=""/>
          <p:cNvCxnSpPr>
            <a:stCxn xmlns:a="http://schemas.openxmlformats.org/drawingml/2006/main" id="55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4595813" y="4867275"/>
            <a:ext cx="1824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EAF637D-2515-4BFD-BE03-4E82FDE0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cxnSp>
        <p:nvCxnSpPr>
          <p:cNvPr id="257" name=""/>
          <p:cNvCxnSpPr>
            <a:stCxn xmlns:a="http://schemas.openxmlformats.org/drawingml/2006/main" id="56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4748213" y="4867275"/>
            <a:ext cx="1909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3AA20A9-D2AC-41C0-9439-3FC2E55C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cxnSp>
        <p:nvCxnSpPr>
          <p:cNvPr id="259" name=""/>
          <p:cNvCxnSpPr>
            <a:stCxn xmlns:a="http://schemas.openxmlformats.org/drawingml/2006/main" id="57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4900613" y="4867275"/>
            <a:ext cx="19954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30356A6-ECEB-475B-B524-45E8BD1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cxnSp>
        <p:nvCxnSpPr>
          <p:cNvPr id="261" name=""/>
          <p:cNvCxnSpPr>
            <a:stCxn xmlns:a="http://schemas.openxmlformats.org/drawingml/2006/main" id="78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 flipH="1">
            <a:off x="7658100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CFD6CCA-5BB6-4A69-8995-E7CF4DB7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cxnSp>
        <p:nvCxnSpPr>
          <p:cNvPr id="263" name=""/>
          <p:cNvCxnSpPr>
            <a:stCxn xmlns:a="http://schemas.openxmlformats.org/drawingml/2006/main" id="79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 flipH="1">
            <a:off x="7896225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576BAA0-5310-4E6F-B24F-A514A71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cxnSp>
        <p:nvCxnSpPr>
          <p:cNvPr id="265" name=""/>
          <p:cNvCxnSpPr>
            <a:stCxn xmlns:a="http://schemas.openxmlformats.org/drawingml/2006/main" id="80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8134350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D55A8D7-2F9F-4472-A2B2-56EF2897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cxnSp>
        <p:nvCxnSpPr>
          <p:cNvPr id="267" name=""/>
          <p:cNvCxnSpPr>
            <a:stCxn xmlns:a="http://schemas.openxmlformats.org/drawingml/2006/main" id="81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8329613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0F8B1E0-E93E-4BC0-8825-7E08A988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cxnSp>
        <p:nvCxnSpPr>
          <p:cNvPr id="269" name=""/>
          <p:cNvCxnSpPr>
            <a:stCxn xmlns:a="http://schemas.openxmlformats.org/drawingml/2006/main" id="82" idx="2"/>
            <a:endCxn xmlns:a="http://schemas.openxmlformats.org/drawingml/2006/main" id="126" idx="0"/>
          </p:cNvCxnSpPr>
          <p:nvPr/>
        </p:nvCxnSpPr>
        <p:spPr>
          <a:xfrm xmlns:a="http://schemas.openxmlformats.org/drawingml/2006/main">
            <a:off x="8482013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6B9C62C-3466-40A1-831D-AB8EBD9F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cxnSp>
        <p:nvCxnSpPr>
          <p:cNvPr id="271" name=""/>
          <p:cNvCxnSpPr>
            <a:stCxn xmlns:a="http://schemas.openxmlformats.org/drawingml/2006/main" id="83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8634413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9FBF524-9A90-442C-AAE4-B9B77B5C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cxnSp>
        <p:nvCxnSpPr>
          <p:cNvPr id="273" name=""/>
          <p:cNvCxnSpPr>
            <a:stCxn xmlns:a="http://schemas.openxmlformats.org/drawingml/2006/main" id="84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8786813" y="4867275"/>
            <a:ext cx="300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2198258-8A58-4691-9C14-B15B61A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cxnSp>
        <p:nvCxnSpPr>
          <p:cNvPr id="275" name=""/>
          <p:cNvCxnSpPr>
            <a:stCxn xmlns:a="http://schemas.openxmlformats.org/drawingml/2006/main" id="85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8939213" y="4867275"/>
            <a:ext cx="385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F55660F-7EBC-45A2-9E53-A1DCC7D8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6483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rPr>
              <a:t>16×200GE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95CD826-430D-4BEC-9993-F2BBA9C6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53075"/>
            <a:ext cx="32670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 / 对象存储（可选）</a:t>
            </a:r>
          </a:p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连接 A / B / C 三柜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FDDAA94-C3A5-42E2-8D36-2AD16327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79" name=""/>
          <p:cNvCxnSpPr>
            <a:stCxn xmlns:a="http://schemas.openxmlformats.org/drawingml/2006/main" id="136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 flipH="1">
            <a:off x="2214563" y="5200650"/>
            <a:ext cx="7905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BD44960-27D7-4477-A82A-82F70D29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1" name=""/>
          <p:cNvCxnSpPr>
            <a:stCxn xmlns:a="http://schemas.openxmlformats.org/drawingml/2006/main" id="138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 flipH="1">
            <a:off x="2214563" y="5200650"/>
            <a:ext cx="502920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FF97DDE-68AD-44C8-AFA2-7382E1B9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3" name=""/>
          <p:cNvCxnSpPr>
            <a:stCxn xmlns:a="http://schemas.openxmlformats.org/drawingml/2006/main" id="140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 flipH="1">
            <a:off x="2214563" y="5200650"/>
            <a:ext cx="915352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53942BC-E7FB-4F4E-9448-B7A325A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9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 / BMC 逐节点连线，存储网逐柜连线；RoCE 共 16 条物理链路。非 RoCE 设备规格待核定。</a:t>
            </a:r>
          </a:p>
        </p:txBody>
      </p:sp>
    </p:spTree>
    <p:extLst>
      <p:ext uri="{BB962C8B-B14F-4D97-AF65-F5344CB8AC3E}">
        <p14:creationId xmlns:p14="http://schemas.microsoft.com/office/powerpoint/2010/main" val="1747845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786E10D-4E5D-4592-AE8D-0A89E2C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F0322-2022-456C-AE89-A5C07A1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 与 910B 的完整软件生态对照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E89F7-BDA3-4392-A54D-E03990BE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分析：同一模型名称背后，是两套驱动、运行库、设备管理和算子实现。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2E312-896A-4C6C-AA84-D6D129A4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37B97-FBF4-4004-8E40-72EA7926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C2137-7250-4769-B5A4-75729C43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7be5e736c4679"/>
          <a:stretch xmlns:a="http://schemas.openxmlformats.org/drawingml/2006/main"/>
        </p:blipFill>
        <p:spPr>
          <a:xfrm xmlns:a="http://schemas.openxmlformats.org/drawingml/2006/main">
            <a:off x="590550" y="1942967"/>
            <a:ext cx="1352550" cy="25744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EE177-A576-48D5-8545-32C00A97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895475"/>
            <a:ext cx="3495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软件生态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4EF78-450E-4CB5-A527-9D3532A5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模型执行路径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4C59A-8114-4DF9-B709-EE248FF8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43150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部署与运维支撑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7D991-6FA1-4241-8D02-9D61F119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F52E3-0ECD-4BBA-BCB2-FA6BD3C9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2485C-F676-4B68-823C-3D3FAB0C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765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推理与服务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A4EF8-53D9-4393-A5C9-D51D073B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384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文本：vLLM；SGLang 需核验 T4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YOLO：TensorRT；Wan：独立管线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3D1CF-66CB-460E-AFFD-3A569A3C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19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2AC20-948E-4D29-9CF7-FCA39F7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DE17F-09D6-4E8B-85A0-F7476865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866B9-F5E6-4E1A-8209-E10EC2D1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算子与量化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3BAA2-304E-49EA-BB3E-AD071F5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CUDA / Triton kernel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AWQ、GPTQ 等按 SM75 核验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0FFD6-945E-4F91-88BA-5AF879CD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1F54A-38D5-4F09-BA78-99130F3C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F267E-5534-427A-AEA2-D1BD942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38567-5BE5-40D9-8621-E918649E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框架适配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68076-77D5-4F2E-A2D6-E30F13C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PyTorch CUDA 构建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Transformers / ONNX（按任务）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82586-0AC7-4959-B3F4-D6113864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005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FCEF9-85E5-4AF2-A924-E4F4B12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55800F-7588-4EA3-AB66-7435E687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257AD-EEDE-4CBB-AEB5-B4B6974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计算与通信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C79FC-23EF-4E68-8A37-447FBBD2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CUDA Runtime / Toolkit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cuBLAS、cuDNN、NCCL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DCA34-606E-4F41-8886-3991DBC8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911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EEB47C-D7DF-42AF-8105-E21DDD3F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83E34B-5C77-43C9-A851-C1F753C3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595FE-9147-403B-9298-B8851CB3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387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宿主机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679E8-35F6-4CC7-94A7-94AA2AE0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006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Linux / 内核、NVIDIA Driver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nvidia-smi / NVML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C98A48-5244-44ED-A779-D4950D80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574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CFDD81-D608-4422-AA08-5D6B7AC5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051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containerd / Docker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 Container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Toolkit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B79F27-D8B3-48CF-810A-79038446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909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6BDFC9-7136-4F91-9E53-124369D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480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K8s 资源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6E3FBE-5E79-4C3D-A32C-432D8F06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957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 Device Plugin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GFD / GPU Operator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（统一管理）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ECA2E0-7D43-4B8A-B158-048FB8E2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815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137EE5-FC26-488E-AD4A-6A9A337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386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监控与运维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32809C-0533-4EB4-8F96-39910E35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863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DCGM Exporter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Prometheus / Nsight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（性能定位）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4B9B72-A1E1-4E85-8F24-FA088A82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721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9b9e37ef94347"/>
          <a:stretch xmlns:a="http://schemas.openxmlformats.org/drawingml/2006/main"/>
        </p:blipFill>
        <p:spPr>
          <a:xfrm xmlns:a="http://schemas.openxmlformats.org/drawingml/2006/main">
            <a:off x="6210300" y="1919144"/>
            <a:ext cx="1352550" cy="305086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640AE2-8F28-4C89-9DA7-157B964D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895475"/>
            <a:ext cx="3495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软件生态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AC0C4C-E9F9-414A-A89D-9CEF085C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模型执行路径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66487F-164A-467E-9EC2-DABD9C71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43150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部署与运维支撑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64E421-C530-428E-847A-8FA0E8A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5A55D6-BE2D-45E0-A9B1-2862143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1E63A5-88EE-4F3B-8CD5-BB9B39FB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765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推理与服务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47DA5A-4569-4F0D-A7E6-BC7D22D9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vLLM＋vLLM Ascend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SGLang Ascend 后端 / MindIE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82B249-7C48-4304-B18C-E663CDC7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4C3B13-21C2-459D-BDB4-A1EFC651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E6EE50-FE53-46ED-8D01-E7295C3C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7A7692-C701-4533-A28F-7435FBF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670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算子与量化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D51BCD-2A12-4199-8741-D184551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C / Triton-Ascend / ATB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SGL Kernel NPU；量化按引擎核验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AD9F23-7D99-4A20-B9D0-28B5984B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647CD0-EBBD-4B87-B3F3-0E469ADA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E62C4C-E37F-4D20-8354-D990E113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4E1791-3361-4D4F-A2F1-19D4492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576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框架适配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428393-3AEC-4CFC-AF95-136C57A9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195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PyTorch＋torch_npu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MindSpore（另一条框架路径）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E4240D-E356-41B0-8F40-A69E04B7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0923E5-F046-4CF9-9855-AED499D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D7C8EF-D403-4D16-A380-E5FACCD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C578D0-ED1A-4925-8763-0AD3EB29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481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计算与通信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FAC4BC-2CC1-4E2B-A1B8-FCBA1DEC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CANN / AscendCL、算子包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HCCL、ATB（按引擎）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2D3620-EC71-4219-AAF3-E881B11C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911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2AA2B0-6484-4DB5-9717-554EF224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EAFD1C-74B4-43C2-A948-74337476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16B733-A3EE-476B-B37B-00650D3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387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宿主机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C52838-0D94-4E59-9963-74BB9D05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006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Linux / 内核、NPU Driver＋固件</a:t>
            </a:r>
          </a:p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npu-smi / DCMI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164E0C-0A6A-4045-AFF1-F8D031CF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574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883EB0-E05B-49A7-84B5-625ABA1B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051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containerd / Docker*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Docker Runtime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设备挂载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1E7640-BE62-4115-AEC8-F890531D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909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3EE409-EAF0-477C-A987-F8C80FEB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480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K8s 资源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703F59-BF9D-4C9E-AD40-054D6B53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957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Device Plugin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Volcano / Ascend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Operator（按需）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10E5709-F808-4F0C-8632-4A71347A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815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5EB767-0FBC-4008-83E8-CA0317D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386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监控与运维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750569-732D-471B-8875-24986D33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863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NPU Exporter / Prometheus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NodeD / ClusterD / msprof</a:t>
            </a:r>
          </a:p>
          <a:p xmlns:a="http://schemas.openxmlformats.org/drawingml/2006/main">
            <a:pPr algn="l"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（按需）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AC42E3-8831-4843-BBE9-BFF74BA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5721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7300EC-5138-4F14-88E7-26B0538B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944F72-C456-480A-8DEE-D97A3CD2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驱动与运行库：设备可用     框架、算子与引擎：模型能跑     部署组件与版本须配套核验</a:t>
            </a:r>
          </a:p>
        </p:txBody>
      </p:sp>
    </p:spTree>
    <p:extLst>
      <p:ext uri="{BB962C8B-B14F-4D97-AF65-F5344CB8AC3E}">
        <p14:creationId xmlns:p14="http://schemas.microsoft.com/office/powerpoint/2010/main" val="1481259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49B7A-9F7B-4B2A-B18D-020BB79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67B2E-A6F0-49FF-920F-FFF7F3ED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软件支持如何转化为模型可部署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7C83E-DF0B-4442-BA8E-4A2B2AC6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方法论：对“模型＋权重格式＋硬件＋引擎版本＋服务规格”验证，而非只查模型名称。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EFFFB-BDE8-4B38-A929-348602E2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70F1E-F179-42A9-B8A2-364009E2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1A270-D238-403D-B691-F7CD8A1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5BA3D-4382-4FA1-9BA4-E20A8C11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定义任务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90AD9-4E9F-4D5B-AEA1-7DFE8AF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0804F-7E0B-40AA-B84C-6CDE26A4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固定模型 revision、精度 / 量化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上下文、并发、TP / PP、接口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67781-76E2-43F8-96DA-16FFF1F3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查支持交集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856CB-6E0A-409F-86C1-1233CB1A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F05DA-BFC9-4E8D-9BBA-79595A3A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核对硬件、模型与特性矩阵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反查算子、框架及运行库版本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2E00D-3CB7-497B-B612-C4D38F3E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冻结软件组合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D4D0B-4C8C-4110-A6EB-B4B69B31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DDCF8-BE91-4E3E-A18F-6416307C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 / 固件、镜像 digest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框架、引擎 / 插件、权重 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B55F4-BF24-41FE-8E7D-6D043B95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实机验收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84B4E-2859-43A3-AA84-3674AA5C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34E54-CC73-40D1-A423-AC69C489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单卡 / 单容器起测，再多卡 / K8s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质量、显存、TTFT / TPOT、稳定性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3209925"/>
          <a:ext xmlns:a="http://schemas.openxmlformats.org/drawingml/2006/main" cx="110490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81500"/>
                <a:gridCol w="4381500"/>
              </a:tblGrid>
              <a:tr h="333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例子：部署 Qwen3-8B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上怎么做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上怎么做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先准备运行环境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安装 NVIDIA 驱动，使用 CUDA 镜像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镜像内装匹配的 PyTorch 和 vLLM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安装 NPU 驱动与固件，使用 CANN 镜像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装匹配的 torch_npu、vLLM 和 Ascend 插件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为什么不能直接照搬？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先选 FP16、小上下文、单卡试跑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8B 权重约 16GB，另需 KV 缓存，可能放不下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镜像不能直接用，需换昇腾后端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还要核对该模型的算子和精度是否受支持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怎么知道真的能用？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若显存不足，选受支持的量化或多卡方案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同一组问题检查答案，再测并发与响应时间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先检查答案与显存，再测多卡通信和并发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容器能启动、能识别卡，都不算模型验收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13857-526D-4F7D-8702-A186FEF3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结论：同一个模型，两套软件环境；能加载、答得对、速度达标，才算部署通过。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D3C36-3A59-4E81-8853-1DB925B1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1010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官方依据：[1] GPU Operator  [3] MindCluster  [4] torch_npu 配套  [5–6] vLLM 硬件 / 量化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50948-C913-4191-B717-3E2460EF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[7–8] vLLM Ascend 安装 / 模型矩阵  [9–10] SGLang 安装 / Ascend 模型表   完整链接见备注与参考文档</a:t>
            </a:r>
          </a:p>
        </p:txBody>
      </p:sp>
    </p:spTree>
    <p:extLst>
      <p:ext uri="{BB962C8B-B14F-4D97-AF65-F5344CB8AC3E}">
        <p14:creationId xmlns:p14="http://schemas.microsoft.com/office/powerpoint/2010/main" val="167374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14362-207C-4061-A7D3-FFBD272E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262F0-68C6-4060-A25C-93953520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适配方法论：逐关核验，最后用实机结果判定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F41B9-A86C-4EEF-A732-D52370DA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先固定模型版本、权重格式和服务目标：输入 / 输出长度、并发数，或图像 / 视频规格。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B366F-3525-4C2B-9149-8CE12852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9E4FF-906E-43F4-9531-CFD8ADCE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8EC44-3670-4452-ADFF-F7A2EC56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872D0-4C0A-42AB-8EB1-CA6A34AC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9090D-F9AA-4CE8-9B09-0DCC91D3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145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硬件支持这种精度吗？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B3A67-42BA-4533-A75B-4BDF73E9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查卡型、单卡显存和官方精度能力，再核对驱动 / CANN / CUDA 配套。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 优先核验 FP16 / INT8 路径；4 位权重还需专用算子，不能只看“支持 INT8”。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2280A-BA4C-4F33-9FC0-BEA29864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产物：卡型＋精度候选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8BE20-FB3F-4775-9DA9-0F59CA58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70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D30DF-7FEA-40D2-9244-0984F5D5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670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推理引擎能运行这个模型吗？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3345B-6B8D-439E-8F8C-4DC54685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004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查具体模型结构、量化格式、注意力 / MoE 算子和多卡模式的版本支持。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例如：T4 的 Qwen3.5-9B 先查 llama.cpp 的 GGUF 路径；910B 查 Ascend 后端。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6D843-772D-42D1-9822-AE7A29B7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产物：可复现的软件组合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F5562-E005-431D-9283-3E38FB4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049DD-65FC-490C-9792-D01BFBAC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95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每张卡的显存够吗？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E6AB6-D69B-4C8C-843D-1A9D837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529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逐卡峰值＝权重分片＋复制权重＋KV 缓存＋工作区 / 通信缓冲＋预留空间。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例：9B × 2 字节 ≈18GB，仅 FP16 权重已超 T4 16GB，需量化或受支持的多卡方案。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67DF3-06BD-4EA5-B53A-8E2CA79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产物：卡数与负载上限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908A1-F3A1-4E31-B725-AC002F83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20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0782F-EF99-496A-8C03-70835DC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720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部署效果达到要求吗？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4510B-AB9F-4D0D-BB7A-9EE87484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054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先加载并用固定样本检查输出质量，再增加上下文与并发，记录显存和响应时间。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双机验证 HCCL / RoCE；YOLO 测检测精度与延迟，Wan 测视频质量与生成耗时。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DDC05-0021-49C9-B51C-5B431E23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产物：测试记录与验收结论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2D865-0970-4EFC-BDE2-92A07BA0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判定：四关通过才标“适配通过”；资料匹配标“候选”；缺少双机证据标“待验证”。</a:t>
            </a:r>
          </a:p>
        </p:txBody>
      </p:sp>
    </p:spTree>
    <p:extLst>
      <p:ext uri="{BB962C8B-B14F-4D97-AF65-F5344CB8AC3E}">
        <p14:creationId xmlns:p14="http://schemas.microsoft.com/office/powerpoint/2010/main" val="442024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974E1-A116-49F1-B24C-AF69A2DC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B8856-012D-47DE-9F6F-23BCD3AE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现有设备的模型适配清单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FFBC7-0838-4D00-9B26-5B8E535E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910B：2 台 × 8 卡，暂按 64GB / 卡；T4：6 台 × 8 卡 × 16GB。以下均未完成实机验收。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FF520-518F-4BFE-AE8C-41101E37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FE617-1F8A-4EBD-AA74-0C1DA3E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556C6-F0E5-400F-B19C-FAAA328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24050"/>
          <a:ext xmlns:a="http://schemas.openxmlformats.org/drawingml/2006/main" cx="110490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810000"/>
                <a:gridCol w="3857625"/>
              </a:tblGrid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 / 候选模型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精度与引擎路径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参考规模 / 当前判断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Qwen3.8-27B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/ W8A8，vLLM Ascend [5]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 A2 参考，优先验证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MiniMax-M3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[4]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 A2 参考，单机候选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GLM-5.3-Flash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[2]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双台 A2 参考，双机候选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Kimi-K2.6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W4A8，vLLM Ascend [6]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双台 A2 参考，16 卡候选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DeepSeek-V4.1-Flash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[1]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参考为四台 A2；双机显存 / 并行待验证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GLM-5.3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W8A8C8，vLLM Ascend，实验支持 [3]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参考为四台 A2；双机显存 / 并行待验证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Qwen3.5-0.8B / 2B / 4B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兼容的 FP16 / GGUF，llama.cpp [12]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单卡候选，逐型号验证算子与显存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Qwen3.5-9B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GGUF Q4_K_M，llama.cpp [8]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已有单 T4 目录参考，优先验证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YOLO26n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 / TensorRT [9]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T4 基准，验证实际检测任务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Wan2.1-T2V-1.3B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独立视频管线，核验 FP16 后端 [10]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8.19GB 官方参考非 T4 实测，条件候选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928C5-147B-4808-A5ED-3D0246EC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结论：先验证 Qwen3.8-27B、T4 的 Qwen3.5-9B 量化与 YOLO26n，再扩展候选。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1C44A-C006-44F2-9EA2-E8846A5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四机参考不等于双机不可部署。模型独立评估，不代表可同时驻留。Qwen 按总参数 &lt;20B 筛选 T4 候选。</a:t>
            </a:r>
          </a:p>
        </p:txBody>
      </p:sp>
    </p:spTree>
    <p:extLst>
      <p:ext uri="{BB962C8B-B14F-4D97-AF65-F5344CB8AC3E}">
        <p14:creationId xmlns:p14="http://schemas.microsoft.com/office/powerpoint/2010/main" val="20564869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19A0D9-65BF-41B8-BD09-F91D3758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CD149-4B61-4A14-82FE-9AD0F741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模型部署全流程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3D174-A08D-4F4C-B1F4-8198C238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从模型仓库到 MASS 服务：四个阶段推进，验收通过后发布。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3C7A5-4D5A-4E4C-A3AF-37FE0DCC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DF8EB-F849-4244-B270-6E91E797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87879-603D-4419-91FB-B9F457DC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FF0A1-8F67-47CC-95B9-19D1BA30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CC901-A283-497C-AA5D-98CB221A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94BDC-C92B-4154-9585-2BD195E5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0080A-9303-4427-B440-E563CC9E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9C985-E87F-48CD-AF98-2830152D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73ACB-F346-4986-9552-6D69C80A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运行环境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C5D18-9188-4CA2-8C31-562D3A9D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7F024-A709-4CA3-A12C-4324E7A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95C62-7917-4622-A391-A27A83ED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F9A1F-5A26-47BA-9D5D-DFE22B3C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推理服务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51E9A-BD78-4B9A-BE12-DA25739B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BFD8B-30E8-4A80-B95E-21D23F9F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3F0B7-21B8-45A1-A9B2-8EAA66AD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0C6A3-9643-40BF-AFBA-361AE0F9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验收与交付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16BA3-FD63-40FC-9B3C-E06949E6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3559E-9615-4807-9450-C5736F9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确定规格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DA943-70D7-4443-8EEC-B7C7571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仓库 / revision、精度与卡数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 / 并发、许可与权限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E0FF4-B139-464D-94A5-316D3463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下载与校验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19F0A-B7DD-4A88-8224-A681E4F6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Hugging Face / ModelScope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权重分片、配置、SHA256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608E6-C221-4579-A8DF-E815942A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准备权重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F9329-A1D7-453D-87CE-948CD246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按需量化 / 格式转换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补齐 tokenizer 与视觉组件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58CDB-8F5F-48DD-8A7C-BFBE388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节点与驱动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01A88-CC89-49C7-887F-7B3EECE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OS、IP / 时间、磁盘 / 权限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驱动与固件、设备健康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859955-F178-4111-8961-0CF2632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模型与镜像分发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AE270A-0866-4E20-B46E-1E655F87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各节点权重一致、固定路径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镜像配套、固定 digest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3F23E-8D7D-4ECE-8418-0C044639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容器接入设备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F9E532-6668-4B38-996A-8E8CD5D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透传卡与驱动库、挂载目录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共享内存 / 端口、容器内验卡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9B734F-6060-4A22-8324-684A6D54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分支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D02765-352F-4EEC-BA1C-5AF819DF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镜像＋vLLM Ascend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 A2 配方配置精度与并行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31A12-50F2-43CD-9231-E67F4AED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分支：按适配选引擎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E06BC0-B307-4DB8-B036-B6D0C6E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vLLM / SGLang（核验支持）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Ollama / llama.cpp（候选）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001275-B781-4204-8B1A-5EFEA11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启动与扩展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704460-658C-45D4-B93A-64B01E8B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先单机低负载；双机先验 RoCE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再配 rank / TP / DP / 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5CAC45-9D7E-49DA-B5A6-75C1617E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接口与质量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90D9E8-704E-4C21-B1F0-8829776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健康检查、模型列表、推理 API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固定样本、流式输出、停止条件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554B09-1FF6-4B7C-B301-1A998B82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负载与稳定性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7A9AE6-2619-4F88-A15E-6FF3A97A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增加上下文 / 并发，记录显存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TTFT / TPOT / 吞吐，视觉另测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465FA5-5A3D-4DC5-A279-1774954E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MASS 接入与发布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AE2252-16EC-49AD-A30E-41F58826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计量、端到端验证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进程托管、监控、小流量与回退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1E3C3C-0DEC-4EB7-B82F-651259B9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6D55C-3DBF-4087-B6AD-44DDB744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权重完整且可追溯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5834A3-EADF-419A-9BD6-DE05B73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容器内设备可用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F61A4F-C7CE-466C-BD38-1A838D29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服务启动且可调用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F210C2-9215-4D0C-9165-0A1C9D02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效果达标并可恢复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FEEB33-00B9-441B-9EFC-4643E77C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文本引擎按模型 / 量化 / 算子支持选型；YOLO / Wan 使用独立管线。详细命令见配套操作清单。</a:t>
            </a:r>
          </a:p>
        </p:txBody>
      </p:sp>
    </p:spTree>
    <p:extLst>
      <p:ext uri="{BB962C8B-B14F-4D97-AF65-F5344CB8AC3E}">
        <p14:creationId xmlns:p14="http://schemas.microsoft.com/office/powerpoint/2010/main" val="16438588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F05E6-BF69-4612-9A09-3339F78D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0D458-5078-488A-918E-81AB39E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压测方法：逐级加压，找到满足服务目标的最大并发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BC67F-B148-47FD-9DD0-F75E479E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从独立压测机直连推理服务测基线，再经 MASS 复测；固定模型、精度、卡数、长度和缓存场景。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909DD-AFFE-4285-ACC4-179CC39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D2773-6210-4CA7-88FF-BE94CE1C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99F75-C886-406D-AACC-ED98FD1F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00CAC-36C6-47C6-9F7A-9393D936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1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选择开源压测工具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2333625"/>
          <a:ext xmlns:a="http://schemas.openxmlformats.org/drawingml/2006/main" cx="11049000" cy="1276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95750"/>
                <a:gridCol w="4667250"/>
              </a:tblGrid>
              <a:tr h="304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工具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调用入口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本项目用法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自带工具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bench serve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设置 --max-concurrency 与 --request-rate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SGLang 自带工具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python -m sglang.bench_serving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设置 --max-concurrency，导出逐请求结果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EvalScope（统一复测）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evalscope perf --api openai --stream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 --parallel 扫并发，对齐两类服务的负载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86E04-369A-4984-8A42-4C3A5766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构造三组负载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EC117-A8CA-4043-82E8-3ACFD17B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无命中：独立前缀，核验命中≈0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有命中：预热公共前缀＋不同后缀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混合：按业务比例组合，实测命中率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A913D-4EC1-4196-8ECC-478724AC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95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逐级增加并发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2FD56-27EF-4C17-AA60-F61E7567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示例：1、2、4、8、16、32…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临界区细扫，直至超时 / SLA 失败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记录实际在途请求与服务端排队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77420-35A2-4FAB-A851-4169B3AF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95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复测最大可用并发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DD6E1-7F4D-4F23-ACCF-282D0B6A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386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每档预热后测稳态，临界点重复3次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吞吐不再增加且延迟上升时标饱和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最大可用并发须满足延迟与成功率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62B17-1BC8-4E03-8FA3-4594B5E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测量纪律：流式响应计时；预热不计入；三组保持相同输入 / 输出长度；记录失败与提前结束。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56A71-2945-422C-9713-F663FFC0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1101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交付结果：并发—吞吐—P95 延迟曲线，分别标注饱和点与满足 SLA 的最大可用并发。</a:t>
            </a:r>
          </a:p>
        </p:txBody>
      </p:sp>
    </p:spTree>
    <p:extLst>
      <p:ext uri="{BB962C8B-B14F-4D97-AF65-F5344CB8AC3E}">
        <p14:creationId xmlns:p14="http://schemas.microsoft.com/office/powerpoint/2010/main" val="1543071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78777-2342-40F4-B9F6-6D3390EB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5A763-B7B4-41D7-9147-204B7159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记录指标：延迟、并发与三类 Token 吞吐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A3638-7DF5-41D9-8C82-C9C9FE96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每个模型 × 精度 × 卡数 × 长度组合 × 缓存场景 × 并发档，单独保留一行结果和原始请求记录。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29EC6-3B48-4FF5-9567-13FD9A5C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20E23-F6DE-4399-9392-9C053077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48AD0-4E0E-4928-AD9C-EEFFB048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14525"/>
          <a:ext xmlns:a="http://schemas.openxmlformats.org/drawingml/2006/main" cx="110490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143500"/>
                <a:gridCol w="3429000"/>
              </a:tblGrid>
              <a:tr h="333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必须记录的指标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定义与单位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统计 / 取数方式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并发与可靠性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 / 实际并发、请求速率、成功率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超时数、错误数、排队长度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压测端请求日志＋服务端运行 / 等待指标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TTFT：首 Token 延迟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首个有效输出 Token 时间－请求发出时间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ms，记录 P50 / P95 / P99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客户端流式计时，包含网络、排队和 Prefill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TPOT：平均后续 Token 间隔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（最后 Token 时间－首 Token 时间）/（输出数－1）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ms/token，输出数≤1时不计算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逐请求计算再汇总分位数；另存 E2E 延迟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Prefill 无命中吞吐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Σ（输入 Token－命中 Token）×60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分别报告冷 / 热 / 混合场景，T 为统一计时秒数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Prefill 缓存命中吞吐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 命中 Token 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token/min，表示缓存复用服务量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读实际 cached_tokens；缺失则标不可得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Decode 输出吞吐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 实际输出 Token 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以实际返回 Token 计数，不能使用最大输出长度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辅助与资源指标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 / 输出总量、命中率、E2E 分位数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逐卡峰值显存、利用率、功率 / 网络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命中率＝命中输入 / 总输入；保留版本与卡数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16569-A01B-4142-BFE7-DA951F7B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口径：统一测量窗口及请求集合；报告成功请求吞吐，同时保留失败请求数量和资源消耗。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DC379-2692-4757-85E9-D613F4F3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101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缓存命中吞吐不是重新计算的算力吞吐。混部测得的是服务吞吐，不能直接当作独立 P / D 集群产能。</a:t>
            </a:r>
          </a:p>
        </p:txBody>
      </p:sp>
    </p:spTree>
    <p:extLst>
      <p:ext uri="{BB962C8B-B14F-4D97-AF65-F5344CB8AC3E}">
        <p14:creationId xmlns:p14="http://schemas.microsoft.com/office/powerpoint/2010/main" val="9925499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30E54-9DEB-42EB-A13E-6AE29AE3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BC037-2E24-41A4-8F37-81A61379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月收入测算：三类 Token 分开计价，再求和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56691-83E8-46AB-A9AF-6D0A6618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统一使用同一负载下整套服务的吞吐（token/min），单价取数值，单位为元 / 百万 Token。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5CB56-CF32-4E5E-95FD-6470AB8D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53581-CC26-44D2-8C85-0C45FE5F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6B836-B73D-4AE2-88F3-9AA4FAF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E1CB7-24B2-48AA-ABB9-B302A5EB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3CE4F-4600-490F-9B67-CEA1B287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输出月收入＝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578DD-5B16-4B3B-AD92-FF4015C6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［整套服务输出吞吐 ×（30天 × 24小时/天 × 60分钟/小时）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414A4-9047-42A8-A0C2-A74F5BB7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输出单价］÷ 1,000,000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D16D7-1809-49EC-A0FB-1624878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DCC34-F817-4111-97F7-A58B01BC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未命中输入月收入＝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E1942-0BFE-4AE9-A5A6-766C7F5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［整套服务未命中输入吞吐 ×（30天 × 24小时/天 × 60分钟/小时）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2FA60-CC0A-4A2D-850F-6A184B36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未命中输入单价］÷ 1,000,000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08634-6F51-4733-97A8-DD56D85F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FC95C-59A6-48C3-BE4B-2D42748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缓存命中输入月收入＝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A4FB2-F880-4D1B-8EC7-8DF6B7A3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［整套服务缓存命中输入吞吐 ×（30天 × 24小时/天 × 60分钟/小时）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3F74A-659D-4B08-B230-4BA89381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缓存命中输入单价］÷ 1,000,000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A6CB8-4634-4B12-A0CC-A619C765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吞吐用 token/min；单价取数值（元 / 百万 Token）。整套服务吞吐已包含卡数，不再乘卡数。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41665-47E7-4DAB-BBE4-6CBF310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可计费产出比例：实际月度可计费用量，占按该压测速度持续运行30天的理论用量比例。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16239-83A2-4291-AD0A-4CFE8CBE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104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8A858-72E6-43B7-BD99-E8FA30B2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959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文本月收入＝输出月收入＋未命中输入月收入＋缓存命中输入月收入</a:t>
            </a:r>
          </a:p>
        </p:txBody>
      </p:sp>
    </p:spTree>
    <p:extLst>
      <p:ext uri="{BB962C8B-B14F-4D97-AF65-F5344CB8AC3E}">
        <p14:creationId xmlns:p14="http://schemas.microsoft.com/office/powerpoint/2010/main" val="20023298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B1FD9-1438-4591-8B9E-D76C92CE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697B2-73B2-43B7-8CEF-F1B21489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144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DeepSeek-V4.1-Flash：官方价格与文本收入算例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63808-AA47-49C4-B77C-F9A9C4C2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人民币 / 百万 Token，查询日期 2026-09-16。API 模型名：deepseek-flash。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9CFB5-7FAE-4184-B128-E1150EE0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A0AE9-577F-4385-9AE0-1E33B144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1308F-C990-418F-BFE1-5B8D6D4F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de390d6bf491f"/>
          <a:stretch xmlns:a="http://schemas.openxmlformats.org/drawingml/2006/main"/>
        </p:blipFill>
        <p:spPr>
          <a:xfrm xmlns:a="http://schemas.openxmlformats.org/drawingml/2006/main">
            <a:off x="571500" y="923925"/>
            <a:ext cx="552450" cy="5524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981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2524125"/>
                <a:gridCol w="2524125"/>
                <a:gridCol w="2524125"/>
              </a:tblGrid>
              <a:tr h="3143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官方公开 API 单价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输入缓存命中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空闲时段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高峰时段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0.04元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AECD2-6325-4412-888A-98F54E3C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101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高峰：北京时间周一至周五 9:00–12:00、14:00–18:00；其余为空闲时段。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6E3A4-2B5A-41FA-B55D-F05AC8E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假设同一负载：输入600,000 token/min，90%命中；输出60,000 token/min，产出比例50%。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3752850"/>
          <a:ext xmlns:a="http://schemas.openxmlformats.org/drawingml/2006/main" cx="1104900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7000875"/>
                <a:gridCol w="1714500"/>
              </a:tblGrid>
              <a:tr h="3143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按空闲时段单价估值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月收入计算（元）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结果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［60,000 ×（30 × 24 × 60）× 50% × 1］÷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1,296.00元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缓存命中输入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［540,000 ×（30 × 24 × 60）× 50% × 0.02］÷ 1,000,000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233.28元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［60,000 ×（30 × 24 × 60）× 50% × 4］÷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5,184.00元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36C63-C471-4426-ADA7-E70D7C1E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A63F9-4DCC-494E-99B9-1B70D3DC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文本月收入估值＝1,296.00＋233.28＋5,184.00＝6,713.28元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BF863-549A-45E9-87B0-769F2E3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吞吐与产出比例均为假设，非设备实测。此处统一按空闲价估值；实际跨时段须按各时段用量分别计价。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E7281-E278-466E-8AB0-3287213E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1010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公开 API 零售价仅作参照，不等于平台采购价或已实现收入。官方价格链接见备注与配套说明。</a:t>
            </a:r>
          </a:p>
        </p:txBody>
      </p:sp>
    </p:spTree>
    <p:extLst>
      <p:ext uri="{BB962C8B-B14F-4D97-AF65-F5344CB8AC3E}">
        <p14:creationId xmlns:p14="http://schemas.microsoft.com/office/powerpoint/2010/main" val="15339695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5563F-0D1F-424C-AA84-B75E3CF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4AD76-227A-4FE4-92FC-59F64AF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计量与结算：请求如何形成双方认可的账单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A60B7-B952-4536-9891-A90A61F7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拟议条款从平台接受的服务目录开始，连接双方认可的用量证据。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1C24D-C809-4BF3-9633-D342D0A7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8F9D7-2B1E-4FF6-9B48-23776F03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FD27D-53E8-4F0D-B4B6-6EF2DB6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E74C4-C861-4D32-A665-F24F2BDE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服务目录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 / 任务规格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48EB4-8102-4FB7-AE49-391A726E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请求或任务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统一关联 ID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0032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D14DC-7127-4F48-BA45-16719B6A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用量明细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计数与状态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5775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7D3E3-43B6-4D4D-9D80-F5F6EAB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对账确认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差异与冲正</a:t>
            </a:r>
          </a:p>
        </p:txBody>
      </p:sp>
      <p:cxnSp>
        <p:nvCxnSpPr>
          <p:cNvPr id="3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1517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5426D-FE1D-49CE-BA88-361B8099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结算条目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单价与周期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7260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3219450"/>
          <a:ext xmlns:a="http://schemas.openxmlformats.org/drawingml/2006/main" cx="110490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5029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必须约定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拟议处理方式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留存证据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输入、输出与缓存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 Tokenizer 和缓存定义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三类单价、币种税费分别写明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规则版本、原始计数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平台与供应方明细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超时、重试、部分输出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逐类约定是否计费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重复事件去重，重试保留关联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attempt ID、状态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实际交付量与异常记录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对账差异与结算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确定权威依据、核验时限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冲正、补结算和账期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差异单、确认单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结算单与调整记录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85D1D-7A35-4316-9BAD-E9441621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技术可运行仍需平台认可模型、区域、容量与质量规格，才具备采购前提。</a:t>
            </a:r>
          </a:p>
        </p:txBody>
      </p:sp>
    </p:spTree>
    <p:extLst>
      <p:ext uri="{BB962C8B-B14F-4D97-AF65-F5344CB8AC3E}">
        <p14:creationId xmlns:p14="http://schemas.microsoft.com/office/powerpoint/2010/main" val="16883476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DDEC0-90D3-4B9A-9D29-7357C887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774F7-AC17-4148-B682-AC14D7FF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服务与责任：承诺范围匹配架构和实测能力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5865C-944C-45C6-B4F6-61D4369D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拟议协议在可验收范围内确定服务窗口、维护、故障处理与责任。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45743-0810-4528-910D-DAD9E8E8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AD0AC-7A02-4CA0-A7DF-58842C0E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37E3D-9BAA-4AF4-9FBC-0F45A84F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800600"/>
                <a:gridCol w="38862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当前约束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需要约定的边界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验收与责任证据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一台 RoCE 交换机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无交换机级冗余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维护窗口、故障响应与赔付边界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故障演练与恢复记录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运维联系人和升级路径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性能尚未实测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绑定模型、精度、上下文与配额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以验收负载确定服务目标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双方验收报告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监控口径与限流记录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模型与版本会变化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变更审批、回归测试和回退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禁用不满足许可的供给方式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模型权利依据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版本清单与发布记录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数据、暂停与退出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用途、留存、权限和责任分工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余额清算、数据处理与开票回款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访问与删除记录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最终对账单及回款凭证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51864-685F-4C4A-BA26-AEE8E3F3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SLA 数值和赔付条款留待验收及双方协商，现阶段不承诺未经验证的可用性。</a:t>
            </a:r>
          </a:p>
        </p:txBody>
      </p:sp>
    </p:spTree>
    <p:extLst>
      <p:ext uri="{BB962C8B-B14F-4D97-AF65-F5344CB8AC3E}">
        <p14:creationId xmlns:p14="http://schemas.microsoft.com/office/powerpoint/2010/main" val="4583877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B7811-04C7-47CB-BF9C-DAC116BF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05BCE-AA65-408E-8485-7844109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协作与回款：各角色按凭证完成交接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A1151-1A37-4BD8-A868-B94E0B79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建议流程：技术、商务和财务在每个阶段明确接收什么产物。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16697-5518-4592-A9D3-FF56D58C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F8731-2702-4B90-8AA8-2844847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0BA45-9D38-4F64-8DF1-8A8DBE5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2943225"/>
                <a:gridCol w="2943225"/>
                <a:gridCol w="31908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责任角色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立项与准备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验收与试供给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月度经营与回款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资源与预算确认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首轮范围批准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试供给决策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经营复盘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后续资源决策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 / 运维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设备、网络和模型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版本与部署记录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质量/压测验收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接入、发布与回退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用量明细与告警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差异核验与复测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 / 法务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平台采购规格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模型与服务权利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报价和合同评审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双方验收确认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对账确认与争议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逾期跟进与变更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成本边界与预算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价格口径核对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报价及结算条款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账期和开票要求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结算、开票与收款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凭证归档和分摊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0C41A-E657-4379-A43B-1AC510A2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同批请求贯通用量、对账确认、结算、发票与回款，才能宣称完成商业闭环。</a:t>
            </a:r>
          </a:p>
        </p:txBody>
      </p:sp>
    </p:spTree>
    <p:extLst>
      <p:ext uri="{BB962C8B-B14F-4D97-AF65-F5344CB8AC3E}">
        <p14:creationId xmlns:p14="http://schemas.microsoft.com/office/powerpoint/2010/main" val="466177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F042A-0928-4595-B0E3-3C6BEC79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10940-64E2-4F50-BEC1-5F82E46A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闭环验收：下一阶段通过条件与责任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07452-16B5-468C-9B8F-B474F99A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当前已确认资源基线与分柜原则，模型、平台采购和实测证据仍需逐步补齐。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0227B-062D-46E1-B236-A70372D6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46249-38EF-4562-9872-4E1D4B55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99EB1-394E-4C63-B98B-BD148FD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533900"/>
                <a:gridCol w="41338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评审事项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进入下一阶段的通过条件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下一项证据 / 责任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首轮服务范围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等具体版本完成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质量、负载与计量联调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显存/功率清单、版本包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设备运维与模型负责人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平台试供给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平台接受服务规格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性能目标、采购价和规则明确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接入验收、报价与协议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平台技术、商务、财务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商业闭环与扩容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同批真实用量完成结算回款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订单需求和经济性支持扩容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对账单、回款、经营复盘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商务、财务、项目负责人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FBA0B-F23A-4911-B879-1FD09588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48275"/>
            <a:ext cx="1099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当前决策建议：继续最小文本闭环验证。YOLO 与 Wan 保持独立 PoC。</a:t>
            </a:r>
          </a:p>
        </p:txBody>
      </p:sp>
    </p:spTree>
    <p:extLst>
      <p:ext uri="{BB962C8B-B14F-4D97-AF65-F5344CB8AC3E}">
        <p14:creationId xmlns:p14="http://schemas.microsoft.com/office/powerpoint/2010/main" val="1685118971"/>
      </p:ext>
    </p:extLst>
  </p:cSld>
</p:sld>
</file>

<file path=ppt/source02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source02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2026-09-16T10:20:31.1170000Z</dcterms:created>
  <dcterms:modified xsi:type="dcterms:W3CDTF">2026-09-16T10:20:31.1170000Z</dcterms:modified>
</coreProperties>
</file>

<file path=ppt/source02/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15793a420d554770" /><ns0:Relationship Type="http://schemas.openxmlformats.org/officeDocument/2006/relationships/slideMaster" Target="slideMasters/slideMaster1.xml" Id="R4f54e5979ea0454b" /><ns0:Relationship Type="http://schemas.openxmlformats.org/officeDocument/2006/relationships/notesMaster" Target="notesMasters/notesMaster1.xml" Id="Raf80093a8cc24098" /><ns0:Relationship Type="http://schemas.openxmlformats.org/officeDocument/2006/relationships/presProps" Target="presProps.xml" Id="Rcf53e3e947684c66" /><ns0:Relationship Type="http://schemas.openxmlformats.org/officeDocument/2006/relationships/tableStyles" Target="tableStyles.xml" Id="R3dfe6555fc3643f6" /><ns0:Relationship Type="http://schemas.openxmlformats.org/officeDocument/2006/relationships/slide" Target="../../slides/slide2.xml" Id="Rfef881079b8f4219" /></ns0:Relationships>
</file>

<file path=ppt/source02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6d2cc8844f0c4ffb" /></ns0:Relationships>
</file>

<file path=ppt/source02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ource02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2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2.xml" Id="R1246109d36e1424a" /><ns0:Relationship Type="http://schemas.openxmlformats.org/officeDocument/2006/relationships/notesMaster" Target="../notesMasters/notesMaster1.xml" Id="Ra4983d87610945cf" /></ns0:Relationships>
</file>

<file path=ppt/source02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目录与当前11份子PPT的顺序一致。封面及目录占第1、2页，九个内容主题占第3至18页。模型适配与模型部署分别列示。收益分析限定文本收入。页码按照当前合并顺序计算。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2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02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54e5979ea0454b"/>
  </p:sldMasterIdLst>
  <p:notesMasterIdLst>
    <p:notesMasterId xmlns:r="http://schemas.openxmlformats.org/officeDocument/2006/relationships" r:id="Raf80093a8cc24098"/>
  </p:notesMasterIdLst>
  <p:sldIdLst>
    <p:sldId xmlns:r="http://schemas.openxmlformats.org/officeDocument/2006/relationships" id="256" r:id="Rfef881079b8f4219"/>
  </p:sldIdLst>
  <p:sldSz cx="12192000" cy="6858000"/>
  <p:notesSz cx="6858000" cy="9144000"/>
</p:presentation>
</file>

<file path=ppt/source02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772f5e928ede4f86" /></ns0:Relationships>
</file>

<file path=ppt/source02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ource02/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404b1760dd97429b" /><ns0:Relationship Type="http://schemas.openxmlformats.org/officeDocument/2006/relationships/slideLayout" Target="../slideLayouts/slideLayout1.xml" Id="R14fc23d2c76a4636" /></ns0:Relationships>
</file>

<file path=ppt/source02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fc23d2c76a46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ource02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2/ppt/tableStyles.xml><?xml version="1.0" encoding="utf-8"?>
<a:tblStyleLst xmlns:a="http://schemas.openxmlformats.org/drawingml/2006/main" def="{5C22544A-7EE6-4342-B048-85BDC9FD1C3A}"/>
</file>

<file path=ppt/source02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3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source03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2026-09-16T06:11:58.7430000Z</dcterms:created>
  <dcterms:modified xsi:type="dcterms:W3CDTF">2026-09-16T06:11:58.7430000Z</dcterms:modified>
</coreProperties>
</file>

<file path=ppt/source03/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a2a43fc30a414b75" /><ns0:Relationship Type="http://schemas.openxmlformats.org/officeDocument/2006/relationships/slideMaster" Target="slideMasters/slideMaster1.xml" Id="R5c46b7511f914017" /><ns0:Relationship Type="http://schemas.openxmlformats.org/officeDocument/2006/relationships/notesMaster" Target="notesMasters/notesMaster1.xml" Id="R22157ca2d46b47f3" /><ns0:Relationship Type="http://schemas.openxmlformats.org/officeDocument/2006/relationships/presProps" Target="presProps.xml" Id="R2822241863d148e9" /><ns0:Relationship Type="http://schemas.openxmlformats.org/officeDocument/2006/relationships/tableStyles" Target="tableStyles.xml" Id="Rbd3415bf9b3945c5" /><ns0:Relationship Type="http://schemas.openxmlformats.org/officeDocument/2006/relationships/slide" Target="../../slides/slide3.xml" Id="Rdf55e519b5514abd" /><ns0:Relationship Type="http://schemas.openxmlformats.org/officeDocument/2006/relationships/slide" Target="../../slides/slide4.xml" Id="R259b3cdda9c04ff6" /></ns0:Relationships>
</file>

<file path=ppt/source03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f6a4379e4fb4480c" /></ns0:Relationships>
</file>

<file path=ppt/source03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ource03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3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3.xml" Id="R8555a10f6e7f4484" /><ns0:Relationship Type="http://schemas.openxmlformats.org/officeDocument/2006/relationships/notesMaster" Target="../notesMasters/notesMaster1.xml" Id="R3234246f6ad54735" /></ns0:Relationships>
</file>

<file path=ppt/source03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4.xml" Id="R68000bf422f94628" /><ns0:Relationship Type="http://schemas.openxmlformats.org/officeDocument/2006/relationships/notesMaster" Target="../notesMasters/notesMaster1.xml" Id="Rfa0e678ff15846a7" /></ns0:Relationships>
</file>

<file path=ppt/source03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依据用户2026-09-16提供的硬件参考截图：/Users/lin/Desktop/截屏2026-09-16 14.01.50.png。已确定台数、卡数及RoCE配置来自本任务用户要求。参考配置为候选BOM，不代表现有实物验收结果。截图CPU型号照录Kunpeng 920_5250；加速卡照录Ascend 910_4-64G，与用户指定910B尚需按物料编码及设备报告确认，不把64G视为910B已验收显存。通算参考CPU单颗2.1GHz/20核，2颗合计40核；内存384GB。910B参考内存768GB。容量均原始配置，不推定RAID后的可用空间。T4的CPU、内存和磁盘无参考，故不编造。T4单卡16GB沿用原报告NVIDIA数据表 https://www.nvidia.cn/content/dam/en-zz/Solutions/Data-Center/tesla-t4/t4-tensor-core-datasheet.pdf 。机柜C按最新用户要求展示6台既有通算，容量未指定。两台910B每台超过5kW为用户输入，A/B各一台；混装方案须核验整机峰值、U位、承重、制冷、PDU和故障供电。功率超过可用额度时调整T4位置，不表示本方案已通过上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3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来源：用户硬件参考截图 /Users/lin/Desktop/截屏2026-09-16 14.01.50.png 及用户本任务已确认配置。交换机48口等为参考规格，不是本期已批准采购清单。RoCE已确认1台；32×200GE与16×400GE为参考的两种选择，不累计成两台。400GE分拆还需核验breakout能力、端口模式、FEC、模块和线缆兼容，不能仅凭MPO线认定可用。32个200GE模块是两台910B共16条光链路双端总数，不包含业务网络模块。参考服务器网络原文：网卡0为6×GE（1个Mgmt管理网口、1个调试串口、4个板载口），另行写4×GE+4×25GE+2×200GE+2×200GE+2×200GE+2×200GE+2×25GE+IPMI。该参考将串口与GE混列、管理项可能重复，因此不直接累加成采购数量；RoCE按已确定每机8×200GE，业务网及BMC按实物端口表去重核验。对象存储参考CPU单颗2.4GHz/12核，硬盘原始容量不能直接作为可用容量，冗余策略及台数尚未定义。对象存储不计入14台已确定服务器，也不擅自放入现有三柜。所有整机配件包含检查完整性，并非主张现有设备全部重新采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3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03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6b7511f914017"/>
  </p:sldMasterIdLst>
  <p:notesMasterIdLst>
    <p:notesMasterId xmlns:r="http://schemas.openxmlformats.org/officeDocument/2006/relationships" r:id="R22157ca2d46b47f3"/>
  </p:notesMasterIdLst>
  <p:sldIdLst>
    <p:sldId xmlns:r="http://schemas.openxmlformats.org/officeDocument/2006/relationships" id="256" r:id="Rdf55e519b5514abd"/>
    <p:sldId xmlns:r="http://schemas.openxmlformats.org/officeDocument/2006/relationships" id="257" r:id="R259b3cdda9c04ff6"/>
  </p:sldIdLst>
  <p:sldSz cx="12192000" cy="6858000"/>
  <p:notesSz cx="6858000" cy="9144000"/>
</p:presentation>
</file>

<file path=ppt/source03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f0de3dc64b204d42" /></ns0:Relationships>
</file>

<file path=ppt/source03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ource03/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da0e8fd1c2674a1b" /><ns0:Relationship Type="http://schemas.openxmlformats.org/officeDocument/2006/relationships/slideLayout" Target="../slideLayouts/slideLayout1.xml" Id="Rd60edb57bf2c492c" /></ns0:Relationships>
</file>

<file path=ppt/source03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0edb57bf2c49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ource03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3/ppt/tableStyles.xml><?xml version="1.0" encoding="utf-8"?>
<a:tblStyleLst xmlns:a="http://schemas.openxmlformats.org/drawingml/2006/main" def="{5C22544A-7EE6-4342-B048-85BDC9FD1C3A}"/>
</file>

<file path=ppt/source03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4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source04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2026-09-16T06:38:49.2650000Z</dcterms:created>
  <dcterms:modified xsi:type="dcterms:W3CDTF">2026-09-16T06:38:49.2650000Z</dcterms:modified>
</coreProperties>
</file>

<file path=ppt/source04/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316ba20d190b4615" /><ns0:Relationship Type="http://schemas.openxmlformats.org/officeDocument/2006/relationships/slideMaster" Target="slideMasters/slideMaster1.xml" Id="R259d8a2a93c1468d" /><ns0:Relationship Type="http://schemas.openxmlformats.org/officeDocument/2006/relationships/notesMaster" Target="notesMasters/notesMaster1.xml" Id="R558691565e554613" /><ns0:Relationship Type="http://schemas.openxmlformats.org/officeDocument/2006/relationships/presProps" Target="presProps.xml" Id="Rf3b12920505341ad" /><ns0:Relationship Type="http://schemas.openxmlformats.org/officeDocument/2006/relationships/tableStyles" Target="tableStyles.xml" Id="R2338611b8b544ddb" /><ns0:Relationship Type="http://schemas.openxmlformats.org/officeDocument/2006/relationships/slide" Target="../../slides/slide5.xml" Id="Ra74d20a3f488470a" /></ns0:Relationships>
</file>

<file path=ppt/source04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8ecc058138a44d0e" /></ns0:Relationships>
</file>

<file path=ppt/source04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ource04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4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5.xml" Id="R5ea769ff51124a68" /><ns0:Relationship Type="http://schemas.openxmlformats.org/officeDocument/2006/relationships/notesMaster" Target="../notesMasters/notesMaster1.xml" Id="R1ce3e311f3f94e1c" /></ns0:Relationships>
</file>

<file path=ppt/source04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命名按最新反馈：A为6台通算既有机柜，B/C为两台910B及6台T4所在的两个10kW机柜。机柜B含910B-1、T4-1至3，机柜C含910B-2、T4-4至6。业务网和BMC网以交换设备到各代表节点的独立连线展示。通算2…5代表4台分别接入的服务器。存储网明确连接A、B、C三柜，分别代表通算、910B和T4节点按需接入，每柜一条汇总示意线不等于每柜只有一个物理网口，也不代表新增机柜交换机。存储网仍保留可选状态，具体接口、带宽、设备台数、冗余与存储协议待确认。共享存储设备位置未指定。RoCE交换机1台拟放B柜，两台910B各8条200GE链路，16条光链路双端共32个光模块，T4不接入此计算通信组。机柜C至B跨柜布线。单台RoCE交换机不具备交换机级冗余。入口、防火墙及接入交换设备为逻辑职责，复用及采购数量待核。按用户最新要求移除核心/业务汇聚层，边界防火墙直接连接业务接入交换设备。未完成实机连通测试。硬件主题既有机柜字母将在统一编号时与本页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4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04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9d8a2a93c1468d"/>
  </p:sldMasterIdLst>
  <p:notesMasterIdLst>
    <p:notesMasterId xmlns:r="http://schemas.openxmlformats.org/officeDocument/2006/relationships" r:id="R558691565e554613"/>
  </p:notesMasterIdLst>
  <p:sldIdLst>
    <p:sldId xmlns:r="http://schemas.openxmlformats.org/officeDocument/2006/relationships" id="256" r:id="Ra74d20a3f488470a"/>
  </p:sldIdLst>
  <p:sldSz cx="12192000" cy="6858000"/>
  <p:notesSz cx="6858000" cy="9144000"/>
</p:presentation>
</file>

<file path=ppt/source04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9e0f1b0867864f30" /></ns0:Relationships>
</file>

<file path=ppt/source04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ource04/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cca7d8ffef5e44a2" /><ns0:Relationship Type="http://schemas.openxmlformats.org/officeDocument/2006/relationships/slideLayout" Target="../slideLayouts/slideLayout1.xml" Id="R34f708dad3504770" /></ns0:Relationships>
</file>

<file path=ppt/source04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f708dad35047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ource04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4/ppt/tableStyles.xml><?xml version="1.0" encoding="utf-8"?>
<a:tblStyleLst xmlns:a="http://schemas.openxmlformats.org/drawingml/2006/main" def="{5C22544A-7EE6-4342-B048-85BDC9FD1C3A}"/>
</file>

<file path=ppt/source04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5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source05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2026-09-16T07:07:50.4070000Z</dcterms:created>
  <dcterms:modified xsi:type="dcterms:W3CDTF">2026-09-16T07:07:50.4070000Z</dcterms:modified>
</coreProperties>
</file>

<file path=ppt/source05/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474c9521117844e6" /><ns0:Relationship Type="http://schemas.openxmlformats.org/officeDocument/2006/relationships/slideMaster" Target="slideMasters/slideMaster1.xml" Id="R300c0a7421844813" /><ns0:Relationship Type="http://schemas.openxmlformats.org/officeDocument/2006/relationships/notesMaster" Target="notesMasters/notesMaster1.xml" Id="R420109541d7544ae" /><ns0:Relationship Type="http://schemas.openxmlformats.org/officeDocument/2006/relationships/presProps" Target="presProps.xml" Id="Rea4c20b337a94343" /><ns0:Relationship Type="http://schemas.openxmlformats.org/officeDocument/2006/relationships/tableStyles" Target="tableStyles.xml" Id="R60abf916a2ce49a8" /><ns0:Relationship Type="http://schemas.openxmlformats.org/officeDocument/2006/relationships/slide" Target="../../slides/slide6.xml" Id="Rfb0c6c9745674e68" /><ns0:Relationship Type="http://schemas.openxmlformats.org/officeDocument/2006/relationships/slide" Target="../../slides/slide7.xml" Id="Rdc3c2ab6e43749b8" /></ns0:Relationships>
</file>

<file path=ppt/source05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b048873de9604c00" /></ns0:Relationships>
</file>

<file path=ppt/source05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ource05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5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6.xml" Id="R6a2dec26be544ffd" /><ns0:Relationship Type="http://schemas.openxmlformats.org/officeDocument/2006/relationships/notesMaster" Target="../notesMasters/notesMaster1.xml" Id="R5c2d8515411a452f" /></ns0:Relationships>
</file>

<file path=ppt/source05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7.xml" Id="R94f79b3a6b084b30" /><ns0:Relationship Type="http://schemas.openxmlformats.org/officeDocument/2006/relationships/notesMaster" Target="../notesMasters/notesMaster1.xml" Id="Re1422e61b66342ce" /></ns0:Relationships>
</file>

<file path=ppt/source05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取自NVIDIA官方品牌页及华为官网，仅标识两家技术生态。左侧主栈自底向上展示依赖，侧栏表示部署管理支撑，组件不要求全部安装。原部署影响：OS/CPU/驱动与镜像匹配；运行库ABI、算子与多卡通信；容器访问设备但不转换CUDA；K8s分配设备但不补模型算子；监控用于健康和性能；框架负责模型算子映射；kernel核验硬件/精度/形状；引擎的模型与特性支持取交集。容器、K8s和监控是部署管理面，框架、算子、运行库是模型执行面。各列列出组件范围及替代路径，不要求全部安装。GPU Operator可管理驱动、Container Toolkit、Device Plugin、GFD、DCGM等，不应与另一个驱动生命周期管理方式重复管理。K8s提供调度，不是推理必须条件，首轮可先单容器验通再纳管。NVIDIA宿主机需可用驱动，CUDA用户态库可位于镜像，运行预编译镜像不必把完整CUDA Toolkit一概装在宿主机。Toolkit用于开发编译，不能与Container Toolkit混淆。Ascend容器接入需按运行时、MindCluster和驱动版本选择部署方式，安装工具名称不能证明任意containerd版本兼容。MindCluster中的NodeD、ClusterD、Volcano与Operator按需要配置，非本项目全部必装。NVIDIA T4不假定具备新GPU的所有精度与kernel能力，不照抄MIG方案。跨机NCCL/HCCL还受网卡、RDMA驱动及网络配置影响，双910B沿已定RoCE方案单独验通信。CANN包含运行和开发能力，ATB按引擎需求装。SGLang Ascend依赖包括匹配的Triton-Ascend及SGL Kernel NPU。PD分离还需核验MemFabric等KV传输组件，MoE场景按版本考虑DeepEP兼容实现，这些属于特性依赖，不是所有模型的必装项。MindIE为另一推理路径，不是vLLM的必装前置。SGLang列为候选生态，并未宣称当前默认镜像支持本台T4。YOLO和Wan保持任务专用推理路径，不能因vLLM支持文本就认为其支持任意视觉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官方参考文档（查询2026-09-16，动态页面不是本项目冻结版本）：</a:t>
            </a:r>
          </a:p>
          <a:p xmlns:a="http://schemas.openxmlformats.org/drawingml/2006/main">
            <a:r>
              <a:t>[1] NVIDIA GPU Operator</a:t>
            </a:r>
          </a:p>
          <a:p xmlns:a="http://schemas.openxmlformats.org/drawingml/2006/main">
            <a:r>
              <a:t>https://docs.nvidia.com/datacenter/cloud-native/gpu-operator/latest/</a:t>
            </a:r>
          </a:p>
          <a:p xmlns:a="http://schemas.openxmlformats.org/drawingml/2006/main">
            <a:r>
              <a:t>[2] NVIDIA Container Toolkit</a:t>
            </a:r>
          </a:p>
          <a:p xmlns:a="http://schemas.openxmlformats.org/drawingml/2006/main">
            <a:r>
              <a:t>https://docs.nvidia.com/datacenter/cloud-native/container-toolkit/latest/arch-overview.html</a:t>
            </a:r>
          </a:p>
          <a:p xmlns:a="http://schemas.openxmlformats.org/drawingml/2006/main">
            <a:r>
              <a:t>[3] MindCluster 组件</a:t>
            </a:r>
          </a:p>
          <a:p xmlns:a="http://schemas.openxmlformats.org/drawingml/2006/main">
            <a:r>
              <a:t>https://www.hiascend.com/document/detail/en/mindcluster/2600/clustersched/schedulingug/docs/en/scheduling/introduction/01_component_description.md</a:t>
            </a:r>
          </a:p>
          <a:p xmlns:a="http://schemas.openxmlformats.org/drawingml/2006/main">
            <a:r>
              <a:t>[4] torch_npu 版本配套</a:t>
            </a:r>
          </a:p>
          <a:p xmlns:a="http://schemas.openxmlformats.org/drawingml/2006/main">
            <a:r>
              <a:t>https://github.com/Ascend/pytorch/blob/master/COMPATIBILITY.en.md</a:t>
            </a:r>
          </a:p>
          <a:p xmlns:a="http://schemas.openxmlformats.org/drawingml/2006/main">
            <a:r>
              <a:t>[5] vLLM GPU 安装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[7] vLLM Ascend 安装</a:t>
            </a:r>
          </a:p>
          <a:p xmlns:a="http://schemas.openxmlformats.org/drawingml/2006/main">
            <a:r>
              <a:t>https://docs.vllm.ai/projects/ascend/en/latest/getting_started/installation.html</a:t>
            </a:r>
          </a:p>
          <a:p xmlns:a="http://schemas.openxmlformats.org/drawingml/2006/main">
            <a:r>
              <a:t>[9] SGLang 安装与硬件入口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[11] SGLang Ascend 安装与依赖</a:t>
            </a:r>
          </a:p>
          <a:p xmlns:a="http://schemas.openxmlformats.org/drawingml/2006/main">
            <a:r>
              <a:t>https://docs.sglang.io/docs/hardware-platforms/ascend-npus/getting-started/installation</a:t>
            </a:r>
          </a:p>
          <a:p xmlns:a="http://schemas.openxmlformats.org/drawingml/2006/main">
            <a:r>
              <a:t>[12] MindIE 配套要求</a:t>
            </a:r>
          </a:p>
          <a:p xmlns:a="http://schemas.openxmlformats.org/drawingml/2006/main">
            <a:r>
              <a:t>https://www.hiascend.com/document/detail/zh/mindie/1.0.RC1/envdeployment/instg/mindie_instg_0015.html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5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Qwen/Qwen3-8B用于解释软件依赖，不声称已经部署成功。8B参数×2字节约16GB是粗略十进制权重估算，不是实际模型文件精确大小；T4单卡16GB还需KV缓存及工作区，所以FP16可能超出容量。量化需有兼容权重格式和kernel，不能只改参数名称。910B具体显存仍待核验。方法论是本项目的归纳：可部署集合为模型结构、硬件、精度/量化实现、推理特性和依赖版本的交集，还要满足容量和服务目标。先固定模型revision与权重格式，再选择候选引擎release并反查其依赖，避免把每层latest任意拼接。启动后先测确定性小样本与质量，再观察逐卡权重、KV Cache和工作区峰值；多卡验证并行与通信；最后纳入K8s后复验资源分配、健康检查、失败恢复与同规格性能。T4的SM75满足vLLM基础门槛，不代表任何attention后端、量化或模型特性均可用。当前量化矩阵对Turing的支持随版本变化，不能长期沿用旧版Marlin结论。SGLang有NVIDIA和Ascend入口，但本次资料不能建立当前SGLang/T4完整可运行组合，故保留核验，不标成已支持或绝对不支持。910B按A2路径选择匹配算子和镜像；vLLM Ascend矩阵有Qwen、DeepSeek、GLM家族条目，必须核验具体结构、精度、TP/PP、PD、缓存等特性。SGLang Ascend与MindIE各有自己的版本和模型矩阵，不能相互外推。示例均为筛选判断，未做实机部署或基准测试。YOLO/Wan需以任务仓库、许可和所选后端验收；不新增对具体版本的兼容承诺。最终产物为按设备族和任务区分的镜像清单、模型支持表、测试记录及回退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官方参考文档（查询2026-09-16，动态页面不是本项目冻结版本）：</a:t>
            </a:r>
          </a:p>
          <a:p xmlns:a="http://schemas.openxmlformats.org/drawingml/2006/main">
            <a:r>
              <a:t>[4] torch_npu 版本配套</a:t>
            </a:r>
          </a:p>
          <a:p xmlns:a="http://schemas.openxmlformats.org/drawingml/2006/main">
            <a:r>
              <a:t>https://github.com/Ascend/pytorch/blob/master/COMPATIBILITY.en.md</a:t>
            </a:r>
          </a:p>
          <a:p xmlns:a="http://schemas.openxmlformats.org/drawingml/2006/main">
            <a:r>
              <a:t>[5] vLLM GPU 安装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[6] vLLM 量化矩阵</a:t>
            </a:r>
          </a:p>
          <a:p xmlns:a="http://schemas.openxmlformats.org/drawingml/2006/main">
            <a:r>
              <a:t>https://docs.vllm.ai/en/latest/features/quantization/</a:t>
            </a:r>
          </a:p>
          <a:p xmlns:a="http://schemas.openxmlformats.org/drawingml/2006/main">
            <a:r>
              <a:t>[7] vLLM Ascend 安装</a:t>
            </a:r>
          </a:p>
          <a:p xmlns:a="http://schemas.openxmlformats.org/drawingml/2006/main">
            <a:r>
              <a:t>https://docs.vllm.ai/projects/ascend/en/latest/getting_started/installation.html</a:t>
            </a:r>
          </a:p>
          <a:p xmlns:a="http://schemas.openxmlformats.org/drawingml/2006/main">
            <a:r>
              <a:t>[8] vLLM Ascend 模型矩阵</a:t>
            </a:r>
          </a:p>
          <a:p xmlns:a="http://schemas.openxmlformats.org/drawingml/2006/main">
            <a:r>
              <a:t>https://docs.vllm.ai/projects/ascend/en/latest/user_guide/support_matrix/supported_models.html</a:t>
            </a:r>
          </a:p>
          <a:p xmlns:a="http://schemas.openxmlformats.org/drawingml/2006/main">
            <a:r>
              <a:t>[9] SGLang 安装与硬件入口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[10] SGLang Ascend 模型表</a:t>
            </a:r>
          </a:p>
          <a:p xmlns:a="http://schemas.openxmlformats.org/drawingml/2006/main">
            <a:r>
              <a:t>https://github.com/sgl-project/sglang/blob/main/docs_new/docs/hardware-platforms/ascend-npus/reference/support_models.mdx</a:t>
            </a:r>
          </a:p>
          <a:p xmlns:a="http://schemas.openxmlformats.org/drawingml/2006/main">
            <a:r>
              <a:t>[11] SGLang Ascend 安装与依赖</a:t>
            </a:r>
          </a:p>
          <a:p xmlns:a="http://schemas.openxmlformats.org/drawingml/2006/main">
            <a:r>
              <a:t>https://docs.sglang.io/docs/hardware-platforms/ascend-npus/getting-started/installation</a:t>
            </a:r>
          </a:p>
          <a:p xmlns:a="http://schemas.openxmlformats.org/drawingml/2006/main">
            <a:r>
              <a:t>[12] MindIE 配套要求</a:t>
            </a:r>
          </a:p>
          <a:p xmlns:a="http://schemas.openxmlformats.org/drawingml/2006/main">
            <a:r>
              <a:t>https://www.hiascend.com/document/detail/zh/mindie/1.0.RC1/envdeployment/instg/mindie_instg_0015.html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5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05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0c0a7421844813"/>
  </p:sldMasterIdLst>
  <p:notesMasterIdLst>
    <p:notesMasterId xmlns:r="http://schemas.openxmlformats.org/officeDocument/2006/relationships" r:id="R420109541d7544ae"/>
  </p:notesMasterIdLst>
  <p:sldIdLst>
    <p:sldId xmlns:r="http://schemas.openxmlformats.org/officeDocument/2006/relationships" id="256" r:id="Rfb0c6c9745674e68"/>
    <p:sldId xmlns:r="http://schemas.openxmlformats.org/officeDocument/2006/relationships" id="257" r:id="Rdc3c2ab6e43749b8"/>
  </p:sldIdLst>
  <p:sldSz cx="12192000" cy="6858000"/>
  <p:notesSz cx="6858000" cy="9144000"/>
</p:presentation>
</file>

<file path=ppt/source05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61ec526a398e433e" /></ns0:Relationships>
</file>

<file path=ppt/source05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ource05/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dd230e601047476c" /><ns0:Relationship Type="http://schemas.openxmlformats.org/officeDocument/2006/relationships/slideLayout" Target="../slideLayouts/slideLayout1.xml" Id="Rdf80b5e0f4434caa" /></ns0:Relationships>
</file>

<file path=ppt/source05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80b5e0f4434c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ource05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5/ppt/tableStyles.xml><?xml version="1.0" encoding="utf-8"?>
<a:tblStyleLst xmlns:a="http://schemas.openxmlformats.org/drawingml/2006/main" def="{5C22544A-7EE6-4342-B048-85BDC9FD1C3A}"/>
</file>

<file path=ppt/source05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6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source06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2026-09-16T07:38:12.3820000Z</dcterms:created>
  <dcterms:modified xsi:type="dcterms:W3CDTF">2026-09-16T07:38:12.3820000Z</dcterms:modified>
</coreProperties>
</file>

<file path=ppt/source06/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a1d41c9eb1e949e8" /><ns0:Relationship Type="http://schemas.openxmlformats.org/officeDocument/2006/relationships/slideMaster" Target="slideMasters/slideMaster1.xml" Id="R664f066108db4513" /><ns0:Relationship Type="http://schemas.openxmlformats.org/officeDocument/2006/relationships/notesMaster" Target="notesMasters/notesMaster1.xml" Id="Rff256545e40f47f4" /><ns0:Relationship Type="http://schemas.openxmlformats.org/officeDocument/2006/relationships/presProps" Target="presProps.xml" Id="Race40a6e35854c9e" /><ns0:Relationship Type="http://schemas.openxmlformats.org/officeDocument/2006/relationships/tableStyles" Target="tableStyles.xml" Id="R385ac5ae27974494" /><ns0:Relationship Type="http://schemas.openxmlformats.org/officeDocument/2006/relationships/slide" Target="../../slides/slide8.xml" Id="R5f94871fc47f4ae7" /><ns0:Relationship Type="http://schemas.openxmlformats.org/officeDocument/2006/relationships/slide" Target="../../slides/slide9.xml" Id="R89f6d72526304036" /></ns0:Relationships>
</file>

<file path=ppt/source06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45e44b762a364e80" /></ns0:Relationships>
</file>

<file path=ppt/source06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ource06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6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8.xml" Id="R9247a437a3354065" /><ns0:Relationship Type="http://schemas.openxmlformats.org/officeDocument/2006/relationships/notesMaster" Target="../notesMasters/notesMaster1.xml" Id="R96a2a6574d5b4476" /></ns0:Relationships>
</file>

<file path=ppt/source06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9.xml" Id="R902ee27324bf4501" /><ns0:Relationship Type="http://schemas.openxmlformats.org/officeDocument/2006/relationships/notesMaster" Target="../notesMasters/notesMaster1.xml" Id="R2f82678027424e3c" /></ns0:Relationships>
</file>

<file path=ppt/source06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项目适配方法。硬件支持、软件支持、容量和服务质量必须同时满足。权重量化位宽不等于所有计算都使用该精度，W4A8需要相应加载器、量化格式和kernel。不能看到T4支持INT8就认定任意4位或8位模型可用，也不能将BF16或FP8权重直接视为T4原生支持。冻结驱动/固件、CANN或CUDA、框架、引擎插件版本、镜像digest及模型revision。显存核算以实际文件和加载布局为准，MoE按全部权重而非激活参数，考虑复制与分片不均衡。短上下文低并发成功仅证明该规格，不能推断长上下文生产能力。910B每卡64GB仍是待核验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DeepSeek-V4.1-Flash 部署指南</a:t>
            </a:r>
          </a:p>
          <a:p xmlns:a="http://schemas.openxmlformats.org/drawingml/2006/main">
            <a:r>
              <a:t>https://docs.vllm.ai/projects/ascend/en/latest/tutorials/models/DeepSeek-V4.1-Flash.html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GLM-5.3-Flash 部署指南</a:t>
            </a:r>
          </a:p>
          <a:p xmlns:a="http://schemas.openxmlformats.org/drawingml/2006/main">
            <a:r>
              <a:t>https://docs.vllm.ai/projects/ascend/en/latest/tutorials/models/GLM5.3-Flash.html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GLM-5.3 部署指南</a:t>
            </a:r>
          </a:p>
          <a:p xmlns:a="http://schemas.openxmlformats.org/drawingml/2006/main">
            <a:r>
              <a:t>https://docs.vllm.ai/projects/ascend/en/latest/tutorials/models/GLM5.3.html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MiniMax-M3 部署指南</a:t>
            </a:r>
          </a:p>
          <a:p xmlns:a="http://schemas.openxmlformats.org/drawingml/2006/main">
            <a:r>
              <a:t>https://docs.vllm.ai/projects/ascend/en/latest/tutorials/models/MiniMax-M3.html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Qwen3.8-27B 部署指南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Kimi-K2.6 部署指南</a:t>
            </a:r>
          </a:p>
          <a:p xmlns:a="http://schemas.openxmlformats.org/drawingml/2006/main">
            <a:r>
              <a:t>https://docs.vllm.ai/projects/ascend/en/latest/tutorials/models/Kimi-K2.6.html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Qwen3.5 官方模型卡</a:t>
            </a:r>
          </a:p>
          <a:p xmlns:a="http://schemas.openxmlformats.org/drawingml/2006/main">
            <a:r>
              <a:t>https://huggingface.co/Qwen/Qwen3.5-9B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Hugging Face 单卡 T4 部署目录</a:t>
            </a:r>
          </a:p>
          <a:p xmlns:a="http://schemas.openxmlformats.org/drawingml/2006/main">
            <a:r>
              <a:t>https://endpoints.huggingface.co/catalog/collection/qwen?inferenceServer=llamacpp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YOLO26 官方文档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Wan2.1 官方仓库</a:t>
            </a:r>
          </a:p>
          <a:p xmlns:a="http://schemas.openxmlformats.org/drawingml/2006/main">
            <a:r>
              <a:t>https://github.com/Wan-Video/Wan2.1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vLLM GPU 支持要求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Qwen3.5 官方小模型</a:t>
            </a:r>
          </a:p>
          <a:p xmlns:a="http://schemas.openxmlformats.org/drawingml/2006/main">
            <a:r>
              <a:t>https://huggingface.co/Qwen/Qwen3.5-4B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6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查询2026-09-16。表中为特定路径资料初筛，不是全部模型普查或实机通过清单。A2/64GB需确认实际910B硬件。GLM5.3-Flash指南第5.2节为2台各8×64GB TP8/DP2参考。Kimi双A2 W4A8使用16卡。DeepSeek与GLM5.3的四A2方案只能证明参考范围，尚未完成双机逐卡权重、缓存、工作区、复制开销与并行算子核验，不能认定双机不可部署或必需扩容。DeepSeek参考TP8/DP4/EP32；改16卡需重新验证。GLM5.3是实验支持。T4 Qwen9B路径来自HF Endpoints目录unsloth/Qwen3.5-9B-GGUF Q4_K_M，不能当作本项目实测。Qwen0.8/2/4B是待验证候选，模型格式、vision projector与kernel须匹配。Wan官方8.19GB为1.3B参考数据，不保证T4速度或显存峰值。T4不默认原生BF16/FP8支持。W8A8为8位权重和激活，W4A8为4位权重/8位激活，C8为8位KV缓存。每个模型分别测容量和质量，不能将全16卡同时分配给多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DeepSeek-V4.1-Flash 部署指南</a:t>
            </a:r>
          </a:p>
          <a:p xmlns:a="http://schemas.openxmlformats.org/drawingml/2006/main">
            <a:r>
              <a:t>https://docs.vllm.ai/projects/ascend/en/latest/tutorials/models/DeepSeek-V4.1-Flash.html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GLM-5.3-Flash 部署指南</a:t>
            </a:r>
          </a:p>
          <a:p xmlns:a="http://schemas.openxmlformats.org/drawingml/2006/main">
            <a:r>
              <a:t>https://docs.vllm.ai/projects/ascend/en/latest/tutorials/models/GLM5.3-Flash.html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GLM-5.3 部署指南</a:t>
            </a:r>
          </a:p>
          <a:p xmlns:a="http://schemas.openxmlformats.org/drawingml/2006/main">
            <a:r>
              <a:t>https://docs.vllm.ai/projects/ascend/en/latest/tutorials/models/GLM5.3.html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MiniMax-M3 部署指南</a:t>
            </a:r>
          </a:p>
          <a:p xmlns:a="http://schemas.openxmlformats.org/drawingml/2006/main">
            <a:r>
              <a:t>https://docs.vllm.ai/projects/ascend/en/latest/tutorials/models/MiniMax-M3.html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Qwen3.8-27B 部署指南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Kimi-K2.6 部署指南</a:t>
            </a:r>
          </a:p>
          <a:p xmlns:a="http://schemas.openxmlformats.org/drawingml/2006/main">
            <a:r>
              <a:t>https://docs.vllm.ai/projects/ascend/en/latest/tutorials/models/Kimi-K2.6.html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Qwen3.5 官方模型卡</a:t>
            </a:r>
          </a:p>
          <a:p xmlns:a="http://schemas.openxmlformats.org/drawingml/2006/main">
            <a:r>
              <a:t>https://huggingface.co/Qwen/Qwen3.5-9B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Hugging Face 单卡 T4 部署目录</a:t>
            </a:r>
          </a:p>
          <a:p xmlns:a="http://schemas.openxmlformats.org/drawingml/2006/main">
            <a:r>
              <a:t>https://endpoints.huggingface.co/catalog/collection/qwen?inferenceServer=llamacpp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YOLO26 官方文档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Wan2.1 官方仓库</a:t>
            </a:r>
          </a:p>
          <a:p xmlns:a="http://schemas.openxmlformats.org/drawingml/2006/main">
            <a:r>
              <a:t>https://github.com/Wan-Video/Wan2.1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vLLM GPU 支持要求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Qwen3.5 官方小模型</a:t>
            </a:r>
          </a:p>
          <a:p xmlns:a="http://schemas.openxmlformats.org/drawingml/2006/main">
            <a:r>
              <a:t>https://huggingface.co/Qwen/Qwen3.5-4B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6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06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4f066108db4513"/>
  </p:sldMasterIdLst>
  <p:notesMasterIdLst>
    <p:notesMasterId xmlns:r="http://schemas.openxmlformats.org/officeDocument/2006/relationships" r:id="Rff256545e40f47f4"/>
  </p:notesMasterIdLst>
  <p:sldIdLst>
    <p:sldId xmlns:r="http://schemas.openxmlformats.org/officeDocument/2006/relationships" id="256" r:id="R5f94871fc47f4ae7"/>
    <p:sldId xmlns:r="http://schemas.openxmlformats.org/officeDocument/2006/relationships" id="257" r:id="R89f6d72526304036"/>
  </p:sldIdLst>
  <p:sldSz cx="12192000" cy="6858000"/>
  <p:notesSz cx="6858000" cy="9144000"/>
</p:presentation>
</file>

<file path=ppt/source06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b9b28f7e041a4f5f" /></ns0:Relationships>
</file>

<file path=ppt/source06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ource06/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77e8357f131347f5" /><ns0:Relationship Type="http://schemas.openxmlformats.org/officeDocument/2006/relationships/slideLayout" Target="../slideLayouts/slideLayout1.xml" Id="R4b47838c09e240a6" /></ns0:Relationships>
</file>

<file path=ppt/source06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47838c09e240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ource06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6/ppt/tableStyles.xml><?xml version="1.0" encoding="utf-8"?>
<a:tblStyleLst xmlns:a="http://schemas.openxmlformats.org/drawingml/2006/main" def="{5C22544A-7EE6-4342-B048-85BDC9FD1C3A}"/>
</file>

<file path=ppt/source06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7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source07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2026-09-16T08:03:31.7040000Z</dcterms:created>
  <dcterms:modified xsi:type="dcterms:W3CDTF">2026-09-16T08:03:31.7040000Z</dcterms:modified>
</coreProperties>
</file>

<file path=ppt/source07/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f8f28be0e33544a1" /><ns0:Relationship Type="http://schemas.openxmlformats.org/officeDocument/2006/relationships/slideMaster" Target="slideMasters/slideMaster1.xml" Id="R52200c6620c648fe" /><ns0:Relationship Type="http://schemas.openxmlformats.org/officeDocument/2006/relationships/notesMaster" Target="notesMasters/notesMaster1.xml" Id="R5ae304c2f9d24ded" /><ns0:Relationship Type="http://schemas.openxmlformats.org/officeDocument/2006/relationships/presProps" Target="presProps.xml" Id="R5fffe76093fe42be" /><ns0:Relationship Type="http://schemas.openxmlformats.org/officeDocument/2006/relationships/tableStyles" Target="tableStyles.xml" Id="Rcc168104ccd246a8" /><ns0:Relationship Type="http://schemas.openxmlformats.org/officeDocument/2006/relationships/slide" Target="../../slides/slide10.xml" Id="R57dbaa42316f45ea" /></ns0:Relationships>
</file>

<file path=ppt/source07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efa1ffc2b5e14b9f" /></ns0:Relationships>
</file>

<file path=ppt/source07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ource07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7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10.xml" Id="R476d22eb0be94725" /><ns0:Relationship Type="http://schemas.openxmlformats.org/officeDocument/2006/relationships/notesMaster" Target="../notesMasters/notesMaster1.xml" Id="R4465def5a62f4988" /></ns0:Relationships>
</file>

<file path=ppt/source07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已确认的12步部署流程整合为四阶段。每阶段三项操作，底部为对应完成标准，勾号表示要求而非已经完成。保留权重下载、量化、分发、环境准备、容器设备透传、推理、扩展、验收、平台接入和故障恢复全部环节。T4与910B是不同的候选执行路径，具体模型以06适配结果为准。单机先验通，双机只在需要时执行，不能将所有模型默认扩至双机。MASS实际字段、镜像digest、模型revision和节点配置尚待现场确认。T4文本引擎候选包含vLLM、SGLang、Ollama和llama.cpp。需要核验具体模型、量化格式、SM75算子、软件版本、显存及性能，不代表每个组合都已支持。GGUF是权重格式，llama.cpp仅为此前示例路径。详细操作和命令见07_模型部署_操作清单.md。</a:t>
            </a:r>
          </a:p>
          <a:p xmlns:a="http://schemas.openxmlformats.org/drawingml/2006/main">
            <a:r>
              <a:t>https://docs.ollama.com/gpu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官方资料：</a:t>
            </a:r>
          </a:p>
          <a:p xmlns:a="http://schemas.openxmlformats.org/drawingml/2006/main">
            <a:r>
              <a:t>https://huggingface.co/docs/huggingface_hub/en/guides/cli</a:t>
            </a:r>
          </a:p>
          <a:p xmlns:a="http://schemas.openxmlformats.org/drawingml/2006/main">
            <a:r>
              <a:t>https://github.com/modelscope/modelscope/blob/master/docs/source/command.md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>https://github.com/ggml-org/llama.cpp/blob/master/tools/server/README.md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>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7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07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00c6620c648fe"/>
  </p:sldMasterIdLst>
  <p:notesMasterIdLst>
    <p:notesMasterId xmlns:r="http://schemas.openxmlformats.org/officeDocument/2006/relationships" r:id="R5ae304c2f9d24ded"/>
  </p:notesMasterIdLst>
  <p:sldIdLst>
    <p:sldId xmlns:r="http://schemas.openxmlformats.org/officeDocument/2006/relationships" id="256" r:id="R57dbaa42316f45ea"/>
  </p:sldIdLst>
  <p:sldSz cx="12192000" cy="6858000"/>
  <p:notesSz cx="6858000" cy="9144000"/>
</p:presentation>
</file>

<file path=ppt/source07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d46b576f3427429b" /></ns0:Relationships>
</file>

<file path=ppt/source07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ource07/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8d3baaa543ed4909" /><ns0:Relationship Type="http://schemas.openxmlformats.org/officeDocument/2006/relationships/slideLayout" Target="../slideLayouts/slideLayout1.xml" Id="R6fabc66eab774899" /></ns0:Relationships>
</file>

<file path=ppt/source07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abc66eab7748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ource07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7/ppt/tableStyles.xml><?xml version="1.0" encoding="utf-8"?>
<a:tblStyleLst xmlns:a="http://schemas.openxmlformats.org/drawingml/2006/main" def="{5C22544A-7EE6-4342-B048-85BDC9FD1C3A}"/>
</file>

<file path=ppt/source07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8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source08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2026-09-16T08:09:26.3070000Z</dcterms:created>
  <dcterms:modified xsi:type="dcterms:W3CDTF">2026-09-16T08:09:26.3070000Z</dcterms:modified>
</coreProperties>
</file>

<file path=ppt/source08/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37471cb9f77641c2" /><ns0:Relationship Type="http://schemas.openxmlformats.org/officeDocument/2006/relationships/slideMaster" Target="slideMasters/slideMaster1.xml" Id="R090e6890cf8c4631" /><ns0:Relationship Type="http://schemas.openxmlformats.org/officeDocument/2006/relationships/notesMaster" Target="notesMasters/notesMaster1.xml" Id="R48c57053ea2e47d1" /><ns0:Relationship Type="http://schemas.openxmlformats.org/officeDocument/2006/relationships/presProps" Target="presProps.xml" Id="R57e9993d54874313" /><ns0:Relationship Type="http://schemas.openxmlformats.org/officeDocument/2006/relationships/tableStyles" Target="tableStyles.xml" Id="R85f0641c0f794eb7" /><ns0:Relationship Type="http://schemas.openxmlformats.org/officeDocument/2006/relationships/slide" Target="../../slides/slide11.xml" Id="Rb79db761e3b94295" /><ns0:Relationship Type="http://schemas.openxmlformats.org/officeDocument/2006/relationships/slide" Target="../../slides/slide12.xml" Id="R5017738b920842ad" /></ns0:Relationships>
</file>

<file path=ppt/source08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085c844221834299" /></ns0:Relationships>
</file>

<file path=ppt/source08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ource08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8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11.xml" Id="R8eac2eaab61b4264" /><ns0:Relationship Type="http://schemas.openxmlformats.org/officeDocument/2006/relationships/notesMaster" Target="../notesMasters/notesMaster1.xml" Id="R73c230b4c8f94259" /></ns0:Relationships>
</file>

<file path=ppt/source08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12.xml" Id="Rc0e2aa6633ac4c08" /><ns0:Relationship Type="http://schemas.openxmlformats.org/officeDocument/2006/relationships/notesMaster" Target="../notesMasters/notesMaster1.xml" Id="R515181030bbd4cb2" /></ns0:Relationships>
</file>

<file path=ppt/source08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并发阶梯、稳态复测次数为本项目测试方案，不是工具默认规则。先定义P95 TTFT/TPOT或E2E及成功率阈值。达到配置并发不等于服务端实际运行同等请求数，需记录在途、运行、等待和请求速率。闭环并发压测用无限到达率结合max-concurrency，有利于测给定并发承载；另按真实到达率做开放负载测试，验证队列不会持续增长。建议每档预热后至少测5分钟，临界点重复3次，再做30分钟持续验证；样本不足时延长。所有具体时长是建议。工具版本/参数以冻结版本--help核对，不能把SGLang工具误当作必须部署SGLang服务。缓存命中由服务端实际计数校验，重启或重置缓存应只在隔离测试实例上操作。缓存预热在计时外，正式缓存用例使用相同token前缀和不同后缀。前缀模板/BOS/系统提示会影响块级命中。压力机CPU网络需留余量。</a:t>
            </a:r>
          </a:p>
          <a:p xmlns:a="http://schemas.openxmlformats.org/drawingml/2006/main">
            <a:r>
              <a:t>查询2026-09-16：</a:t>
            </a:r>
          </a:p>
          <a:p xmlns:a="http://schemas.openxmlformats.org/drawingml/2006/main">
            <a:r>
              <a:t>https://docs.vllm.ai/en/latest/benchmarking/cli/</a:t>
            </a:r>
          </a:p>
          <a:p xmlns:a="http://schemas.openxmlformats.org/drawingml/2006/main">
            <a:r>
              <a:t>https://docs.vllm.ai/en/latest/cli/bench/serve/</a:t>
            </a:r>
          </a:p>
          <a:p xmlns:a="http://schemas.openxmlformats.org/drawingml/2006/main">
            <a:r>
              <a:t>https://github.com/sgl-project/sglang/blob/main/docs/developer_guide/benchmark_and_profiling.md</a:t>
            </a:r>
          </a:p>
          <a:p xmlns:a="http://schemas.openxmlformats.org/drawingml/2006/main">
            <a:r>
              <a:t>https://github.com/modelscope/evalscope/blob/main/docs/en/user_guides/stress_test/quick_start.md</a:t>
            </a:r>
          </a:p>
          <a:p xmlns:a="http://schemas.openxmlformats.org/drawingml/2006/main">
            <a:r>
              <a:t>https://docs.vllm.ai/en/latest/design/metrics/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8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为统一测量窗口秒数；同一批成功请求及其输入、实际命中、实际输出构成可对账数据。推荐测量阶段请求全部完成或超时后结束计时，包含排空时间，预热请求排除。若选择固定稳态窗口，只统计窗口内事件并明确跨界请求处理，不混用两种口径。客户端计时应记录发送、首有效token、最后有效token、请求结束时间。SSE空块、角色块不算首token，一个chunk可能包含多个token，因此只能估计token间隔时需明确标注；TPOT按实际token数量和首末时刻计算，不把每个chunk当token。TTFT并非纯prefill时延，需纯计算耗时另采引擎prefill/queue指标。TPOT逐请求后汇总，不能拿吞吐倒数替代。cached_tokens必须是实际复用量，不可使用设计前缀长度代替；如用服务端Prometheus计数，核实版本、单位和是否包含预热/失败/其他流量，计数器重启与跨卡汇总也要处理，不能无条件与成功请求口径混算。量化、缓存配置、引擎版本、镜像、并行、输入输出长度、工具、随机种子及完整命令都归档。单卡归一化token/s=token/min÷60÷实际占用卡数，仅作为同规格平均值；PD混部不能按同一批卡重复计算两份产能。所有表格为空白记录规范，未伪造测试结果。</a:t>
            </a:r>
          </a:p>
          <a:p xmlns:a="http://schemas.openxmlformats.org/drawingml/2006/main">
            <a:r>
              <a:t>查询2026-09-16：</a:t>
            </a:r>
          </a:p>
          <a:p xmlns:a="http://schemas.openxmlformats.org/drawingml/2006/main">
            <a:r>
              <a:t>https://docs.vllm.ai/en/latest/benchmarking/cli/</a:t>
            </a:r>
          </a:p>
          <a:p xmlns:a="http://schemas.openxmlformats.org/drawingml/2006/main">
            <a:r>
              <a:t>https://docs.vllm.ai/en/latest/cli/bench/serve/</a:t>
            </a:r>
          </a:p>
          <a:p xmlns:a="http://schemas.openxmlformats.org/drawingml/2006/main">
            <a:r>
              <a:t>https://github.com/sgl-project/sglang/blob/main/docs/developer_guide/benchmark_and_profiling.md</a:t>
            </a:r>
          </a:p>
          <a:p xmlns:a="http://schemas.openxmlformats.org/drawingml/2006/main">
            <a:r>
              <a:t>https://github.com/modelscope/evalscope/blob/main/docs/en/user_guides/stress_test/quick_start.md</a:t>
            </a:r>
          </a:p>
          <a:p xmlns:a="http://schemas.openxmlformats.org/drawingml/2006/main">
            <a:r>
              <a:t>https://docs.vllm.ai/en/latest/design/metrics/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8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08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0e6890cf8c4631"/>
  </p:sldMasterIdLst>
  <p:notesMasterIdLst>
    <p:notesMasterId xmlns:r="http://schemas.openxmlformats.org/officeDocument/2006/relationships" r:id="R48c57053ea2e47d1"/>
  </p:notesMasterIdLst>
  <p:sldIdLst>
    <p:sldId xmlns:r="http://schemas.openxmlformats.org/officeDocument/2006/relationships" id="256" r:id="Rb79db761e3b94295"/>
    <p:sldId xmlns:r="http://schemas.openxmlformats.org/officeDocument/2006/relationships" id="257" r:id="R5017738b920842ad"/>
  </p:sldIdLst>
  <p:sldSz cx="12192000" cy="6858000"/>
  <p:notesSz cx="6858000" cy="9144000"/>
</p:presentation>
</file>

<file path=ppt/source08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9805b401cf974f8f" /></ns0:Relationships>
</file>

<file path=ppt/source08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ource08/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ef83c36c3623435f" /><ns0:Relationship Type="http://schemas.openxmlformats.org/officeDocument/2006/relationships/slideLayout" Target="../slideLayouts/slideLayout1.xml" Id="Re5cfe82ec4314962" /></ns0:Relationships>
</file>

<file path=ppt/source08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fe82ec43149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ource08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8/ppt/tableStyles.xml><?xml version="1.0" encoding="utf-8"?>
<a:tblStyleLst xmlns:a="http://schemas.openxmlformats.org/drawingml/2006/main" def="{5C22544A-7EE6-4342-B048-85BDC9FD1C3A}"/>
</file>

<file path=ppt/source08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9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source09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2026-09-16T10:16:32.4160000Z</dcterms:created>
  <dcterms:modified xsi:type="dcterms:W3CDTF">2026-09-16T10:16:32.4160000Z</dcterms:modified>
</coreProperties>
</file>

<file path=ppt/source09/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3df4c0f6bf544822" /><ns0:Relationship Type="http://schemas.openxmlformats.org/officeDocument/2006/relationships/slideMaster" Target="slideMasters/slideMaster1.xml" Id="R79094fce10f44c2e" /><ns0:Relationship Type="http://schemas.openxmlformats.org/officeDocument/2006/relationships/notesMaster" Target="notesMasters/notesMaster1.xml" Id="R82afebb940654e5b" /><ns0:Relationship Type="http://schemas.openxmlformats.org/officeDocument/2006/relationships/presProps" Target="presProps.xml" Id="Rcd16d828642441fa" /><ns0:Relationship Type="http://schemas.openxmlformats.org/officeDocument/2006/relationships/tableStyles" Target="tableStyles.xml" Id="R127a759140ae4916" /><ns0:Relationship Type="http://schemas.openxmlformats.org/officeDocument/2006/relationships/slide" Target="../../slides/slide13.xml" Id="Rcc7dcd427c95491e" /><ns0:Relationship Type="http://schemas.openxmlformats.org/officeDocument/2006/relationships/slide" Target="../../slides/slide14.xml" Id="R62c048aa58674ac6" /></ns0:Relationships>
</file>

<file path=ppt/source09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45bd9d69d1604371" /></ns0:Relationships>
</file>

<file path=ppt/source09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ource09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9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13.xml" Id="R955402e1a89b46ef" /><ns0:Relationship Type="http://schemas.openxmlformats.org/officeDocument/2006/relationships/notesMaster" Target="../notesMasters/notesMaster1.xml" Id="R331b1f4a30b64cfe" /></ns0:Relationships>
</file>

<file path=ppt/source09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14.xml" Id="R8b493a3975134904" /><ns0:Relationship Type="http://schemas.openxmlformats.org/officeDocument/2006/relationships/notesMaster" Target="../notesMasters/notesMaster1.xml" Id="R9d0994e8e3b54286" /></ns0:Relationships>
</file>

<file path=ppt/source09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量纲一致的收入估算，不是实测收入。定义每类整套服务吞吐为成功请求口径token/min，30天为43200分钟，每百万token价格除1000000。各类可计费产出比例分别估计，代表实际月可计费量除该类压测速率乘43200的参考量；不是简单设备利用率，应包含需求、在线时长和可结算范围中尚未体现的差异，避免重复扣减已有损失。混部时三类速率必须来自同一负载，且不能把每类独立峰值当作同时可交付。缓存命中输入是逻辑复用量，按缓存结算价，不是完整prefill计算量。使用整套服务吞吐不乘卡数，只有卡均吞吐才在其他口径下需要乘卡数。同一币种税口径结算。配套第二页使用DeepSeek官方价格作参考，假设算例合计6713.28元，非实测或实际收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9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主题仅计算文本收入，不纳入YOLO或视频收入。官方中文价格页截至2026-09-16列DeepSeek-V4.1-Flash（deepseek-flash）：每百万token空闲输入未命中1元、命中0.02元、输出4元，高峰分别2、0.04、8元。高峰北京时间周一至周五9-12和14-18，其余空闲。来源https://api-docs.deepseek.com/zh-cn/quick_start/pricing/?article_id=article_1779470751466_8 。Logo来自官方GitHub账号https://github.com/deepseek-ai.png 。示例是以空闲价为统一基准的产能估值，不能将全天实际服务全部按空闲价视为真实结算。真实结算将高峰和空闲的实际可计费量分别乘相应价格后求和，合同采购价另按约定。全部吞吐是同一假设负载，输入600000分为未命中60000和命中540000；输出60000与输入不同类别，不从输入中扣除。乘50%只一次，全部吞吐为集群值不乘卡数。月理论分钟用30×24×60，三类金额1296、233.28、5184，总6713.28。尚未证明此模型能在项目两台910B按该负载部署，数值不代表容量或性能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09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09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094fce10f44c2e"/>
  </p:sldMasterIdLst>
  <p:notesMasterIdLst>
    <p:notesMasterId xmlns:r="http://schemas.openxmlformats.org/officeDocument/2006/relationships" r:id="R82afebb940654e5b"/>
  </p:notesMasterIdLst>
  <p:sldIdLst>
    <p:sldId xmlns:r="http://schemas.openxmlformats.org/officeDocument/2006/relationships" id="256" r:id="Rcc7dcd427c95491e"/>
    <p:sldId xmlns:r="http://schemas.openxmlformats.org/officeDocument/2006/relationships" id="257" r:id="R62c048aa58674ac6"/>
  </p:sldIdLst>
  <p:sldSz cx="12192000" cy="6858000"/>
  <p:notesSz cx="6858000" cy="9144000"/>
</p:presentation>
</file>

<file path=ppt/source09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3b62972369c14be5" /></ns0:Relationships>
</file>

<file path=ppt/source09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ource09/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1b23fd1026a44f1e" /><ns0:Relationship Type="http://schemas.openxmlformats.org/officeDocument/2006/relationships/slideLayout" Target="../slideLayouts/slideLayout1.xml" Id="R751a0a249ee8494b" /></ns0:Relationships>
</file>

<file path=ppt/source09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1a0a249ee849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ource09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09/ppt/tableStyles.xml><?xml version="1.0" encoding="utf-8"?>
<a:tblStyleLst xmlns:a="http://schemas.openxmlformats.org/drawingml/2006/main" def="{5C22544A-7EE6-4342-B048-85BDC9FD1C3A}"/>
</file>

<file path=ppt/source09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10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source10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

<file path=ppt/source10/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7f73360d69ae423a" /><ns0:Relationship Type="http://schemas.openxmlformats.org/officeDocument/2006/relationships/slideMaster" Target="slideMasters/slideMaster1.xml" Id="Rd7a3b52e9fb54477" /><ns0:Relationship Type="http://schemas.openxmlformats.org/officeDocument/2006/relationships/notesMaster" Target="notesMasters/notesMaster1.xml" Id="R105d7eae1871493d" /><ns0:Relationship Type="http://schemas.openxmlformats.org/officeDocument/2006/relationships/presProps" Target="presProps.xml" Id="Re4a6be5e860e41f6" /><ns0:Relationship Type="http://schemas.openxmlformats.org/officeDocument/2006/relationships/tableStyles" Target="tableStyles.xml" Id="R2b725e6074ad4c77" /><ns0:Relationship Type="http://schemas.openxmlformats.org/officeDocument/2006/relationships/slide" Target="../../slides/slide15.xml" Id="Reb946eb5e3724fa7" /><ns0:Relationship Type="http://schemas.openxmlformats.org/officeDocument/2006/relationships/slide" Target="../../slides/slide16.xml" Id="Rf672a9a83463484e" /></ns0:Relationships>
</file>

<file path=ppt/source10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e3750a3d28bb45de" /></ns0:Relationships>
</file>

<file path=ppt/source10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ource10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10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15.xml" Id="R372552c9e46a4c1a" /><ns0:Relationship Type="http://schemas.openxmlformats.org/officeDocument/2006/relationships/notesMaster" Target="../notesMasters/notesMaster1.xml" Id="R9f75fb330a3d4c4a" /></ns0:Relationships>
</file>

<file path=ppt/source10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16.xml" Id="R2adc728fc75e40bf" /><ns0:Relationship Type="http://schemas.openxmlformats.org/officeDocument/2006/relationships/notesMaster" Target="../notesMasters/notesMaster1.xml" Id="Ra4161df6ff464b24" /></ns0:Relationships>
</file>

<file path=ppt/source10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商务讨论清单，并非已签协议或法律意见。首批用同一请求样本比对Tokenizer、推理返回usage、接入记录及平台账单。需约定失败/取消/重试/部分输出及缓存口径，不能由技术默认免费或收费。检测/视频分别约定规格、质量、任务单位及价格。合同还需价格变更、税费、付款账户、争议处理和开票要求，以双方最终文本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10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议条款由商务/法务/财务评审。单交换机故障可能影响双机并行服务，同一资源池内独立单机服务的影响依赖网络与路由。合同约定故障责任归属、供应方与平台侧原因判定、不可用统计、维护排除项、赔付上限、退出与余额清算。数据最小留存及安全职责按实际数据和适用制度审查，不假定客户数据可任意留存或用于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10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10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70" r:id="Reb946eb5e3724fa7"/>
    <p:sldId xmlns:r="http://schemas.openxmlformats.org/officeDocument/2006/relationships" id="271" r:id="Rf672a9a83463484e"/>
  </p:sldIdLst>
  <p:sldSz cx="12192000" cy="6858000"/>
  <p:notesSz cx="6858000" cy="9144000"/>
</p:presentation>
</file>

<file path=ppt/source10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f6913ba90d554bbc" /></ns0:Relationships>
</file>

<file path=ppt/source10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ource10/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5e7a4d9626114bdf" /><ns0:Relationship Type="http://schemas.openxmlformats.org/officeDocument/2006/relationships/slideLayout" Target="../slideLayouts/slideLayout1.xml" Id="Ra7f0cc97a0e54e78" /></ns0:Relationships>
</file>

<file path=ppt/source10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ource10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10/ppt/tableStyles.xml><?xml version="1.0" encoding="utf-8"?>
<a:tblStyleLst xmlns:a="http://schemas.openxmlformats.org/drawingml/2006/main" def="{5C22544A-7EE6-4342-B048-85BDC9FD1C3A}"/>
</file>

<file path=ppt/source10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11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source11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

<file path=ppt/source11/ppt/_rels/presentation.xml.rels><?xml version='1.0' encoding='utf-8'?>
<ns0:Relationships xmlns:ns0="http://schemas.openxmlformats.org/package/2006/relationships"><ns0:Relationship Type="http://schemas.openxmlformats.org/officeDocument/2006/relationships/theme" Target="theme/theme1.xml" Id="R7f73360d69ae423a" /><ns0:Relationship Type="http://schemas.openxmlformats.org/officeDocument/2006/relationships/slideMaster" Target="slideMasters/slideMaster1.xml" Id="Rd7a3b52e9fb54477" /><ns0:Relationship Type="http://schemas.openxmlformats.org/officeDocument/2006/relationships/notesMaster" Target="notesMasters/notesMaster1.xml" Id="R105d7eae1871493d" /><ns0:Relationship Type="http://schemas.openxmlformats.org/officeDocument/2006/relationships/presProps" Target="presProps.xml" Id="Re4a6be5e860e41f6" /><ns0:Relationship Type="http://schemas.openxmlformats.org/officeDocument/2006/relationships/tableStyles" Target="tableStyles.xml" Id="R2b725e6074ad4c77" /><ns0:Relationship Type="http://schemas.openxmlformats.org/officeDocument/2006/relationships/slide" Target="../../slides/slide17.xml" Id="R6deda8cc3aa242ee" /><ns0:Relationship Type="http://schemas.openxmlformats.org/officeDocument/2006/relationships/slide" Target="../../slides/slide18.xml" Id="Re26709acaee54f78" /></ns0:Relationships>
</file>

<file path=ppt/source11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e3750a3d28bb45de" /></ns0:Relationships>
</file>

<file path=ppt/source11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ource11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11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17.xml" Id="R63125c4fdd7c4aa7" /><ns0:Relationship Type="http://schemas.openxmlformats.org/officeDocument/2006/relationships/notesMaster" Target="../notesMasters/notesMaster1.xml" Id="Rff10037c505f4dfe" /></ns0:Relationships>
</file>

<file path=ppt/source11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18.xml" Id="R7b8ffd9b62f24ee5" /><ns0:Relationship Type="http://schemas.openxmlformats.org/officeDocument/2006/relationships/notesMaster" Target="../notesMasters/notesMaster1.xml" Id="R6ab72e7aaa124270" /></ns0:Relationships>
</file>

<file path=ppt/source11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以角色为泳道、阶段为列。公司制度未提供，不虚构审批姓名或时限。重要交接：技术产能报告传商务财务形成报价；商务法务确认条款后技术按配额发布；技术给出用量明细、商务获取平台对账确认、财务形成结算及发票、商务财务跟踪到账。真实商业闭环需要实际交易与凭证；模拟账单仅作为计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11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报告不声称设备已上架、模型已部署、压测已通过、合同已签或款项已到账。与第2页三项评审目标对应：确定首轮范围；明确资源资料及责任；设置试供给门槛。扩容依据需要实际质量、产能、订单与全成本经济性，不以峰值吞吐或能输出文本为充分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ource11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11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72" r:id="R6deda8cc3aa242ee"/>
    <p:sldId xmlns:r="http://schemas.openxmlformats.org/officeDocument/2006/relationships" id="273" r:id="Re26709acaee54f78"/>
  </p:sldIdLst>
  <p:sldSz cx="12192000" cy="6858000"/>
  <p:notesSz cx="6858000" cy="9144000"/>
</p:presentation>
</file>

<file path=ppt/source11/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ideMaster1.xml" Id="Rf6913ba90d554bbc" /></ns0:Relationships>
</file>

<file path=ppt/source11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ource11/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theme/theme2.xml" Id="R5e7a4d9626114bdf" /><ns0:Relationship Type="http://schemas.openxmlformats.org/officeDocument/2006/relationships/slideLayout" Target="../slideLayouts/slideLayout1.xml" Id="Ra7f0cc97a0e54e78" /></ns0:Relationships>
</file>

<file path=ppt/source11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ource11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ource11/ppt/tableStyles.xml><?xml version="1.0" encoding="utf-8"?>
<a:tblStyleLst xmlns:a="http://schemas.openxmlformats.org/drawingml/2006/main" def="{5C22544A-7EE6-4342-B048-85BDC9FD1C3A}"/>
</file>

<file path=ppt/source11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