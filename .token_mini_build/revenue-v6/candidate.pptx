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164f5d1a2442ec" /><Relationship Type="http://schemas.openxmlformats.org/officeDocument/2006/relationships/extended-properties" Target="/docProps/app.xml" Id="Rf93702994db449ae" /><Relationship Type="http://schemas.openxmlformats.org/officeDocument/2006/relationships/officeDocument" Target="/ppt/presentation.xml" Id="R8f77fea763254f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094fce10f44c2e"/>
  </p:sldMasterIdLst>
  <p:notesMasterIdLst>
    <p:notesMasterId xmlns:r="http://schemas.openxmlformats.org/officeDocument/2006/relationships" r:id="R82afebb940654e5b"/>
  </p:notesMasterIdLst>
  <p:sldIdLst>
    <p:sldId xmlns:r="http://schemas.openxmlformats.org/officeDocument/2006/relationships" id="256" r:id="Rcc7dcd427c95491e"/>
    <p:sldId xmlns:r="http://schemas.openxmlformats.org/officeDocument/2006/relationships" id="257" r:id="R62c048aa58674a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f4c0f6bf544822" /><Relationship Type="http://schemas.openxmlformats.org/officeDocument/2006/relationships/slideMaster" Target="/ppt/slideMasters/slideMaster1.xml" Id="R79094fce10f44c2e" /><Relationship Type="http://schemas.openxmlformats.org/officeDocument/2006/relationships/notesMaster" Target="/ppt/notesMasters/notesMaster1.xml" Id="R82afebb940654e5b" /><Relationship Type="http://schemas.openxmlformats.org/officeDocument/2006/relationships/presProps" Target="/ppt/presProps.xml" Id="Rcd16d828642441fa" /><Relationship Type="http://schemas.openxmlformats.org/officeDocument/2006/relationships/tableStyles" Target="/ppt/tableStyles.xml" Id="R127a759140ae4916" /><Relationship Type="http://schemas.openxmlformats.org/officeDocument/2006/relationships/slide" Target="/ppt/slides/slide1.xml" Id="Rcc7dcd427c95491e" /><Relationship Type="http://schemas.openxmlformats.org/officeDocument/2006/relationships/slide" Target="/ppt/slides/slide2.xml" Id="R62c048aa58674a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bd9d69d16043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5402e1a89b46ef" /><Relationship Type="http://schemas.openxmlformats.org/officeDocument/2006/relationships/notesMaster" Target="/ppt/notesMasters/notesMaster1.xml" Id="R331b1f4a30b64c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493a3975134904" /><Relationship Type="http://schemas.openxmlformats.org/officeDocument/2006/relationships/notesMaster" Target="/ppt/notesMasters/notesMaster1.xml" Id="R9d0994e8e3b542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量纲一致的收入估算，不是实测收入。定义每类整套服务吞吐为成功请求口径token/min，30天为43200分钟，每百万token价格除1000000。各类可计费产出比例分别估计，代表实际月可计费量除该类压测速率乘43200的参考量；不是简单设备利用率，应包含需求、在线时长和可结算范围中尚未体现的差异，避免重复扣减已有损失。混部时三类速率必须来自同一负载，且不能把每类独立峰值当作同时可交付。缓存命中输入是逻辑复用量，按缓存结算价，不是完整prefill计算量。使用整套服务吞吐不乘卡数，只有卡均吞吐才在其他口径下需要乘卡数。同一币种税口径结算。配套第二页使用DeepSeek官方价格作参考，假设算例合计6713.28元，非实测或实际收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主题仅计算文本收入，不纳入YOLO或视频收入。官方中文价格页截至2026-09-16列DeepSeek-V4.1-Flash（deepseek-flash）：每百万token空闲输入未命中1元、命中0.02元、输出4元，高峰分别2、0.04、8元。高峰北京时间周一至周五9-12和14-18，其余空闲。来源https://api-docs.deepseek.com/zh-cn/quick_start/pricing/?article_id=article_1779470751466_8 。Logo来自官方GitHub账号https://github.com/deepseek-ai.png 。示例是以空闲价为统一基准的产能估值，不能将全天实际服务全部按空闲价视为真实结算。真实结算将高峰和空闲的实际可计费量分别乘相应价格后求和，合同采购价另按约定。全部吞吐是同一假设负载，输入600000分为未命中60000和命中540000；输出60000与输入不同类别，不从输入中扣除。乘50%只一次，全部吞吐为集群值不乘卡数。月理论分钟用30×24×60，三类金额1296、233.28、5184，总6713.28。尚未证明此模型能在项目两台910B按该负载部署，数值不代表容量或性能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62972369c14b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23fd1026a44f1e" /><Relationship Type="http://schemas.openxmlformats.org/officeDocument/2006/relationships/slideLayout" Target="/ppt/slideLayouts/slideLayout1.xml" Id="R751a0a249ee849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1a0a249ee849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4dd05451a4b73" /><Relationship Type="http://schemas.openxmlformats.org/officeDocument/2006/relationships/notesSlide" Target="/ppt/notesSlides/notesSlide1.xml" Id="R655176a27c8e43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c53fac0824d18" /><Relationship Type="http://schemas.openxmlformats.org/officeDocument/2006/relationships/image" Target="/ppt/media/image.png" Id="Ra92de390d6bf491f" /><Relationship Type="http://schemas.openxmlformats.org/officeDocument/2006/relationships/notesSlide" Target="/ppt/notesSlides/notesSlide2.xml" Id="R4aef69f28e9642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30E54-9DEB-42EB-A13E-6AE29AE3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BC037-2E24-41A4-8F37-81A61379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月收入测算：三类 Token 分开计价，再求和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56691-83E8-46AB-A9AF-6D0A6618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统一使用同一负载下整套服务的吞吐（token/min），单价取数值，单位为元 / 百万 Token。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5CB56-CF32-4E5E-95FD-6470AB8D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53581-CC26-44D2-8C85-0C45FE5F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6B836-B73D-4AE2-88F3-9AA4FAFB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E1CB7-24B2-48AA-ABB9-B302A5EB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3CE4F-4600-490F-9B67-CEA1B287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输出月收入＝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578DD-5B16-4B3B-AD92-FF4015C6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［整套服务输出吞吐 ×（30天 × 24小时/天 × 60分钟/小时）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414A4-9047-42A8-A0C2-A74F5BB7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输出单价］÷ 1,000,000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D16D7-1809-49EC-A0FB-1624878C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DCC34-F817-4111-97F7-A58B01BC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未命中输入月收入＝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E1942-0BFE-4AE9-A5A6-766C7F54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［整套服务未命中输入吞吐 ×（30天 × 24小时/天 × 60分钟/小时）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2FA60-CC0A-4A2D-850F-6A184B36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未命中输入单价］÷ 1,000,000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A08634-6F51-4733-97A8-DD56D85F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1049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FFC95C-59A6-48C3-BE4B-2D427482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缓存命中输入月收入＝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A4FB2-F880-4D1B-8EC7-8DF6B7A3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［整套服务缓存命中输入吞吐 ×（30天 × 24小时/天 × 60分钟/小时）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3F74A-659D-4B08-B230-4BA89381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  × 可计费产出比例 × 缓存命中输入单价］÷ 1,000,000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A6CB8-4634-4B12-A0CC-A619C765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1010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吞吐用 token/min；单价取数值（元 / 百万 Token）。整套服务吞吐已包含卡数，不再乘卡数。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41665-47E7-4DAB-BBE4-6CBF310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29225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可计费产出比例：实际月度可计费用量，占按该压测速度持续运行30天的理论用量比例。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B16239-83A2-4291-AD0A-4CFE8CBE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1104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18A858-72E6-43B7-BD99-E8FA30B2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95950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文本月收入＝输出月收入＋未命中输入月收入＋缓存命中输入月收入</a:t>
            </a:r>
          </a:p>
        </p:txBody>
      </p:sp>
    </p:spTree>
    <p:extLst>
      <p:ext uri="{BB962C8B-B14F-4D97-AF65-F5344CB8AC3E}">
        <p14:creationId xmlns:p14="http://schemas.microsoft.com/office/powerpoint/2010/main" val="2002329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B1FD9-1438-4591-8B9E-D76C92CE2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697B2-73B2-43B7-8CEF-F1B21489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144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DeepSeek-V4.1-Flash：官方价格与文本收入算例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63808-AA47-49C4-B77C-F9A9C4C2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人民币 / 百万 Token，查询日期 2026-09-16。API 模型名：deepseek-flash。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9CFB5-7FAE-4184-B128-E1150EE0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A0AE9-577F-4385-9AE0-1E33B144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1308F-C990-418F-BFE1-5B8D6D4F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de390d6bf491f"/>
          <a:stretch xmlns:a="http://schemas.openxmlformats.org/drawingml/2006/main"/>
        </p:blipFill>
        <p:spPr>
          <a:xfrm xmlns:a="http://schemas.openxmlformats.org/drawingml/2006/main">
            <a:off x="571500" y="923925"/>
            <a:ext cx="552450" cy="5524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23" name=""/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981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2524125"/>
                <a:gridCol w="2524125"/>
                <a:gridCol w="2524125"/>
              </a:tblGrid>
              <a:tr h="3143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官方公开 API 单价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输入未命中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输入缓存命中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空闲时段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0.02元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高峰时段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0.04元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AECD2-6325-4412-888A-98F54E3C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1101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高峰：北京时间周一至周五 9:00–12:00、14:00–18:00；其余为空闲时段。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6E3A4-2B5A-41FA-B55D-F05AC8E9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1010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假设同一负载：输入600,000 token/min，90%命中；输出60,000 token/min，产出比例50%。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71500" y="3752850"/>
          <a:ext xmlns:a="http://schemas.openxmlformats.org/drawingml/2006/main" cx="11049000" cy="1343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7000875"/>
                <a:gridCol w="1714500"/>
              </a:tblGrid>
              <a:tr h="3143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按空闲时段单价估值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月收入计算（元）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结果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未命中输入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［60,000 ×（30 × 24 × 60）× 50% × 1］÷ 1,000,000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1,296.00元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缓存命中输入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［540,000 ×（30 × 24 × 60）× 50% × 0.02］÷ 1,000,000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233.28元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［60,000 ×（30 × 24 × 60）× 50% × 4］÷ 1,000,000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5,184.00元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36C63-C471-4426-ADA7-E70D7C1E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104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008E9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A63F9-4DCC-494E-99B9-1B70D3DC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34000"/>
            <a:ext cx="1076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文本月收入估值＝1,296.00＋233.28＋5,184.00＝6,713.28元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BF863-549A-45E9-87B0-769F2E30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1010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吞吐与产出比例均为假设，非设备实测。此处统一按空闲价估值；实际跨时段须按各时段用量分别计价。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E7281-E278-466E-8AB0-3287213E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1010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公开 API 零售价仅作参照，不等于平台采购价或已实现收入。官方价格链接见备注与配套说明。</a:t>
            </a:r>
          </a:p>
        </p:txBody>
      </p:sp>
    </p:spTree>
    <p:extLst>
      <p:ext uri="{BB962C8B-B14F-4D97-AF65-F5344CB8AC3E}">
        <p14:creationId xmlns:p14="http://schemas.microsoft.com/office/powerpoint/2010/main" val="1533969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2026-09-16T10:16:32.4160000Z</dcterms:created>
  <dcterms:modified xsi:type="dcterms:W3CDTF">2026-09-16T10:16:32.4160000Z</dcterms:modified>
</coreProperties>
</file>