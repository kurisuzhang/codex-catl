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83263e131545df" /><Relationship Type="http://schemas.openxmlformats.org/officeDocument/2006/relationships/extended-properties" Target="/docProps/app.xml" Id="R5939fd9e1ba44113" /><Relationship Type="http://schemas.openxmlformats.org/officeDocument/2006/relationships/officeDocument" Target="/ppt/presentation.xml" Id="Re96c836f1ea54a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46b7511f914017"/>
  </p:sldMasterIdLst>
  <p:notesMasterIdLst>
    <p:notesMasterId xmlns:r="http://schemas.openxmlformats.org/officeDocument/2006/relationships" r:id="R22157ca2d46b47f3"/>
  </p:notesMasterIdLst>
  <p:sldIdLst>
    <p:sldId xmlns:r="http://schemas.openxmlformats.org/officeDocument/2006/relationships" id="256" r:id="Rdf55e519b5514abd"/>
    <p:sldId xmlns:r="http://schemas.openxmlformats.org/officeDocument/2006/relationships" id="257" r:id="R259b3cdda9c04f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a43fc30a414b75" /><Relationship Type="http://schemas.openxmlformats.org/officeDocument/2006/relationships/slideMaster" Target="/ppt/slideMasters/slideMaster1.xml" Id="R5c46b7511f914017" /><Relationship Type="http://schemas.openxmlformats.org/officeDocument/2006/relationships/notesMaster" Target="/ppt/notesMasters/notesMaster1.xml" Id="R22157ca2d46b47f3" /><Relationship Type="http://schemas.openxmlformats.org/officeDocument/2006/relationships/presProps" Target="/ppt/presProps.xml" Id="R2822241863d148e9" /><Relationship Type="http://schemas.openxmlformats.org/officeDocument/2006/relationships/tableStyles" Target="/ppt/tableStyles.xml" Id="Rbd3415bf9b3945c5" /><Relationship Type="http://schemas.openxmlformats.org/officeDocument/2006/relationships/slide" Target="/ppt/slides/slide1.xml" Id="Rdf55e519b5514abd" /><Relationship Type="http://schemas.openxmlformats.org/officeDocument/2006/relationships/slide" Target="/ppt/slides/slide2.xml" Id="R259b3cdda9c04f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a4379e4fb448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55a10f6e7f4484" /><Relationship Type="http://schemas.openxmlformats.org/officeDocument/2006/relationships/notesMaster" Target="/ppt/notesMasters/notesMaster1.xml" Id="R3234246f6ad547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000bf422f94628" /><Relationship Type="http://schemas.openxmlformats.org/officeDocument/2006/relationships/notesMaster" Target="/ppt/notesMasters/notesMaster1.xml" Id="Rfa0e678ff15846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依据用户2026-09-16提供的硬件参考截图：/Users/lin/Desktop/截屏2026-09-16 14.01.50.png。已确定台数、卡数及RoCE配置来自本任务用户要求。参考配置为候选BOM，不代表现有实物验收结果。截图CPU型号照录Kunpeng 920_5250；加速卡照录Ascend 910_4-64G，与用户指定910B尚需按物料编码及设备报告确认，不把64G视为910B已验收显存。通算参考CPU单颗2.1GHz/20核，2颗合计40核；内存384GB。910B参考内存768GB。容量均原始配置，不推定RAID后的可用空间。T4的CPU、内存和磁盘无参考，故不编造。T4单卡16GB沿用原报告NVIDIA数据表 https://www.nvidia.cn/content/dam/en-zz/Solutions/Data-Center/tesla-t4/t4-tensor-core-datasheet.pdf 。机柜C按最新用户要求展示6台既有通算，容量未指定。两台910B每台超过5kW为用户输入，A/B各一台；混装方案须核验整机峰值、U位、承重、制冷、PDU和故障供电。功率超过可用额度时调整T4位置，不表示本方案已通过上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来源：用户硬件参考截图 /Users/lin/Desktop/截屏2026-09-16 14.01.50.png 及用户本任务已确认配置。交换机48口等为参考规格，不是本期已批准采购清单。RoCE已确认1台；32×200GE与16×400GE为参考的两种选择，不累计成两台。400GE分拆还需核验breakout能力、端口模式、FEC、模块和线缆兼容，不能仅凭MPO线认定可用。32个200GE模块是两台910B共16条光链路双端总数，不包含业务网络模块。参考服务器网络原文：网卡0为6×GE（1个Mgmt管理网口、1个调试串口、4个板载口），另行写4×GE+4×25GE+2×200GE+2×200GE+2×200GE+2×200GE+2×25GE+IPMI。该参考将串口与GE混列、管理项可能重复，因此不直接累加成采购数量；RoCE按已确定每机8×200GE，业务网及BMC按实物端口表去重核验。对象存储参考CPU单颗2.4GHz/12核，硬盘原始容量不能直接作为可用容量，冗余策略及台数尚未定义。对象存储不计入14台已确定服务器，也不擅自放入现有三柜。所有整机配件包含检查完整性，并非主张现有设备全部重新采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e3dc64b204d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0e8fd1c2674a1b" /><Relationship Type="http://schemas.openxmlformats.org/officeDocument/2006/relationships/slideLayout" Target="/ppt/slideLayouts/slideLayout1.xml" Id="Rd60edb57bf2c49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0edb57bf2c49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da13c72504f92" /><Relationship Type="http://schemas.openxmlformats.org/officeDocument/2006/relationships/notesSlide" Target="/ppt/notesSlides/notesSlide1.xml" Id="R101a7f2de88e41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779772cad4652" /><Relationship Type="http://schemas.openxmlformats.org/officeDocument/2006/relationships/notesSlide" Target="/ppt/notesSlides/notesSlide2.xml" Id="R867e6b10af9d4a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7E1D9AB-8611-45C6-AA7E-6DE97EE4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FAE1B-D0FA-43C4-9B36-6194D2CC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机柜布局与服务器配置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1D231-B8A7-478F-A6DC-53BBB49E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台服务器分布于 3 个机柜：2 台 910B、6 台八卡 T4、6 台通算。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18822-1080-4912-AEC5-152CBF27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3E74F-DB49-4B8B-8923-81FCE700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4AF46-EB50-4779-A0F4-D626574D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D147D-5D1C-42DC-A335-4F621EC3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5475"/>
            <a:ext cx="4772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机柜布局（示意，非实际 U 位）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31EE3-4B8A-4093-ACBB-4AE7C5AC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71725"/>
            <a:ext cx="14097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9525">
            <a:solidFill>
              <a:srgbClr val="DCE5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463A6-044D-4845-B8B7-A1FC7738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4478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D8069-BD0C-4F02-8D34-0D17F05B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3335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3C"/>
          </a:solidFill>
          <a:ln xmlns:a="http://schemas.openxmlformats.org/drawingml/2006/main" w="9525">
            <a:solidFill>
              <a:srgbClr val="142C3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7A505-FB41-46D5-BA33-7158EABB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94DB7-FD4E-4968-B8AD-D9902DC1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10 kW / 拟装载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2F3AC-FC79-4CE6-8F3B-5985A6C5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67E5D-5938-42B6-B089-2D169B4C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AF6EB-1C25-4E30-85EF-0602151A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C23EE-307A-4E5E-89F5-839DCB6F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E30AC-890E-40F9-B7E9-6F420B79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6150E-E2D1-4314-B0EC-3B5E969E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594AE-F3FF-4541-B7A2-A5D53BA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A0B4A-EF1E-4DDB-A644-BBBDCC28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7F825-3CD1-4EC2-8B8A-0ABBB03E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C586B-1B5F-4DC6-BFDB-8A3E2F12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4C88C4-E0C3-4B10-975E-A1ED0080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60EA0-77EF-4207-BF39-ACE2233F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95051-C815-4ECF-B7BE-7BA40499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E21D72-EBF6-477D-9450-9773CAF9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CE50F-6A51-4F6D-940F-78197B2B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B5D0DD-48BD-4B9D-AE5F-AF6ED17F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896429-2C5C-4B12-AB42-4ED0E881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D4706B-C809-4CF9-BF43-C9A492D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36AA61-AAEF-40CB-AD9F-095DB06D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5E6F9B-2D49-4D37-840B-C7CB46CC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5D087E-9B9F-4982-A930-5348FAB1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0EDBC6-5B80-47AF-8F44-3E7F92DD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C95E58-C779-40D3-90D5-8FAADA76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FC3DF7-D451-46AE-9A63-24EC9195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432D85-4E97-4C08-877B-E349CABD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7C217B-35A8-4338-A422-660B8231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245BB4-FBE1-42B2-B762-EFFA469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5EA145-AFD3-4453-B7F7-93324AFD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9A22F7-F21A-4BC4-A077-C21C1D0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DD062B-1737-466A-AA83-561E72FD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883A7A-0E92-46DF-9173-3B7D5930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D79E68-8E93-4A33-9B4C-8E83071B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C34CE5-7DE9-4B65-B7AD-E43B5B23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78351F-7130-4237-8840-6FC1902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A8464C-5F2A-462A-AC63-9E2DA2C4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104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F2BDFC-C557-4972-9CF4-7F25C39B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C1DC2E-AEC0-4C56-9DD2-11E35F3F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9332F4-42AE-4843-BE56-679BED26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95600"/>
            <a:ext cx="8667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910B-1</a:t>
            </a:r>
          </a:p>
          <a:p xmlns:a="http://schemas.openxmlformats.org/drawingml/2006/main">
            <a:pPr algn="ctr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E19568-5386-4BAD-9331-A8DFD21B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723A2D-C498-4250-B8CD-4062F564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D00794-7674-4B9E-A5A0-5B85F1B6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9D309C-4930-4C05-BF94-1B35A6DC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B894BB-2797-4907-A2E1-F90A50DD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T4-1  8 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B1F1E3-F1B1-4189-BE7E-7714405B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6385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6B0B9F-57A9-4ECC-AC62-20A57A48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29EEAE-A968-47C2-8594-583C0096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5AFD4DA-1F1D-4B79-B0A6-9712C4ED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83723E-8B2F-4EEC-87DE-AEFD8ACD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T4-2  8 卡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49CA34-D00C-4506-ADE1-586048A9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0100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E8C98F-9C2A-47D3-9F75-6B34DD89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CDCC13-A56A-47C3-AC42-09423217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A02D307-5658-465C-9E9D-5D02260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DBEA34-C84E-4FDA-8AA9-D0B0BE4F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1482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T4-3  8 卡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D6384D-3227-471A-ACF0-49491B3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3815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138B86-74CD-4B40-B0C5-CCFD8855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734FBB-86E6-4795-A81C-ED57D2E4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830EFC3-C45C-42F1-BC34-AC2B471B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478F1C-A11F-4886-88CD-016E4D78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F49EF3-A59B-4B9B-B987-DDEACE4E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37B302-E0E6-4CD5-8E45-6E55458E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71725"/>
            <a:ext cx="14097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9525">
            <a:solidFill>
              <a:srgbClr val="DCE5E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8F96210-97B7-4A62-B68C-5D45882C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76475"/>
            <a:ext cx="14478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C9E4288-C391-4FC3-8E10-57479BCF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24150"/>
            <a:ext cx="13335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3C"/>
          </a:solidFill>
          <a:ln xmlns:a="http://schemas.openxmlformats.org/drawingml/2006/main" w="9525">
            <a:solidFill>
              <a:srgbClr val="142C3C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DCD667-84D0-409F-8ECB-2258C23E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4315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B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8A63C5-9431-4E05-A8F2-152AE1A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90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10 kW / 拟装载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BB1C501-8307-45A0-9598-6A52995F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F92653B-B2EF-4FCB-837C-7148C24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E9C9537-4802-467E-B1C0-FDA15FC8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E66754A-8DB0-4550-A724-558AB7B4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7F3D932-3B8E-46B1-A82B-8EF2EC95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4BE7EC4-0ACF-42DE-8641-9843F19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E0A3168-07DA-411C-88D9-49CE5C24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B52C68F-8EBB-43E4-A7A4-970C1AEB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AE1DAF1-4D37-4170-80E3-27AD3500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3FD4C75-74F9-4104-8BBD-F8CB007C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F003959-0289-4272-9EC9-93618A88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4664984-615B-4BF9-AD84-749EE91E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9DB99C3-3A27-4E2C-A92E-BAA0FFB7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BD08F98-9B48-493D-8787-E254B041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08C5F84-AF59-4B87-9746-2017FBBF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8AB82A7-2A50-4D1F-B696-38127DE5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BEED63-4406-4003-9430-7B44FFE4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FA62E0C-3651-4FCC-BF4E-B38A12FC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8619F0A-43AF-4868-9942-0E5B6D8B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47AED13-83F0-49B3-9112-4044E69C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1B81628-6E3C-41DB-A262-FAA08F9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29C5E4E-0C6A-485C-8D11-71B967F1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D3AF529-A424-4689-AD9D-EF42276E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81B8AFE-AE05-4CAD-B232-630D8E98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6309718-6DD7-444E-AB04-2D50A6BA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14C3368-C701-433A-A43C-8D079A16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64FA459-694B-4854-A1BB-9A231F17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DEBFABA-3F07-49C6-A5E9-918F053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EBAE420-2222-47E3-A462-6E0C83F3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9C9A585-66C0-4A24-9A8F-368FB386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1FDE7C0-1FE7-48BF-A80E-03139F83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2F97662-A71C-4E4A-AA71-786D0907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65389B2-2522-44B6-A071-A46C5431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DC6A057-E1A9-442D-8A1C-0F97FB88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2AF8F25-CD0B-402F-88F8-4F3E69AD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86075"/>
            <a:ext cx="1104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35DEBFA-A581-4EDB-B98D-0B07971E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86075"/>
            <a:ext cx="38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C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D70870E-CB54-40D8-B54F-5837E7B4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72C04DF-E8F3-4916-AF84-E9F933E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95600"/>
            <a:ext cx="8667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910B-2</a:t>
            </a:r>
          </a:p>
          <a:p xmlns:a="http://schemas.openxmlformats.org/drawingml/2006/main">
            <a:pPr algn="ctr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FA3B4B1-E944-4729-97B3-F56B6E48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E8195E-C8C2-481F-94BB-4C580CBD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62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97E5989-0154-4623-BCDC-A18CAB2E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6235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229B113-BEA9-41D2-881A-87F1C5FA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2902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73956C1-98CC-404C-9ECC-C685A99B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57187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T4-4  8 卡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F35BB86-DD74-4E58-85DF-FCA6B4FC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385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5EEA68-4ED1-4B1A-8652-DBDC1BD8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33825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8EC3648-600C-41C4-BBF4-D7A62E20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33825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49A7485-EBF8-41EC-944B-EB23F1BF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0050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0DFD2DC-8DAC-41D4-A5D2-0A0C88A2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943350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T4-5  8 卡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7158332-86C7-407C-A783-1BFF6D9A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00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93135B9-7C4E-498A-8185-F96C373F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053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1BC80EF-480E-4477-AA33-678381AA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053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585C7DA-EF09-47C3-95CD-D153DDAA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7197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01A2694-CE9F-49C8-B09B-CD5F566D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1482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T4-6  8 卡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533D78F-06A9-441D-B426-19AF26C7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815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8696F2C-0518-4262-87E3-1EBB428D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339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316EDC0-168D-4DBE-BD73-FB5C2C16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101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C0CA1C9-8889-4B8F-B89D-2603888F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86325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96A"/>
          </a:solidFill>
          <a:ln xmlns:a="http://schemas.openxmlformats.org/drawingml/2006/main" w="9525">
            <a:solidFill>
              <a:srgbClr val="42596A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31D7949-333A-4F2E-9CB2-5F817788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2C42885-E8D5-41E6-8075-83514BD5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7413199-85F4-4BBE-A047-040B5FBF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71725"/>
            <a:ext cx="14097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9525">
            <a:solidFill>
              <a:srgbClr val="DCE5EB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B357F2F-0D89-460B-9F5A-EE8807D3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76475"/>
            <a:ext cx="14478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256705F-1D11-486F-A9DA-EED835BC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13335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3C"/>
          </a:solidFill>
          <a:ln xmlns:a="http://schemas.openxmlformats.org/drawingml/2006/main" w="9525">
            <a:solidFill>
              <a:srgbClr val="142C3C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0597B9D-2EC3-49DC-ADB9-9CC359B9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4315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机柜 C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9C0A16C-72EE-4B25-A8ED-FD84F927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908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BD9E1"/>
                </a:solidFill>
                <a:latin typeface="Arial Unicode MS"/>
                <a:ea typeface="Arial Unicode MS"/>
                <a:cs typeface="Arial Unicode MS"/>
              </a:rPr>
              <a:t>既有 / 通算专用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C6FA730-EF34-4A82-A8C7-1DC235DB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6C0173E-1F49-4FA7-8C46-830797A3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08D"/>
          </a:solidFill>
          <a:ln xmlns:a="http://schemas.openxmlformats.org/drawingml/2006/main" w="9525">
            <a:solidFill>
              <a:srgbClr val="6C808D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FCBFD09-50E1-4B6A-92D9-9793AED9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A627510-5056-49EA-A88A-D28389C8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051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F43AF0E-5ED9-4BC1-9610-B3D7C885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767DBC7-9DAC-4B74-973D-3AF227F5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384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D74AF03-F203-4784-876F-DB9008AC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3D0C7FD-36E1-4CCF-B276-7AB76FA8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1718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30CF335-FD45-417C-B921-9DA24BD8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9878D2E-6159-478A-AF2A-0FFB1644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3051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B51B3CF-D7F4-4ED2-8F32-CD2B8952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0F71C0D-ECE5-4A2A-9212-71B4DD80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4385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AC54A81-5801-4EDC-A4F4-42D7B5E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90413D0-27AB-4DE2-8BE5-406BC1FA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5718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736459F-286D-4930-A88D-B86D8C8D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AFD4D9A-0724-47C4-A485-0EA9FFF9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052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3EEC1F0-AD98-40BA-8032-86C977A3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7BEB0A5-951D-4DCD-8C29-3F22BB89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385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60A2E61-86E1-45E5-961E-829F815A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421D62D-83B9-47BF-A4CD-1A6E1C0C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9719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086F9BB-51EB-4B23-986C-0BB013C6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9445790-DF4A-4FD6-9759-AAF6C1C2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1052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4B40A83-A852-44F0-B716-D92B7323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BA70FA0-0960-48A4-B914-4FB652B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386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97AB839-05C4-4CC9-9903-A7E87C5A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8346E85-F19C-4447-8B90-8A664323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3719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CCA5858-0B2D-4A3C-A273-AF00952F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2B7AD83-B5F4-43E9-88F9-1A3D56C5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053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EE10D1F-91C7-4AFC-92D6-CE920A6C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5487CFA-41F9-43B2-AF1D-53A968AC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6386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28165FB-1A86-4A32-8B14-01A59DA5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22D8451-CA90-43FC-8F35-2AB587EE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77202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F7143CB-1B61-4D09-A591-141991B4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5A84AFE-52B9-4345-B6B0-6A040589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905375"/>
            <a:ext cx="28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F40"/>
          </a:solidFill>
          <a:ln xmlns:a="http://schemas.openxmlformats.org/drawingml/2006/main" w="9525">
            <a:solidFill>
              <a:srgbClr val="192F40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DD37C04-9DBC-451C-AD13-7EF07CA2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860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DAD7A9D-2BB0-494D-8CAF-691A1F19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86075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1200B5C-CB69-4F06-9194-55F06FE8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535E579-E1F8-4A8C-8B89-E2755B4F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9560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通算-1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81D7D0A-FBF9-4DE2-B167-7760A26C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6FCA38B-593C-4D17-B790-55269404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2926A9B-F685-4762-8EAD-BD7E0151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5816C57-8B93-49B1-B979-E1608141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861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08889B4-EAEC-4C8F-BC4B-DE1D0E94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2897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411E252-C27B-4D9D-86A2-CF56B07C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956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4DAB6CA-D5CF-4807-88F8-6D69645F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5282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878F971-7EC0-4599-A706-12ECBA78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52825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60A87C9-DF11-4C40-9648-4305366A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195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EC8A91F-6492-4BD1-806F-6AB07CBF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6235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通算-3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01C318F-CBFD-405D-A825-9095DCC4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6290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7E75C3E-682D-4E34-BAD7-5CB69054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862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81C3004-E712-4940-AA9C-78BA4EC8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8620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503238E-75C0-465E-ABF4-0B7AA16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5287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70939D1-9693-4945-A095-38AC4DAC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9572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通算-4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43DF3789-E1E0-4F62-9326-144EA44E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624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8147931-AB28-40B7-8AC7-7F87D85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195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294446B-38C7-43F6-B164-B0555E5C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19575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90D65EC-2092-496A-AF81-5C7D6278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7AF0E93-9F39-407C-984F-97495AE3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229100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通算-5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79C33DD-DFCF-469C-84B6-587CB82B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2957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6BE448FC-ED58-44AD-A410-3049B576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529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A8BAC6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8AE0B80-6920-475A-B4BE-C6925831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529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BB5"/>
          </a:solidFill>
          <a:ln xmlns:a="http://schemas.openxmlformats.org/drawingml/2006/main" w="9525">
            <a:solidFill>
              <a:srgbClr val="377BB5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22F2AFC-0E30-4100-BB99-93CB05B6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9625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7B3"/>
          </a:solidFill>
          <a:ln xmlns:a="http://schemas.openxmlformats.org/drawingml/2006/main" w="9525">
            <a:solidFill>
              <a:srgbClr val="95A7B3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DD455C5-A246-4AD9-B017-99DC3807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62475"/>
            <a:ext cx="86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通算-6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A9E35EE-E9FC-4AC4-B477-E07355D9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6291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F96"/>
          </a:solidFill>
          <a:ln xmlns:a="http://schemas.openxmlformats.org/drawingml/2006/main" w="9525">
            <a:solidFill>
              <a:srgbClr val="24AF96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CDF5AD8-FC90-48ED-9F0B-B2E8C1E6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C09E7CB-9CC8-49A5-A961-129CEE43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81600"/>
            <a:ext cx="238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F50"/>
          </a:solidFill>
          <a:ln xmlns:a="http://schemas.openxmlformats.org/drawingml/2006/main" w="9525">
            <a:solidFill>
              <a:srgbClr val="263F50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C097611-8EFF-4A9C-875C-77CA5FA5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A / B：模型推理</a:t>
            </a:r>
          </a:p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C：MASS 平台及支撑服务</a:t>
            </a:r>
          </a:p>
        </p:txBody>
      </p:sp>
      <p:graphicFrame>
        <p:nvGraphicFramePr>
          <p:cNvPr id="417" name=""/>
          <p:cNvGraphicFramePr/>
          <p:nvPr/>
        </p:nvGraphicFramePr>
        <p:xfrm>
          <a:off xmlns:a="http://schemas.openxmlformats.org/drawingml/2006/main" x="5524500" y="1943100"/>
          <a:ext xmlns:a="http://schemas.openxmlformats.org/drawingml/2006/main" cx="607695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52550"/>
                <a:gridCol w="4724400"/>
              </a:tblGrid>
              <a:tr h="3714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服务器 / 数量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单台配置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</a:tr>
              <a:tr h="13525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×2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 16 张 NPU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已定：8×910B，8×200GE RoCE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参考：4×Kunpeng 920_5250，24×32GB 内存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 2×480GB SATA，数据盘 4×1.92TB NVMe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参考卡标为 Ascend 910_4-64G，需核对型号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×6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 48 张 GPU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已定：8×NVIDIA T4（单卡 16GB）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待补：CPU、内存、系统盘、数据盘、网卡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整机需核验八卡槽位、供电和散热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通算 ×6</a:t>
                      </a:r>
                    </a:p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既有设备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参考：2×Intel 5218R，12×32GB DDR4 2933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 2×480GB，数据盘 14×1.92TB SATA SSD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 2×GE＋4×10GE，现有配置待资产核对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1A8899C-E521-4859-B4CD-AA461CF9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95975"/>
            <a:ext cx="1100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上架条件：每柜 1 台 910B＋3 台 T4＋网络设备的整机峰值及预留，不得超过机柜可用功率。</a:t>
            </a:r>
          </a:p>
        </p:txBody>
      </p:sp>
    </p:spTree>
    <p:extLst>
      <p:ext uri="{BB962C8B-B14F-4D97-AF65-F5344CB8AC3E}">
        <p14:creationId xmlns:p14="http://schemas.microsoft.com/office/powerpoint/2010/main" val="1207629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06293-ADA8-448F-8E83-AB07DA06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F196B-5FE6-4D26-8742-94812C1B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网络、存储与上架配套清单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9ED9F-9F30-4947-A5A0-23D98860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盘点口径：已确定数量直接列示，参考规格保留，选配设备单独计算。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91976-E237-457E-9DFD-29AE7D72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A7EC6-2BB6-4544-B354-49D8861E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04E57-4536-4C6E-9FD5-6877B99C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85925"/>
                <a:gridCol w="1524000"/>
                <a:gridCol w="7839075"/>
              </a:tblGrid>
              <a:tr h="352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设备类别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 / 状态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配置与盘点要求</a:t>
                      </a:r>
                    </a:p>
                  </a:txBody>
                  <a:tcPr marL="95250" marR="76200" marT="28575" marB="28575" anchor="ctr">
                    <a:solidFill>
                      <a:srgbClr val="12304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交换机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台，已确定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32×200GE；本期接入 16 个 200GE 端口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另一参考为 16×400GE 分拆接入，需核验端口分拆及线缆兼容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光链路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条链路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个光模块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两台 910B 各 8 条 200GE；服务器端 16 个＋交换机端 16 个模块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 16 组光纤，按模块接口和跨柜距离选型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业务交换机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数量待盘点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48×25GE＋8×100GE；核对服务器网卡、上联与所需光模块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管理交换机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数量待盘点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 48×GE/10GE；接入 14 台服务器 BMC 及交换设备管理口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对象存储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可选，数量待定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参考：2×Intel 4214R，12×16GB 内存，2×480GB SSD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20×8TB HDD，2×1.6TB NVMe，2×1GE＋4×10GE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整机配件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逐台核对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机箱、主板、CPU/散热器、内存、系统/数据盘、磁盘控制器（按需）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八卡槽位及 Riser、网卡/BMC、风扇、冗余电源、导轨</a:t>
                      </a:r>
                    </a:p>
                  </a:txBody>
                  <a:tcPr marL="95250" marR="76200" marT="28575" marB="28575" anchor="ctr">
                    <a:solidFill>
                      <a:srgbClr val="EDF4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机柜及机房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逐柜核对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PDU、电源线、接地、理线器、管理网线、业务光模块及光纤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供电回路、UPS、制冷、U 位及承重，核验新增与既有资源差缺</a:t>
                      </a:r>
                    </a:p>
                  </a:txBody>
                  <a:tcPr marL="95250" marR="76200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16B67-BDCF-498D-ADBE-275547E6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盘点结果应形成逐台配置表、逐端口接线表和逐柜功率表，再确定补购数量。</a:t>
            </a:r>
          </a:p>
        </p:txBody>
      </p:sp>
    </p:spTree>
    <p:extLst>
      <p:ext uri="{BB962C8B-B14F-4D97-AF65-F5344CB8AC3E}">
        <p14:creationId xmlns:p14="http://schemas.microsoft.com/office/powerpoint/2010/main" val="253366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2026-09-16T06:11:58.7430000Z</dcterms:created>
  <dcterms:modified xsi:type="dcterms:W3CDTF">2026-09-16T06:11:58.7430000Z</dcterms:modified>
</coreProperties>
</file>