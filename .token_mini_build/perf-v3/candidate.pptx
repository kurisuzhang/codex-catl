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9b155a8b54d47" /><Relationship Type="http://schemas.openxmlformats.org/officeDocument/2006/relationships/extended-properties" Target="/docProps/app.xml" Id="Rdfbbd4db505240ac" /><Relationship Type="http://schemas.openxmlformats.org/officeDocument/2006/relationships/officeDocument" Target="/ppt/presentation.xml" Id="R0fbdc79ec90e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792c69318428e"/>
  </p:sldMasterIdLst>
  <p:notesMasterIdLst>
    <p:notesMasterId xmlns:r="http://schemas.openxmlformats.org/officeDocument/2006/relationships" r:id="Rc2c251387d704874"/>
  </p:notesMasterIdLst>
  <p:sldIdLst>
    <p:sldId xmlns:r="http://schemas.openxmlformats.org/officeDocument/2006/relationships" id="256" r:id="Rec61bc7c6dbe4127"/>
    <p:sldId xmlns:r="http://schemas.openxmlformats.org/officeDocument/2006/relationships" id="257" r:id="Radcc0504b867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67d9451854b45" /><Relationship Type="http://schemas.openxmlformats.org/officeDocument/2006/relationships/slideMaster" Target="/ppt/slideMasters/slideMaster1.xml" Id="Rbae792c69318428e" /><Relationship Type="http://schemas.openxmlformats.org/officeDocument/2006/relationships/notesMaster" Target="/ppt/notesMasters/notesMaster1.xml" Id="Rc2c251387d704874" /><Relationship Type="http://schemas.openxmlformats.org/officeDocument/2006/relationships/presProps" Target="/ppt/presProps.xml" Id="R8f08d84aadd24913" /><Relationship Type="http://schemas.openxmlformats.org/officeDocument/2006/relationships/tableStyles" Target="/ppt/tableStyles.xml" Id="Rd8dedcc2682e4baf" /><Relationship Type="http://schemas.openxmlformats.org/officeDocument/2006/relationships/slide" Target="/ppt/slides/slide1.xml" Id="Rec61bc7c6dbe4127" /><Relationship Type="http://schemas.openxmlformats.org/officeDocument/2006/relationships/slide" Target="/ppt/slides/slide2.xml" Id="Radcc0504b867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a087327c1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05efd286dc4697" /><Relationship Type="http://schemas.openxmlformats.org/officeDocument/2006/relationships/notesMaster" Target="/ppt/notesMasters/notesMaster1.xml" Id="Rc84d2f80f7b547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e2d1faf3424bd3" /><Relationship Type="http://schemas.openxmlformats.org/officeDocument/2006/relationships/notesMaster" Target="/ppt/notesMasters/notesMaster1.xml" Id="R4c7dacee3eb844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命令采用EvalScope当前源码random_dataset.py核验语义：prefix_length+input_len，总输入12800，公共前缀11520，独立后缀1280。部分文档对prompt-length范围的描述存在不一致，执行前固定版本并小样本核查返回input token数。tokenize-prompt经/v1/completions传token IDs以避免文本再tokenize和chat模板误差。此为合成性能基线，不是聊天质量评测。输入上下文须容纳12800+输出128，显存不足应按比例缩短并对齐缓存块。90%只为目标；前缀命中按块、可能有缓存淘汰/特殊token差异，必须实际计数，不能通过比例公式认定实际已90%。当前源码预热和正式数据使用同一前缀且不同后缀；暖身64请求仅适用于本示例并发≤64，更多并发时增大预热数量。固定单副本或确保每个副本预热，暖身结束后不得清缓存。0%严格基线关闭prefix cache；另做缓存开启独立前缀并重置缓存的近0%组衡量查找开销，两者不能混写。vLLM可用--no-enable-prefix-caching，SGLang可用--disable-radix-cache，均按冻结版本help确认并加回07的完整硬件启动参数。0%组和90%组分别重启隔离测试服务；不要对生产实例清缓存。关键前提、完整shell文件与数据记录见配套文档。</a:t>
            </a:r>
          </a:p>
          <a:p xmlns:a="http://schemas.openxmlformats.org/drawingml/2006/main">
            <a:r>
              <a:t>https://github.com/modelscope/evalscope/blob/main/evalscope/perf/plugin/datasets/random_dataset.py</a:t>
            </a:r>
          </a:p>
          <a:p xmlns:a="http://schemas.openxmlformats.org/drawingml/2006/main">
            <a:r>
              <a:t>https://github.com/modelscope/evalscope/blob/main/docs/en/user_guides/stress_test/parameters.md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为统一测量窗口秒数；同一批成功请求及其输入、实际命中、实际输出构成可对账数据。推荐测量阶段请求全部完成或超时后结束计时，包含排空时间，预热请求排除。若选择固定稳态窗口，只统计窗口内事件并明确跨界请求处理，不混用两种口径。客户端计时应记录发送、首有效token、最后有效token、请求结束时间。SSE空块、角色块不算首token，一个chunk可能包含多个token，因此只能估计token间隔时需明确标注；TPOT按实际token数量和首末时刻计算，不把每个chunk当token。TTFT并非纯prefill时延，需纯计算耗时另采引擎prefill/queue指标。TPOT逐请求后汇总，不能拿吞吐倒数替代。cached_tokens必须是实际复用量，不可使用设计前缀长度代替；如用服务端Prometheus计数，核实版本、单位和是否包含预热/失败/其他流量，计数器重启与跨卡汇总也要处理，不能无条件与成功请求口径混算。量化、缓存配置、引擎版本、镜像、并行、输入输出长度、工具、随机种子及完整命令都归档。单卡归一化token/s=token/min÷60÷实际占用卡数，仅作为同规格平均值；PD混部不能按同一批卡重复计算两份产能。所有表格为空白记录规范，未伪造测试结果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e3f01793d4b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ad8143f874f6b" /><Relationship Type="http://schemas.openxmlformats.org/officeDocument/2006/relationships/slideLayout" Target="/ppt/slideLayouts/slideLayout1.xml" Id="Rcd58b6118a9740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8b6118a9740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95743df00409d" /><Relationship Type="http://schemas.openxmlformats.org/officeDocument/2006/relationships/notesSlide" Target="/ppt/notesSlides/notesSlide1.xml" Id="R8dd7ac61aca8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484c346aa4ff7" /><Relationship Type="http://schemas.openxmlformats.org/officeDocument/2006/relationships/notesSlide" Target="/ppt/notesSlides/notesSlide2.xml" Id="R215d07e125ec47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ACB98-FDE9-4A92-8BF0-64E1D7D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7AFA7-FA9E-414E-BE78-4A0BA525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0% 与 90% 命中压测：同一工具，改变共享前缀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3400F-377D-45AC-8571-AD05D3A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无需下载两套数据集：EvalScope random 自动生成。90% 指输入 Token 复用比例，不是请求命中比例。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50EB1-48BA-4461-B0B6-709BBF70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31E23-E230-468A-9075-4144411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DFCD0-2594-459C-9460-E3ABE1E9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530E0-8C5E-4D6B-A48D-BE95F007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准备服务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8E18-AB7E-4ABA-A5DD-8B55ACA6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743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直连单副本 /v1/completions，使用同一 tokenizer；确认支持 token-ID 输入。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0% 严格基线关闭 prefix cache；90% 开启缓存。生产镜像与并行参数保持不变。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24ED6-2CC6-495E-92B7-7323205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公共命令（Bash 函数，先替换服务地址、模型名与目录）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53E43-9FF2-49A2-9C13-5C6FA00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81325"/>
            <a:ext cx="110109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bench() { evalscope perf --api openai --stream \</a:t>
            </a:r>
          </a:p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--url "$URL" --model "$MODEL" --tokenizer-path "$TOK" \</a:t>
            </a:r>
          </a:p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--dataset random --tokenize-prompt --prefix-length "$1" \</a:t>
            </a:r>
          </a:p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--min-prompt-length "$2" --max-prompt-length "$2" \</a:t>
            </a:r>
          </a:p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--min-tokens 128 --max-tokens 128 --parallel "$3" \</a:t>
            </a:r>
          </a:p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--number 2000 --warmup-num 64;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1DF24-BB79-4D2C-9CF0-B5C202D6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分别执行两组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4901-268B-4717-B7FD-3060985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0%：bench 0 12800 16</a:t>
            </a:r>
          </a:p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90%：bench 11520 1280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DB121-18DD-44F2-B5BE-A0C09C1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33950"/>
            <a:ext cx="5867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两组均为 12,800 输入 Token，输出上限 128。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当前核验实现：总输入＝prefix-length＋prompt-length。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772EA-798D-429A-9A81-BD4B353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核验并扫并发：读正式阶段 cached_tokens / input_tokens，再将 16 改为 1、2、4、8、32…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78D76-91CF-4150-BAEC-ABEC5CA4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预热不计入。90% 是构造目标，需实测确认；严格0%与缓存开启未命中要分开报告。完整步骤见配套脚本。</a:t>
            </a:r>
          </a:p>
        </p:txBody>
      </p:sp>
    </p:spTree>
    <p:extLst>
      <p:ext uri="{BB962C8B-B14F-4D97-AF65-F5344CB8AC3E}">
        <p14:creationId xmlns:p14="http://schemas.microsoft.com/office/powerpoint/2010/main" val="707158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4298E-D428-48EB-9C15-1C1D8540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ACD7B-9637-4ED8-ACAB-14076924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记录指标：延迟、并发与三类 Token 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3A7F-664F-480B-8BA0-36BA80D3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每个模型 × 精度 × 卡数 × 长度组合 × 缓存场景 × 并发档，单独保留一行结果和原始请求记录。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97570-4494-4093-A904-3E146CDC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3067C-AC58-4B34-ADB3-D1E77CD6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AA8D9-A5C2-4B98-9081-9A678F0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14525"/>
          <a:ext xmlns:a="http://schemas.openxmlformats.org/drawingml/2006/main" cx="110490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143500"/>
                <a:gridCol w="3429000"/>
              </a:tblGrid>
              <a:tr h="333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必须记录的指标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定义与单位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 / 取数方式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并发与可靠性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 / 实际并发、请求速率、成功率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超时数、错误数、排队长度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压测端请求日志＋服务端运行 / 等待指标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TTFT：首 Token 延迟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首个有效输出 Token 时间－请求发出时间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ms，记录 P50 / P95 / P99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客户端流式计时，包含网络、排队和 Prefill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TPOT：平均后续 Token 间隔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（最后 Token 时间－首 Token 时间）/（输出数－1）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ms/token，输出数≤1时不计算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逐请求计算再汇总分位数；另存 E2E 延迟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无命中吞吐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Σ（输入 Token－命中 Token）×60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分别报告冷 / 热 / 混合场景，T 为统一计时秒数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缓存命中吞吐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命中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token/min，表示缓存复用服务量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读实际 cached_tokens；缺失则标不可得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Decode 输出吞吐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实际输出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以实际返回 Token 计数，不能使用最大输出长度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辅助与资源指标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 / 输出总量、命中率、E2E 分位数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逐卡峰值显存、利用率、功率 / 网络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命中率＝命中输入 / 总输入；保留版本与卡数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520E5-9273-4819-B5C6-5104A626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口径：统一测量窗口及请求集合；报告成功请求吞吐，同时保留失败请求数量和资源消耗。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A5C30-6020-4677-A5D2-954B5C4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缓存命中吞吐不是重新计算的算力吞吐。混部测得的是服务吞吐，不能直接当作独立 P / D 集群产能。</a:t>
            </a:r>
          </a:p>
        </p:txBody>
      </p:sp>
    </p:spTree>
    <p:extLst>
      <p:ext uri="{BB962C8B-B14F-4D97-AF65-F5344CB8AC3E}">
        <p14:creationId xmlns:p14="http://schemas.microsoft.com/office/powerpoint/2010/main" val="989070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2026-09-16T08:47:35.2540000Z</dcterms:created>
  <dcterms:modified xsi:type="dcterms:W3CDTF">2026-09-16T08:47:35.2540000Z</dcterms:modified>
</coreProperties>
</file>