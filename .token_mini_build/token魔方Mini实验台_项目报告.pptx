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62fa7922884823" /><Relationship Type="http://schemas.openxmlformats.org/officeDocument/2006/relationships/extended-properties" Target="/docProps/app.xml" Id="R973bd34db4884825" /><Relationship Type="http://schemas.openxmlformats.org/officeDocument/2006/relationships/officeDocument" Target="/ppt/presentation.xml" Id="R627a66ce5c0f44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3339b560f1406f"/>
  </p:sldMasterIdLst>
  <p:notesMasterIdLst>
    <p:notesMasterId xmlns:r="http://schemas.openxmlformats.org/officeDocument/2006/relationships" r:id="R3857e21dc5484c7a"/>
  </p:notesMasterIdLst>
  <p:sldIdLst>
    <p:sldId xmlns:r="http://schemas.openxmlformats.org/officeDocument/2006/relationships" id="256" r:id="R16f4d2e83b2a4a66"/>
    <p:sldId xmlns:r="http://schemas.openxmlformats.org/officeDocument/2006/relationships" id="257" r:id="R730d6e0d62c7432d"/>
    <p:sldId xmlns:r="http://schemas.openxmlformats.org/officeDocument/2006/relationships" id="258" r:id="R9f44ab63c83f46c1"/>
    <p:sldId xmlns:r="http://schemas.openxmlformats.org/officeDocument/2006/relationships" id="259" r:id="R60dbf009e3df40c0"/>
    <p:sldId xmlns:r="http://schemas.openxmlformats.org/officeDocument/2006/relationships" id="260" r:id="R7f8d0e1283674b69"/>
    <p:sldId xmlns:r="http://schemas.openxmlformats.org/officeDocument/2006/relationships" id="261" r:id="R7bcd65411c3b4ba9"/>
    <p:sldId xmlns:r="http://schemas.openxmlformats.org/officeDocument/2006/relationships" id="262" r:id="R2c732d99250c4e7a"/>
    <p:sldId xmlns:r="http://schemas.openxmlformats.org/officeDocument/2006/relationships" id="263" r:id="R137230304e0b4094"/>
    <p:sldId xmlns:r="http://schemas.openxmlformats.org/officeDocument/2006/relationships" id="264" r:id="Redcca57a210547ab"/>
    <p:sldId xmlns:r="http://schemas.openxmlformats.org/officeDocument/2006/relationships" id="265" r:id="Re92ac71bbfe74ff4"/>
    <p:sldId xmlns:r="http://schemas.openxmlformats.org/officeDocument/2006/relationships" id="266" r:id="R971103e82a354b41"/>
    <p:sldId xmlns:r="http://schemas.openxmlformats.org/officeDocument/2006/relationships" id="267" r:id="Rb58f6d0024544bca"/>
    <p:sldId xmlns:r="http://schemas.openxmlformats.org/officeDocument/2006/relationships" id="268" r:id="R9135244cbd994a34"/>
    <p:sldId xmlns:r="http://schemas.openxmlformats.org/officeDocument/2006/relationships" id="269" r:id="Rcfd42df699a74977"/>
    <p:sldId xmlns:r="http://schemas.openxmlformats.org/officeDocument/2006/relationships" id="270" r:id="Reaae4452563046b2"/>
    <p:sldId xmlns:r="http://schemas.openxmlformats.org/officeDocument/2006/relationships" id="271" r:id="R52b9c523d9da4892"/>
    <p:sldId xmlns:r="http://schemas.openxmlformats.org/officeDocument/2006/relationships" id="272" r:id="Re67150d5cfb642c8"/>
    <p:sldId xmlns:r="http://schemas.openxmlformats.org/officeDocument/2006/relationships" id="273" r:id="R40fb574c1c6946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c511ff0fd04d20" /><Relationship Type="http://schemas.openxmlformats.org/officeDocument/2006/relationships/slideMaster" Target="/ppt/slideMasters/slideMaster1.xml" Id="Rd03339b560f1406f" /><Relationship Type="http://schemas.openxmlformats.org/officeDocument/2006/relationships/notesMaster" Target="/ppt/notesMasters/notesMaster1.xml" Id="R3857e21dc5484c7a" /><Relationship Type="http://schemas.openxmlformats.org/officeDocument/2006/relationships/presProps" Target="/ppt/presProps.xml" Id="Rfa4a3cda14874090" /><Relationship Type="http://schemas.openxmlformats.org/officeDocument/2006/relationships/tableStyles" Target="/ppt/tableStyles.xml" Id="R94624b0b7a554b14" /><Relationship Type="http://schemas.openxmlformats.org/officeDocument/2006/relationships/slide" Target="/ppt/slides/slide1.xml" Id="R16f4d2e83b2a4a66" /><Relationship Type="http://schemas.openxmlformats.org/officeDocument/2006/relationships/slide" Target="/ppt/slides/slide2.xml" Id="R730d6e0d62c7432d" /><Relationship Type="http://schemas.openxmlformats.org/officeDocument/2006/relationships/slide" Target="/ppt/slides/slide3.xml" Id="R9f44ab63c83f46c1" /><Relationship Type="http://schemas.openxmlformats.org/officeDocument/2006/relationships/slide" Target="/ppt/slides/slide4.xml" Id="R60dbf009e3df40c0" /><Relationship Type="http://schemas.openxmlformats.org/officeDocument/2006/relationships/slide" Target="/ppt/slides/slide5.xml" Id="R7f8d0e1283674b69" /><Relationship Type="http://schemas.openxmlformats.org/officeDocument/2006/relationships/slide" Target="/ppt/slides/slide6.xml" Id="R7bcd65411c3b4ba9" /><Relationship Type="http://schemas.openxmlformats.org/officeDocument/2006/relationships/slide" Target="/ppt/slides/slide7.xml" Id="R2c732d99250c4e7a" /><Relationship Type="http://schemas.openxmlformats.org/officeDocument/2006/relationships/slide" Target="/ppt/slides/slide8.xml" Id="R137230304e0b4094" /><Relationship Type="http://schemas.openxmlformats.org/officeDocument/2006/relationships/slide" Target="/ppt/slides/slide9.xml" Id="Redcca57a210547ab" /><Relationship Type="http://schemas.openxmlformats.org/officeDocument/2006/relationships/slide" Target="/ppt/slides/slide10.xml" Id="Re92ac71bbfe74ff4" /><Relationship Type="http://schemas.openxmlformats.org/officeDocument/2006/relationships/slide" Target="/ppt/slides/slide11.xml" Id="R971103e82a354b41" /><Relationship Type="http://schemas.openxmlformats.org/officeDocument/2006/relationships/slide" Target="/ppt/slides/slide12.xml" Id="Rb58f6d0024544bca" /><Relationship Type="http://schemas.openxmlformats.org/officeDocument/2006/relationships/slide" Target="/ppt/slides/slide13.xml" Id="R9135244cbd994a34" /><Relationship Type="http://schemas.openxmlformats.org/officeDocument/2006/relationships/slide" Target="/ppt/slides/slide14.xml" Id="Rcfd42df699a74977" /><Relationship Type="http://schemas.openxmlformats.org/officeDocument/2006/relationships/slide" Target="/ppt/slides/slide15.xml" Id="Reaae4452563046b2" /><Relationship Type="http://schemas.openxmlformats.org/officeDocument/2006/relationships/slide" Target="/ppt/slides/slide16.xml" Id="R52b9c523d9da4892" /><Relationship Type="http://schemas.openxmlformats.org/officeDocument/2006/relationships/slide" Target="/ppt/slides/slide17.xml" Id="Re67150d5cfb642c8" /><Relationship Type="http://schemas.openxmlformats.org/officeDocument/2006/relationships/slide" Target="/ppt/slides/slide18.xml" Id="R40fb574c1c6946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7952dfbf0a40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b7678c75174861" /><Relationship Type="http://schemas.openxmlformats.org/officeDocument/2006/relationships/notesMaster" Target="/ppt/notesMasters/notesMaster1.xml" Id="R083f6252cbd549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d79e77dff34686" /><Relationship Type="http://schemas.openxmlformats.org/officeDocument/2006/relationships/notesMaster" Target="/ppt/notesMasters/notesMaster1.xml" Id="Rcb3caf292e9440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c755e23c854ac9" /><Relationship Type="http://schemas.openxmlformats.org/officeDocument/2006/relationships/notesMaster" Target="/ppt/notesMasters/notesMaster1.xml" Id="Rbfba5698caaf48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4c072d989d453c" /><Relationship Type="http://schemas.openxmlformats.org/officeDocument/2006/relationships/notesMaster" Target="/ppt/notesMasters/notesMaster1.xml" Id="R92d122f92e764f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f21d2db9f548e0" /><Relationship Type="http://schemas.openxmlformats.org/officeDocument/2006/relationships/notesMaster" Target="/ppt/notesMasters/notesMaster1.xml" Id="Rd58f39b0f0c149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586ba27c9b4abb" /><Relationship Type="http://schemas.openxmlformats.org/officeDocument/2006/relationships/notesMaster" Target="/ppt/notesMasters/notesMaster1.xml" Id="Rae3fe0b09ba14b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3b33cf1b4b4221" /><Relationship Type="http://schemas.openxmlformats.org/officeDocument/2006/relationships/notesMaster" Target="/ppt/notesMasters/notesMaster1.xml" Id="R18088e9770dc46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2ded82cd294406" /><Relationship Type="http://schemas.openxmlformats.org/officeDocument/2006/relationships/notesMaster" Target="/ppt/notesMasters/notesMaster1.xml" Id="R69bdd9df3abe4f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7d6f4a42b44ab1" /><Relationship Type="http://schemas.openxmlformats.org/officeDocument/2006/relationships/notesMaster" Target="/ppt/notesMasters/notesMaster1.xml" Id="R4fa646338a3448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f3a214b220497b" /><Relationship Type="http://schemas.openxmlformats.org/officeDocument/2006/relationships/notesMaster" Target="/ppt/notesMasters/notesMaster1.xml" Id="R905d0c79317340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736f36adec46a3" /><Relationship Type="http://schemas.openxmlformats.org/officeDocument/2006/relationships/notesMaster" Target="/ppt/notesMasters/notesMaster1.xml" Id="R91eadf6cbbd14b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4185030ef441d6" /><Relationship Type="http://schemas.openxmlformats.org/officeDocument/2006/relationships/notesMaster" Target="/ppt/notesMasters/notesMaster1.xml" Id="R9074b6f554be48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92459763324ae0" /><Relationship Type="http://schemas.openxmlformats.org/officeDocument/2006/relationships/notesMaster" Target="/ppt/notesMasters/notesMaster1.xml" Id="R5820503ed1f142e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c2ab145eff48ab" /><Relationship Type="http://schemas.openxmlformats.org/officeDocument/2006/relationships/notesMaster" Target="/ppt/notesMasters/notesMaster1.xml" Id="Rd61135b1b32f41f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91a584254d49bd" /><Relationship Type="http://schemas.openxmlformats.org/officeDocument/2006/relationships/notesMaster" Target="/ppt/notesMasters/notesMaster1.xml" Id="Reb4529bac4b44c7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2192b9d2927426e" /><Relationship Type="http://schemas.openxmlformats.org/officeDocument/2006/relationships/notesMaster" Target="/ppt/notesMasters/notesMaster1.xml" Id="R44f1b8c1a8dc4f0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566252175b34bf6" /><Relationship Type="http://schemas.openxmlformats.org/officeDocument/2006/relationships/notesMaster" Target="/ppt/notesMasters/notesMaster1.xml" Id="R2b7cc42c28054ee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00ae564bd6a4755" /><Relationship Type="http://schemas.openxmlformats.org/officeDocument/2006/relationships/notesMaster" Target="/ppt/notesMasters/notesMaster1.xml" Id="R17cfb5a0842449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内部立项与跨部门评审。依据已确认的执行文档v1.5制作，保留11个主题，合计18页。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优先建议Qwen3-8B作为910B文本联调候选，具体平台采购规格尚未确认。YOLO和Wan独立PoC，不阻塞首个文本计量案例。技术验证完成不代表商业闭环完成。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柜图为资源布置示意，不代表U位尺寸。通算服务器仅列配置类别，不画进两新柜。910B整机单台超过5kW为用户输入，因此两台不可装入同一10kW机柜。卡数计算2×8=16，6×8=48。T4多卡显存不是天然连续显存。RoCE交换机拟放A柜，图上不占服务器槽，功率另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t4: https://www.nvidia.cn/content/dam/en-zz/Solutions/Data-Center/tesla-t4/t4-tensor-core-datasheet.pdf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均为相应整机/设备的设计负载峰值，不能用GPU板卡功耗代替整机，不能将冗余PSU铭牌额定值简单相加。P机柜可用由机房在回路、PDU、故障供电及制冷条件下确认，不自动等于标称10kW。A柜网络负载含RoCE交换机，B柜按实际驻留设备计。覆盖14台整机及网络设备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蓝色为业务网，青色为910B高速计算网，灰色为BMC带外管理。业务网覆盖图示910B与通算，T4业务接入以文字说明。可选存储独立网按模型分发需要启用。跨柜共用同一交换机无新增交换跳数。单RoCE交换机无交换机级冗余。验收：接口与模块兼容、实际距离/光纤/波长/FEC/光功率；16端口速率与映射、MTU/IP、按厂家方案配置PFC/ECN；光误码和丢包检查，再做双机HCCL带宽与实际并行任务。不得仅凭ping。T4不自动接入昇腾HCCL通信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roce: https://e.huawei.com/cn/products/computing/ascend/atlas-800t-a2</a:t>
            </a:r>
          </a:p>
          <a:p xmlns:a="http://schemas.openxmlformats.org/drawingml/2006/main">
            <a:r>
              <a:t>optics: https://e.huawei.com/cn/products/dcn-modules/200g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列为候选替代路径，不要求全部组件同时安装。T4支持FP16及经核验的INT4/INT8路径；BF16/FP8原生能力不能按新卡假定。CUDA专用kernel无法直接搬到Ascend。固定OS/CPU架构、驱动、固件、CUDA或CANN、框架、引擎和镜像digest，按选定release支持矩阵验收。当前文档快照只是研究来源，不宣称latest镜像已在本机验证。vLLM不作为YOLO或Wan统一引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gpu: https://docs.vllm.ai/en/latest/getting_started/installation/gpu/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trt: https://nvidia.github.io/TensorRT-LLM/reference/support-matrix.html</a:t>
            </a:r>
          </a:p>
          <a:p xmlns:a="http://schemas.openxmlformats.org/drawingml/2006/main">
            <a:r>
              <a:t>install: https://docs.vllm.ai/projects/ascend/en/main/getting_started/installation.html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为逻辑架构，未声称全部功能属于MASS或已部署。管理/配置、请求、计量三个职责分开。计量字段：tenant_id、request_id、attempt_id、event_id、model/version、tokenizer版本、开始结束时间、状态、input/output/cache_hit/cache_miss、规则版本、原始证据引用。缓存量按双方计费规则核对，框架缓存块计数不得直接当计费Token。YOLO与Wan使用task_id和图片/视频任务单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固定候选ID：Qwen/Qwen3-8B；deepseek-ai/DeepSeek-R1-Distill-Qwen-32B；zai-org/GLM-4.5-Air。权重revision/hash、目标引擎release与镜像digest待设备验证阶段冻结，不能把研究候选称为已验收配置。Qwen3-Dense在当前A2/A3矩阵支持；DeepSeek Distill标为experimental。GLM-4.5-Air主干总参数106B、激活12B，仓库张量统计约110B，容量以实际权重字节与加载策略为准，不能按激活参数估算。优先单机支持的并行配置，只有容量或性能需要时再双机HCCL。备选完整DeepSeek-R1/V3.2须另算量化/双机容量，当前不承诺。所有模型均未本机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asc: https://docs.vllm.ai/projects/ascend/en/latest/user_guide/support_matrix/supported_models.html</a:t>
            </a:r>
          </a:p>
          <a:p xmlns:a="http://schemas.openxmlformats.org/drawingml/2006/main">
            <a:r>
              <a:t>qwen: https://huggingface.co/Qwen/Qwen3-8B</a:t>
            </a:r>
          </a:p>
          <a:p xmlns:a="http://schemas.openxmlformats.org/drawingml/2006/main">
            <a:r>
              <a:t>ds: https://huggingface.co/deepseek-ai/DeepSeek-R1-Distill-Qwen-32B</a:t>
            </a:r>
          </a:p>
          <a:p xmlns:a="http://schemas.openxmlformats.org/drawingml/2006/main">
            <a:r>
              <a:t>glm: https://huggingface.co/zai-org/GLM-4.5-Air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完整ID：Qwen/Qwen2.5-7B-Instruct-AWQ，Ultralytics YOLO26n，Wan-AI/Wan2.1-T2V-1.3B。7B AWQ先验证单卡容量与SM75 kernel，不保证任意上下文/并发。量化只降低字节数，不减少参数量。可增加同系列14B量化作为备选，需重新核验。YOLO官方表有T4/TensorRT列，不搬用其速度作为本台结果；模型/软件许可及商用供给方式待核。Wan仓库低显存参考约8.19GB，非T4完整兼容证据，需检验FP16数值、注意力后端和卸载开销；不搬用4090速度。各任务固定独立镜像，不默认TP8。48卡在任务之间按卡时分配，不重复满额计收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t4: https://www.nvidia.cn/content/dam/en-zz/Solutions/Data-Center/tesla-t4/t4-tensor-core-datasheet.pdf</a:t>
            </a:r>
          </a:p>
          <a:p xmlns:a="http://schemas.openxmlformats.org/drawingml/2006/main">
            <a:r>
              <a:t>awq: https://huggingface.co/Qwen/Qwen2.5-7B-Instruct-AWQ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yolo: https://docs.ultralytics.com/models/yolo26</a:t>
            </a:r>
          </a:p>
          <a:p xmlns:a="http://schemas.openxmlformats.org/drawingml/2006/main">
            <a:r>
              <a:t>wan: https://github.com/Wan-Video/Wan2.1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操作记录包含nvidia-smi或npu-smi设备识别、每台8卡、PCIe/NUMA与网络，版本与镜像digest，模型文件hash与许可证。服务配置固定max_model_len、精度、量化、TP/PP/副本及CPU/内存限制。文本验证流式chunk边界、模板、截断、超时和输入输出计数。YOLO额外核验预/后处理、类别和坐标；Wan异步队列、任务状态、生成参数及结果文件交付。单模型成功不能外推所有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完整压测脚本模板（未执行）：</a:t>
            </a:r>
          </a:p>
          <a:p xmlns:a="http://schemas.openxmlformats.org/drawingml/2006/main">
            <a:r>
              <a:t>#!/usr/bin/env bash</a:t>
            </a:r>
          </a:p>
          <a:p xmlns:a="http://schemas.openxmlformats.org/drawingml/2006/main">
            <a:r>
              <a:t># Text-service benchmark template; not executed against any service during PPT creation.</a:t>
            </a:r>
          </a:p>
          <a:p xmlns:a="http://schemas.openxmlformats.org/drawingml/2006/main">
            <a:r>
              <a:t># CLI reference: vLLM 0.27.0. Pin the client and verify --help before use.</a:t>
            </a:r>
          </a:p>
          <a:p xmlns:a="http://schemas.openxmlformats.org/drawingml/2006/main">
            <a:r>
              <a:t>set -euo pipefail</a:t>
            </a:r>
          </a:p>
          <a:p xmlns:a="http://schemas.openxmlformats.org/drawingml/2006/main">
            <a:r>
              <a:t>: "${MODEL:?Set MODEL to the deployed service model ID}"</a:t>
            </a:r>
          </a:p>
          <a:p xmlns:a="http://schemas.openxmlformats.org/drawingml/2006/main">
            <a:r>
              <a:t>: "${TOKENIZER:?Set TOKENIZER to the matching local tokenizer path or ID}"</a:t>
            </a:r>
          </a:p>
          <a:p xmlns:a="http://schemas.openxmlformats.org/drawingml/2006/main">
            <a:r>
              <a:t>BENCH_URL="${BENCH_URL:-http://127.0.0.1:8000}"</a:t>
            </a:r>
          </a:p>
          <a:p xmlns:a="http://schemas.openxmlformats.org/drawingml/2006/main">
            <a:r>
              <a:t>BENCH_DIR="${BENCH_DIR:-./benchmark-results-$(date +%Y%m%d-%H%M%S)}"</a:t>
            </a:r>
          </a:p>
          <a:p xmlns:a="http://schemas.openxmlformats.org/drawingml/2006/main">
            <a:r>
              <a:t>BENCH_PROMPTS="${BENCH_PROMPTS:-500}"</a:t>
            </a:r>
          </a:p>
          <a:p xmlns:a="http://schemas.openxmlformats.org/drawingml/2006/main">
            <a:r>
              <a:t>mkdir -p "$BENCH_DIR"</a:t>
            </a:r>
          </a:p>
          <a:p xmlns:a="http://schemas.openxmlformats.org/drawingml/2006/main">
            <a:r>
              <a:t>vllm --version &gt; "$BENCH_DIR/client-version.txt"</a:t>
            </a:r>
          </a:p>
          <a:p xmlns:a="http://schemas.openxmlformats.org/drawingml/2006/main">
            <a:r>
              <a:t>vllm bench serve --help &gt; "$BENCH_DIR/client-help.txt"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Initial exploration only. Small-sample P99 is not a stable SLA estimate.</a:t>
            </a:r>
          </a:p>
          <a:p xmlns:a="http://schemas.openxmlformats.org/drawingml/2006/main">
            <a:r>
              <a:t># No cache-hit claim: repeat-prefix workloads and server usage evidence are separate.</a:t>
            </a:r>
          </a:p>
          <a:p xmlns:a="http://schemas.openxmlformats.org/drawingml/2006/main">
            <a:r>
              <a:t>for lengths in '256 128' '1024 128' '256 512' '1024 512'; do</a:t>
            </a:r>
          </a:p>
          <a:p xmlns:a="http://schemas.openxmlformats.org/drawingml/2006/main">
            <a:r>
              <a:t>  read -r input_len output_len &lt;&lt;&lt; "$lengths"</a:t>
            </a:r>
          </a:p>
          <a:p xmlns:a="http://schemas.openxmlformats.org/drawingml/2006/main">
            <a:r>
              <a:t>  for concurrency in 1 2 4 8 16 32; do</a:t>
            </a:r>
          </a:p>
          <a:p xmlns:a="http://schemas.openxmlformats.org/drawingml/2006/main">
            <a:r>
              <a:t>    for repeat in 1 2 3; do</a:t>
            </a:r>
          </a:p>
          <a:p xmlns:a="http://schemas.openxmlformats.org/drawingml/2006/main">
            <a:r>
              <a:t>      vllm bench serve \</a:t>
            </a:r>
          </a:p>
          <a:p xmlns:a="http://schemas.openxmlformats.org/drawingml/2006/main">
            <a:r>
              <a:t>        --backend openai --endpoint /v1/completions \</a:t>
            </a:r>
          </a:p>
          <a:p xmlns:a="http://schemas.openxmlformats.org/drawingml/2006/main">
            <a:r>
              <a:t>        --base-url "$BENCH_URL" --model "$MODEL" --tokenizer "$TOKENIZER" \</a:t>
            </a:r>
          </a:p>
          <a:p xmlns:a="http://schemas.openxmlformats.org/drawingml/2006/main">
            <a:r>
              <a:t>        --dataset-name random --input-len "$input_len" --output-len "$output_len" \</a:t>
            </a:r>
          </a:p>
          <a:p xmlns:a="http://schemas.openxmlformats.org/drawingml/2006/main">
            <a:r>
              <a:t>        --num-prompts "$BENCH_PROMPTS" --num-warmups 20 \</a:t>
            </a:r>
          </a:p>
          <a:p xmlns:a="http://schemas.openxmlformats.org/drawingml/2006/main">
            <a:r>
              <a:t>        --max-concurrency "$concurrency" --request-rate inf \</a:t>
            </a:r>
          </a:p>
          <a:p xmlns:a="http://schemas.openxmlformats.org/drawingml/2006/main">
            <a:r>
              <a:t>        --percentile-metrics ttft,tpot,itl,e2el --metric-percentiles 50,95,99 \</a:t>
            </a:r>
          </a:p>
          <a:p xmlns:a="http://schemas.openxmlformats.org/drawingml/2006/main">
            <a:r>
              <a:t>        --save-result --save-detailed --result-dir "$BENCH_DIR" \</a:t>
            </a:r>
          </a:p>
          <a:p xmlns:a="http://schemas.openxmlformats.org/drawingml/2006/main">
            <a:r>
              <a:t>        --result-filename "in${input_len}-out${output_len}-c${concurrency}-r${repeat}.json"</a:t>
            </a:r>
          </a:p>
          <a:p xmlns:a="http://schemas.openxmlformats.org/drawingml/2006/main">
            <a:r>
              <a:t>    done</a:t>
            </a:r>
          </a:p>
          <a:p xmlns:a="http://schemas.openxmlformats.org/drawingml/2006/main">
            <a:r>
              <a:t>  done</a:t>
            </a:r>
          </a:p>
          <a:p xmlns:a="http://schemas.openxmlformats.org/drawingml/2006/main">
            <a:r>
              <a:t>done</a:t>
            </a:r>
          </a:p>
          <a:p xmlns:a="http://schemas.openxmlformats.org/drawingml/2006/main">
            <a:r>
              <a:t># Run a separate arrival-rate experiment by replacing inf with chosen rates.</a:t>
            </a:r>
          </a:p>
          <a:p xmlns:a="http://schemas.openxmlformats.org/drawingml/2006/main">
            <a:r>
              <a:t># Preserve actual arrival rate, errors, duration, sample counts and server telemetry.</a:t>
            </a:r>
          </a:p>
          <a:p xmlns:a="http://schemas.openxmlformats.org/drawingml/2006/main">
            <a:r>
              <a:t># For authenticated/chat-only endpoints, adapt the backend, endpoint, template and</a:t>
            </a:r>
          </a:p>
          <a:p xmlns:a="http://schemas.openxmlformats.org/drawingml/2006/main">
            <a:r>
              <a:t># authentication using the installed client's help before running this script.</a:t>
            </a:r>
          </a:p>
          <a:p xmlns:a="http://schemas.openxmlformats.org/drawingml/2006/main">
            <a:r>
              <a:t># request_goodput is requests/s. Aggregate qualified input/output/cache tokens</a:t>
            </a:r>
          </a:p>
          <a:p xmlns:a="http://schemas.openxmlformats.org/drawingml/2006/main">
            <a:r>
              <a:t># separately, using the same request set and time window, before revenue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官方参数依据：https://docs.vllm.ai/en/v0.27.0/cli/bench/serve/</a:t>
            </a:r>
          </a:p>
          <a:p xmlns:a="http://schemas.openxmlformats.org/drawingml/2006/main">
            <a:r>
              <a:t>查询日期：2026-09-16。缓存命中另用重复前缀工作负载并核对服务端实际计数。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TPOT仅用于输出Token数≥2的样本，stream chunk不等于Token。统计所有请求错误与超时，分位数记录样本量。合格Token/s采用事先约定的合格请求集合，质量门槛不能仅靠客户端耗时替代。输入总数=命中+未命中（按约定计费边界）。client request_goodput为满足SLO请求数/秒，不能直接代入Token公式；输出吞吐是实际输出Token/秒。单卡吞吐不线性外推48卡，分别实测资源池和MASS入口。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metrics: https://docs.vllm.ai/en/latest/api/vllm/benchmarks/serve/</a:t>
            </a:r>
          </a:p>
          <a:p xmlns:a="http://schemas.openxmlformats.org/drawingml/2006/main">
            <a:r>
              <a:t>bench: https://docs.vllm.ai/en/v0.27.0/cli/bench/serve/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原公式完整保留：Decode集群月价值=Decode TGS×30×24×3600×Decode GPU总卡数×Decode单价/1000000×产出率。Prefill非命中与cache各用相应TGS、GPU总卡数、单价及计费产出率。910B资源卡为NPU，N泛指该资源池实际参与卡数。若直接使用集群Token/s则不再乘N。Mini基线Prefill/Decode混合部署，三类产能来自同一工作负载，不相加独立压测峰值。缓存TGS为可计费逻辑命中Token速率，不代表实际执行完整Prefill。η仅反映未在测量中体现的可用性/需求/可计费损失，避免重复打折。市场价格适用deepseek-flash(DeepSeek-V4.1-Flash)，高峰UTC工作日01:00–04:00及06:00–10:00，其余非高峰。公开API美元零售价不是本项目平台采购价，且与首选Qwen3-8B及蒸馏模型不同，不可直接估收入。YOLO按图片/任务，Wan按视频任务或合同单位另算。实际结算=双方认可用量×约定采购价±调整，实际回款以银行凭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price: https://api-docs.deepseek.com/quick_start/pricing/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令R0是同一模型组合、同币种税口径、固定卡时与负载下以基准采购价计算的月收入，若三类单价同比例乘k且成本不变，则盈亏k*=C/R0；R0=0时无此边界。若收入uRfull、成本F+uV，则u*=F/(Rfull−V)，仅当Rfull&gt;V且u*≤1才存在该区间的盈亏可能。缓存比例改变会影响计费价格和产能，不可只改一个数就声称真实利润。月电量=实测平均kW×小时，机柜10kW不是持续负载。CAPEX与折旧不得同月重复全额计成本。实际T4卡时在文本/检测/视频间分配，总和不超过48张×可用时间。利润、应收与回款分别记录；共享CPU机柜已有资源按项目分摊，避免重复新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商务讨论清单，并非已签协议或法律意见。首批用同一请求样本比对Tokenizer、推理返回usage、接入记录及平台账单。需约定失败/取消/重试/部分输出及缓存口径，不能由技术默认免费或收费。检测/视频分别约定规格、质量、任务单位及价格。合同还需价格变更、税费、付款账户、争议处理和开票要求，以双方最终文本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拟议条款由商务/法务/财务评审。单交换机故障可能影响双机并行服务，同一资源池内独立单机服务的影响依赖网络与路由。合同约定故障责任归属、供应方与平台侧原因判定、不可用统计、维护排除项、赔付上限、退出与余额清算。数据最小留存及安全职责按实际数据和适用制度审查，不假定客户数据可任意留存或用于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以角色为泳道、阶段为列。公司制度未提供，不虚构审批姓名或时限。重要交接：技术产能报告传商务财务形成报价；商务法务确认条款后技术按配额发布；技术给出用量明细、商务获取平台对账确认、财务形成结算及发票、商务财务跟踪到账。真实商业闭环需要实际交易与凭证；模拟账单仅作为计量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报告不声称设备已上架、模型已部署、压测已通过、合同已签或款项已到账。与第2页三项评审目标对应：确定首轮范围；明确资源资料及责任；设置试供给门槛。扩容依据需要实际质量、产能、订单与全成本经济性，不以峰值吞吐或能输出文本为充分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dd8f8923a04b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e22c791652483f" /><Relationship Type="http://schemas.openxmlformats.org/officeDocument/2006/relationships/slideLayout" Target="/ppt/slideLayouts/slideLayout1.xml" Id="R9da5421ef1614c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a5421ef1614c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48d7c2b8c4250" /><Relationship Type="http://schemas.openxmlformats.org/officeDocument/2006/relationships/notesSlide" Target="/ppt/notesSlides/notesSlide1.xml" Id="Rb2900e4ffdcd4c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dccd158a34647" /><Relationship Type="http://schemas.openxmlformats.org/officeDocument/2006/relationships/notesSlide" Target="/ppt/notesSlides/notesSlide2.xml" Id="R8159a9e2e8bf4f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35cbd63dd4f63" /><Relationship Type="http://schemas.openxmlformats.org/officeDocument/2006/relationships/notesSlide" Target="/ppt/notesSlides/notesSlide3.xml" Id="R6c27936bbda649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23e67052c4d7a" /><Relationship Type="http://schemas.openxmlformats.org/officeDocument/2006/relationships/notesSlide" Target="/ppt/notesSlides/notesSlide4.xml" Id="Re57dd7d233eb41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931c2c6ac4b64" /><Relationship Type="http://schemas.openxmlformats.org/officeDocument/2006/relationships/notesSlide" Target="/ppt/notesSlides/notesSlide5.xml" Id="Rc8c834a430dd47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7655f09124391" /><Relationship Type="http://schemas.openxmlformats.org/officeDocument/2006/relationships/notesSlide" Target="/ppt/notesSlides/notesSlide6.xml" Id="R023f88e744314f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5ffd572b54764" /><Relationship Type="http://schemas.openxmlformats.org/officeDocument/2006/relationships/notesSlide" Target="/ppt/notesSlides/notesSlide7.xml" Id="R7ffad5a6670147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c0967d7d14256" /><Relationship Type="http://schemas.openxmlformats.org/officeDocument/2006/relationships/notesSlide" Target="/ppt/notesSlides/notesSlide8.xml" Id="R2dd20b7e26284b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f34fc7b774efb" /><Relationship Type="http://schemas.openxmlformats.org/officeDocument/2006/relationships/notesSlide" Target="/ppt/notesSlides/notesSlide9.xml" Id="R5acc7072ebe544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286922b9543c5" /><Relationship Type="http://schemas.openxmlformats.org/officeDocument/2006/relationships/notesSlide" Target="/ppt/notesSlides/notesSlide10.xml" Id="R819adbb8b703431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e2e40a0614d35" /><Relationship Type="http://schemas.openxmlformats.org/officeDocument/2006/relationships/notesSlide" Target="/ppt/notesSlides/notesSlide11.xml" Id="R6c89008bb3b74f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6b0322d984fa7" /><Relationship Type="http://schemas.openxmlformats.org/officeDocument/2006/relationships/notesSlide" Target="/ppt/notesSlides/notesSlide12.xml" Id="Rd9019a178bda41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b1d8b6ab34809" /><Relationship Type="http://schemas.openxmlformats.org/officeDocument/2006/relationships/notesSlide" Target="/ppt/notesSlides/notesSlide13.xml" Id="R052640d4fc924ee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eb4d5d8264003" /><Relationship Type="http://schemas.openxmlformats.org/officeDocument/2006/relationships/notesSlide" Target="/ppt/notesSlides/notesSlide14.xml" Id="R41dcd2d0beae46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6ba33e57147ec" /><Relationship Type="http://schemas.openxmlformats.org/officeDocument/2006/relationships/notesSlide" Target="/ppt/notesSlides/notesSlide15.xml" Id="Rbbbc363de723417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1322492b44f89" /><Relationship Type="http://schemas.openxmlformats.org/officeDocument/2006/relationships/notesSlide" Target="/ppt/notesSlides/notesSlide16.xml" Id="R1714eb4257cd4a1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566e6bdc34bd7" /><Relationship Type="http://schemas.openxmlformats.org/officeDocument/2006/relationships/notesSlide" Target="/ppt/notesSlides/notesSlide17.xml" Id="R86845f6dbf0d45e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ae7d43fa14821" /><Relationship Type="http://schemas.openxmlformats.org/officeDocument/2006/relationships/notesSlide" Target="/ppt/notesSlides/notesSlide18.xml" Id="Re920908b488648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D6574-949C-4098-876B-E3714CF2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token 魔方</a:t>
            </a:r>
          </a:p>
          <a:p xmlns:a="http://schemas.openxmlformats.org/drawingml/2006/main">
            <a:pPr algn="l">
              <a:def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Mini实验台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D747E-0387-4D05-8730-91B5D166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Token 生产与平台销售闭环验证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294FC-30D9-4EF4-A490-D9EFEC8C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C2274-787E-460D-8B95-7BD640E3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prepare:张帅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D2EA1-4885-46A5-BA04-B3B1DBFA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150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2026年9月16日</a:t>
            </a:r>
          </a:p>
        </p:txBody>
      </p:sp>
    </p:spTree>
    <p:extLst>
      <p:ext uri="{BB962C8B-B14F-4D97-AF65-F5344CB8AC3E}">
        <p14:creationId xmlns:p14="http://schemas.microsoft.com/office/powerpoint/2010/main" val="6815872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7121AC-145E-4D77-AF7B-C1712117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验证范围与评审目标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5AB07-174C-46D6-B7F0-F6907546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首轮用一个文本服务贯通生产、计量与平台对账，再验证真实结算回款。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15553-9829-4692-86A4-3192E5B8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1110C-0889-4343-9C1A-A43A8307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28E24-F9B7-4DE8-B7E6-7CD8C9D6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02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BEBFE-BB7D-4478-B335-2EE8A0C4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A  技术验证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42C96E-D599-44C3-9D28-68633468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B  商业验证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2F74B-27D6-4C87-88DE-9E4F7957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43200"/>
            <a:ext cx="5048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硬件设备与功率边界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网络拓扑与跨柜 RoCE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软件架构与 MASS 接入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模型适配与部署验收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DDA2D-60A6-433D-9717-3B4FD2FF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43200"/>
            <a:ext cx="51625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性能测算与可售产能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Token 收益与盈亏边界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商业协议与结算证据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公司流程与回款验收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4313E-708D-4CE1-94A3-1BF08FEA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768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3DD7C-B255-4D5C-ADF7-9C543C5C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863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本次评审形成：首轮服务范围、必补资源资料、平台试供给通过条件。</a:t>
            </a:r>
          </a:p>
        </p:txBody>
      </p:sp>
    </p:spTree>
    <p:extLst>
      <p:ext uri="{BB962C8B-B14F-4D97-AF65-F5344CB8AC3E}">
        <p14:creationId xmlns:p14="http://schemas.microsoft.com/office/powerpoint/2010/main" val="861043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04EAFA-684F-4C8A-B4E9-C1B3A92F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两台 910B 分柜，形成两个独立算力资源池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D8B8A-66D6-48EA-9AE1-A80BC2EB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已确认 14 台服务器：16 张 910B NPU、48 张 T4 GPU及 6 台通算服务器。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232B3-1B6A-4937-B045-85F9B987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2EDC2-1AB1-441C-ABD6-28CB2FC5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633BF-32DE-419A-BC00-F3340E1A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03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C2F9A-A4D9-4A6D-BB8C-58175F62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247900" cy="3457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93D04-C9E2-4AFC-8AE3-9675E538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A  /  10 kW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DB807-DAEF-46DB-BAA8-58ECB1E0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19431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910B 服务器 ×1</a:t>
            </a:r>
          </a:p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A4A06-9FBF-4581-85D3-45F95F29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67B52-0BD9-4109-8123-35BFED9B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82C603-43B0-49A8-88BE-C346E637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E8740-66FA-4765-8857-99774CAD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09775"/>
            <a:ext cx="2247900" cy="3457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11B1B-A831-4663-B9B7-59C444EA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955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B  /  10 kW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65AEC-977F-4558-9B01-362EA0DD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38425"/>
            <a:ext cx="19431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910B 服务器 ×1</a:t>
            </a:r>
          </a:p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85EF5F-E8C9-41E1-B8A0-2CA10F38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4330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F1B0AA-3CEA-42C4-B7A6-5E1827A2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10025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BC776-5EE1-4756-99FF-42594F78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767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graphicFrame>
        <p:nvGraphicFramePr>
          <p:cNvPr id="37" name=""/>
          <p:cNvGraphicFramePr/>
          <p:nvPr/>
        </p:nvGraphicFramePr>
        <p:xfrm>
          <a:off xmlns:a="http://schemas.openxmlformats.org/drawingml/2006/main" x="5762625" y="2009775"/>
          <a:ext xmlns:a="http://schemas.openxmlformats.org/drawingml/2006/main" cx="5848350" cy="3457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03860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数量与核心配置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昇腾 910B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 台 × 8 张 NPU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子型号与显存待盘点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NVIDIA T4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 台 × 8 张 GPU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单卡 16GB GDDR6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通算服务器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 台，已有机柜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CPU / 内存 / 系统盘 / 数据盘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RoCE 与光链路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 台交换机，16 条链路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32 个 200GE 光模块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FCDC01-EECC-4A7F-A86F-F2A2501D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每柜 1 台 910B＋3 台八卡 T4 为拟议装载，须通过整机功率和安装核验。</a:t>
            </a:r>
          </a:p>
        </p:txBody>
      </p:sp>
    </p:spTree>
    <p:extLst>
      <p:ext uri="{BB962C8B-B14F-4D97-AF65-F5344CB8AC3E}">
        <p14:creationId xmlns:p14="http://schemas.microsoft.com/office/powerpoint/2010/main" val="13162858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C4D63-08B8-4482-97D8-2B3E389C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混装能否上线，取决于逐柜整机峰值预算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15226-27B7-4F2F-B638-C2106473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10 kW 是机柜容量等级。八卡 T4 的 CPU、风扇和电源损耗都要纳入。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3F606-F8E9-4C6C-B0E8-A88D2805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8B796-BE2B-4DA0-8DFF-8D6942C8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2BA98-DD9A-4452-B528-7061C3E6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04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878D2-CA9B-48E1-88E5-F6E8FEEB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383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P910B + 3 × PT4 + P网络 + P预留 ≤ P机柜可用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5743575"/>
                <a:gridCol w="3495675"/>
              </a:tblGrid>
              <a:tr h="4572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配套类别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上线前必备项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核验重点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整机与存储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机箱、主板、CPU、内存、风扇、冗余电源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系统盘、模型/日志盘、按需磁盘控制器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八卡槽位、PCIe / Riser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峰值功耗与散热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网络与光纤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业务网卡、BMC 口、业务/管理交换机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RoCE 交换机、32 个光模块、16 组光纤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端口、上联线缆、管理网线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速率、接口和距离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机柜与机房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导轨、PDU、电源线、接地、理线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供电回路、UPS、制冷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持续容量、U 位、承重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冗余供电工况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既有 / 可选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 台通算配套按现状盘点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可选共享存储、备份及存储网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复用边界、留存需求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不重复新增机柜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EB1E2-3836-47B0-83B3-14655FDB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上架门槛：设备/运维提供两柜功率表和配件差缺清单，超限则调整 T4 分布。</a:t>
            </a:r>
          </a:p>
        </p:txBody>
      </p:sp>
    </p:spTree>
    <p:extLst>
      <p:ext uri="{BB962C8B-B14F-4D97-AF65-F5344CB8AC3E}">
        <p14:creationId xmlns:p14="http://schemas.microsoft.com/office/powerpoint/2010/main" val="17391650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B2730F-624C-4859-A041-2B2E7E8B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跨柜可共用一台 RoCE 交换机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8A284-9F68-4D98-9AE4-4938F127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业务、带外管理与高速计算分网。柜体边界不增加交换跳数。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8BABF-C455-4E59-973C-3DC8CCE4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D98AD-63BE-4E01-8001-A55AADD2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0746B-0F82-4502-BDE1-CFCFF995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05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6237B-1F70-4A98-B4E5-9536EAEF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目标平台 / 压测入口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0A8AD-F374-4C46-A7C7-AA4571EF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71675"/>
            <a:ext cx="2857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业务交换设备</a:t>
            </a:r>
          </a:p>
        </p:txBody>
      </p: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67050" y="2233613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69798-01B9-4CD8-A348-0F822A5B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1675"/>
            <a:ext cx="3381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既有通算资源池 6 台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MASS 与接入服务</a:t>
            </a:r>
          </a:p>
        </p:txBody>
      </p: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762750" y="2233613"/>
            <a:ext cx="1466850" cy="428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1A144-5D1C-4587-AF5B-EDD860B1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57500"/>
            <a:ext cx="51720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8952D-7D51-4073-8CFD-987AADCF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57500"/>
            <a:ext cx="54006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9A40E6-2E3F-4B4E-818E-FA18CA2D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337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A 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63790-391F-4085-91C3-D39AC81A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337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B 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CF2983-E206-4542-8744-A23DAF32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581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910B ×1</a:t>
            </a:r>
          </a:p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F8BE41-AD82-4BA2-93CC-349372A0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290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RoCE 交换机 ×1</a:t>
            </a:r>
          </a:p>
          <a:p xmlns:a="http://schemas.openxmlformats.org/drawingml/2006/main">
            <a:pPr algn="ctr">
              <a:defRPr sz="165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≥16 个 200GE 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3E26E-183B-4430-905B-3F23D15C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29000"/>
            <a:ext cx="1581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910B ×1</a:t>
            </a:r>
          </a:p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cxnSp>
        <p:nvCxnSpPr>
          <p:cNvPr id="51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381250" y="3752850"/>
            <a:ext cx="72390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7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5581650" y="376237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F93C07-22DD-48B8-9A97-36496829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1337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8×200GE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7D59E5-696C-44D0-ABCD-7BD244A2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71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8×200GE 跨柜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B36EBF-6033-4108-8EDB-9054EF1D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05325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×3，每台 8 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BEEA31-4350-40B7-A36E-7482C54F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505325"/>
            <a:ext cx="2457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×3，每台 8 卡</a:t>
            </a:r>
          </a:p>
        </p:txBody>
      </p:sp>
      <p:cxnSp>
        <p:nvCxnSpPr>
          <p:cNvPr id="57" name=""/>
          <p:cNvCxnSpPr>
            <a:stCxn xmlns:a="http://schemas.openxmlformats.org/drawingml/2006/main" id="7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1590675" y="2495550"/>
            <a:ext cx="3743325" cy="923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7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334000" y="2495550"/>
            <a:ext cx="1914525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47199E-A6AE-4B85-9136-EE86EB24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14650"/>
            <a:ext cx="3286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业务网同时接入全部 T4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87E635-7070-4384-9125-8F354344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0"/>
            <a:ext cx="3333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运维入口 / 管理交换设备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686374-7148-428F-BB5D-A82BC026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38750"/>
            <a:ext cx="73056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全部 14 台服务器 BMC＋交换设备管理口</a:t>
            </a:r>
          </a:p>
        </p:txBody>
      </p:sp>
      <p:cxnSp>
        <p:nvCxnSpPr>
          <p:cNvPr id="62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3924300" y="54244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B89"/>
            </a:solidFill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AF5D6C-8910-4F5F-A9FB-FA945415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86425"/>
            <a:ext cx="3333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9B641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>
                <a:solidFill>
                  <a:srgbClr val="9B641C"/>
                </a:solidFill>
                <a:latin typeface="Arial Unicode MS"/>
                <a:ea typeface="Arial Unicode MS"/>
                <a:cs typeface="Arial Unicode MS"/>
              </a:rPr>
              <a:t>各资源池存储接口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A08CD4-D1CA-4C1F-9B94-F5DEF261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86425"/>
            <a:ext cx="73056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9B641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9B641C"/>
                </a:solidFill>
                <a:latin typeface="Arial Unicode MS"/>
                <a:ea typeface="Arial Unicode MS"/>
                <a:cs typeface="Arial Unicode MS"/>
              </a:rPr>
              <a:t>可选存储网 / 共享存储与备份</a:t>
            </a:r>
          </a:p>
        </p:txBody>
      </p:sp>
      <p:cxnSp>
        <p:nvCxnSpPr>
          <p:cNvPr id="65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3924300" y="586263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641C"/>
            </a:solidFill>
            <a:prstDash val="dash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F1D522-1AD8-49CA-AE81-47CB6AB8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52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16 条光链路，双端 32 个模块</a:t>
            </a:r>
          </a:p>
        </p:txBody>
      </p:sp>
    </p:spTree>
    <p:extLst>
      <p:ext uri="{BB962C8B-B14F-4D97-AF65-F5344CB8AC3E}">
        <p14:creationId xmlns:p14="http://schemas.microsoft.com/office/powerpoint/2010/main" val="21323089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2A1B8-988A-4E72-8A05-1A850B8B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生态差异决定模型的部署路径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C27E2-D1DD-4758-8B0E-CE223D85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完整版本组合需要匹配驱动、运行时、模型算子和推理引擎。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9A0CA-26F3-44C9-B938-BBF3A20A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E82EE-75ED-435A-A7ED-121E7F36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98D06-5BB7-40E3-80E6-CA89C02F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06 / 18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990725"/>
          <a:ext xmlns:a="http://schemas.openxmlformats.org/drawingml/2006/main" cx="110490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19625"/>
                <a:gridCol w="4619625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层次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NVIDIA T4 路径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昇腾 910B 路径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硬件与设备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驱动、容器设备支持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/ SM75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驱动、固件、容器设备映射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子型号待核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运行时与通信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CUDA、计算库、NCCL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CANN、算子库、HCCL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框架与模型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PyTorch、Transformers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量化权重及兼容 kernel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 + torch_npu 等适配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量化与算子工具链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任务与引擎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文本：兼容 vLLM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YOLO：ONNX / TensorRT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Wan：官方推理流程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国产文本：vLLM Ascend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或 MindIE 对应路径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按模型单独验证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90E36-AEFB-46FF-990F-7FB3022D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先冻结可运行镜像再扩功能。T4 的 TensorRT 路径不能推导为 TensorRT-LLM 支持。</a:t>
            </a:r>
          </a:p>
        </p:txBody>
      </p:sp>
    </p:spTree>
    <p:extLst>
      <p:ext uri="{BB962C8B-B14F-4D97-AF65-F5344CB8AC3E}">
        <p14:creationId xmlns:p14="http://schemas.microsoft.com/office/powerpoint/2010/main" val="5213414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8523E9-0EA2-40C7-910B-019739F6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MASS 接入要保留从请求到用量的证据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0448C-E2A7-4643-9CDD-5A14D79A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6 台既有通算承载逻辑组件，具体能力归属和逐台部署待平台文档确认。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A5D12-15DA-485C-8DB7-C2BFF606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172AA-5077-4C2D-8026-66B6C7F9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D81A1-4F83-473E-9FF6-10C57CBB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07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1D3FF-7474-43F6-B494-E7C63325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19300"/>
            <a:ext cx="11010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管理配置：模型登记、资源配额、版本发布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9AAA8-EB16-4B61-8A57-C4DBF88F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38475"/>
            <a:ext cx="2133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平台请求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租户 / 请求 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21E8A-3FDF-4DD2-A9EF-CE70467C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038475"/>
            <a:ext cx="25050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接入鉴权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模型路由 / 限流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27737-8397-45CE-80A1-A5DC911D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038475"/>
            <a:ext cx="2809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 / T4 推理服务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模型与版本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E5CF4-FC91-47A3-902B-B885806D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38475"/>
            <a:ext cx="1762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服务结果</a:t>
            </a:r>
          </a:p>
        </p:txBody>
      </p: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733675" y="34290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29300" y="342900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296400" y="342900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105525" y="2524125"/>
            <a:ext cx="1785938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667B89"/>
            </a:solidFill>
            <a:prstDash val="dash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17B03-5221-43A2-A3CE-3C7DAC9D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72000"/>
            <a:ext cx="2514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原始用量事件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输入 / 输出 / 缓存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7DA66F-039E-4074-8E61-81590910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572000"/>
            <a:ext cx="2809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去重与规则计算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保留原始记录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7B6BE7-1870-47B3-AFB6-B7905A68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572000"/>
            <a:ext cx="1762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账单明细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对账差异</a:t>
            </a:r>
          </a:p>
        </p:txBody>
      </p:sp>
      <p:cxnSp>
        <p:nvCxnSpPr>
          <p:cNvPr id="40" name=""/>
          <p:cNvCxnSpPr>
            <a:stCxn xmlns:a="http://schemas.openxmlformats.org/drawingml/2006/main" id="9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4572000" y="3819525"/>
            <a:ext cx="3319463" cy="752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829300" y="496252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296400" y="496252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4AC6EA-F32E-4B23-B206-4AA3526E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2955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拟集成职责</a:t>
            </a:r>
          </a:p>
          <a:p xmlns:a="http://schemas.openxmlformats.org/drawingml/2006/main">
            <a:pPr algn="l"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MASS 已有能力</a:t>
            </a:r>
          </a:p>
          <a:p xmlns:a="http://schemas.openxmlformats.org/drawingml/2006/main">
            <a:pPr algn="l"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需逐项核对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712E90-447D-47C7-98D1-6FDAF6A1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同一请求 ID 关联版本、状态、用量与账单。事件去重和重试计费分别处理。</a:t>
            </a:r>
          </a:p>
        </p:txBody>
      </p:sp>
    </p:spTree>
    <p:extLst>
      <p:ext uri="{BB962C8B-B14F-4D97-AF65-F5344CB8AC3E}">
        <p14:creationId xmlns:p14="http://schemas.microsoft.com/office/powerpoint/2010/main" val="9597828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ED4BC-7DFD-4BD8-A7F6-48C04605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910B 先完成一个稠密模型，再扩国产候选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F6E45-F447-437B-8BA3-14F81012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筛选顺序：许可与平台规格、引擎支持、逐卡容量、通信、质量与负载验证。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7A052-14E4-4996-B1EF-2BC4A584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44FDC-212F-464B-9F64-AF0A0C32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F7F77-60D4-4DB3-ACAA-73037F00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08 / 18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2028825"/>
          <a:ext xmlns:a="http://schemas.openxmlformats.org/drawingml/2006/main" cx="11049000" cy="2847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3543300"/>
                <a:gridCol w="39814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候选模型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精度与起测路径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本轮判断与证据边界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</a:tr>
              <a:tr h="796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 / Qwen3-8B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BF16 或 FP16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短上下文、低并发起测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建议首个文本联调候选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 A2/A3 家族支持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</a:tr>
              <a:tr h="796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DeepSeek-R1-</a:t>
                      </a:r>
                    </a:p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Distill-Qwen-32B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16 位或适配量化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先核算权重＋KV＋工作区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进入条件性 PoC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蒸馏家族为实验性适配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</a:tr>
              <a:tr h="796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zai-org / GLM-4.5-Air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16 位或匹配 W8A8 路径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核对 MoE 分片和通信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容量核验后再启动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家族支持不等于本台成功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D1B2E-EBEE-44FF-883D-6DA91106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逐卡峰值 = 本卡权重＋KV Cache＋激活/工作区＋通信缓冲＋余量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AF7B7-B1BB-4355-8BDC-10C42F8F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16 张卡是资源总量。910B 显存未知，暂不承诺完整 DeepSeek 大模型的双机容量。</a:t>
            </a:r>
          </a:p>
        </p:txBody>
      </p:sp>
    </p:spTree>
    <p:extLst>
      <p:ext uri="{BB962C8B-B14F-4D97-AF65-F5344CB8AC3E}">
        <p14:creationId xmlns:p14="http://schemas.microsoft.com/office/powerpoint/2010/main" val="14217553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54E56-1EF8-461F-9FDB-35035520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 按三类任务部署，分别验证交付能力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D585F-835C-477A-AB72-1E28CF94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6 台八卡服务器共 48 张 GPU。单卡 16GB，多副本和多卡并行按任务选择。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E40AB-E533-44D0-98D8-F66A31D6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3B4A9-F5A0-4544-BB4E-7E8AAF73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C425D-9BD3-4DBE-86A3-F85F62C3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09 / 18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2009775"/>
          <a:ext xmlns:a="http://schemas.openxmlformats.org/drawingml/2006/main" cx="11049000" cy="3295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3667125"/>
                <a:gridCol w="39052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 / 首选候选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起测路径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验收指标与判断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量化文本</a:t>
                      </a:r>
                    </a:p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Qwen2.5-7B-Instruct-AWQ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vLLM + 兼容 AWQ kernel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FP16 激活，先单卡短上下文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质量、TTFT / TPOT、Token/s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 PoC，实机待验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目标检测</a:t>
                      </a:r>
                    </a:p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YOLO26n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 基线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ONNX / TensorRT 优化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mAP、召回率、端到端延迟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图片/帧吞吐，复验 T4 参考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视频生成</a:t>
                      </a:r>
                    </a:p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Wan2.1-T2V-1.3B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官方流程与必要卸载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核验 dtype / attention 后端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质量、分辨率/帧数/步数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生成耗时、视频/小时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条件性 PoC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3B60A-FE6C-49F2-A4CD-5B499B9D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文本模型按总参数 &lt;20B 筛选。Wan 低显存参考不能证明 T4 的生成速度可交付。</a:t>
            </a:r>
          </a:p>
        </p:txBody>
      </p:sp>
    </p:spTree>
    <p:extLst>
      <p:ext uri="{BB962C8B-B14F-4D97-AF65-F5344CB8AC3E}">
        <p14:creationId xmlns:p14="http://schemas.microsoft.com/office/powerpoint/2010/main" val="10931364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A47101-268C-4E5F-B0E0-55C2A110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模型发布以阶段证据为门槛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E5AF7-D097-4F25-BC11-73D07F13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部署流程从设备验收开始，到可回退的服务版本结束。以下为待执行流程。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918FD-2D1A-4092-9118-28FC661C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0EAD0-EC47-4AF9-B620-B548C911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AD0D7-A53B-4625-860A-42B2CD1A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10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7F7DC-0217-4738-8D97-BC154D15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66925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  设备与网络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A192A-DF0D-457C-A0C5-D82DF8E7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81275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资产与健康记录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功率 / 光链路 / HCCL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94F38-CD27-4DC6-8371-E7FDDFFF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533ED-A969-480D-AA73-4949E6BC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66925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  环境与模型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6F0DE-C036-4691-B0CA-E368D32C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581275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镜像与权重校验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许可 / Tokenizer / 模板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518CF-BD72-4940-8E89-DBA79841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4766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473E0-1967-400F-8FEA-40DC24A9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66925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  服务启动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27030-34A9-49CD-9D9C-039FC8B3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81275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精度 / 上下文 / 并行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健康检查与启动日志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2E283-F165-4A47-8021-D81E5EBD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66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A6905-77CA-46F4-AABD-ACE61850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  正确性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ED3BE3-061E-455C-86FD-8A330673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中文 / 多轮 / 流式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质量集与异常请求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FDF235-4C29-4DF0-BAB8-6033C2F2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86350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26E3F-23D3-4511-9081-AB90F47B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676650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05  MASS 与平台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C130C8-527E-499C-9C1E-86B769B1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191000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鉴权 / 路由 / 计量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同批请求联调记录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1AA92A-654E-4433-9352-BB5403A1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086350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DB2419-B28A-41F3-A1AF-61C09F93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76650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06  性能与发布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4476E6-A08E-45C7-845F-376D50D4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91000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稳定性 / 限流 / 恢复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配额、告警与回退版本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6EA1F2-34D1-4C60-83C7-AB37590C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86350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EE0D37-09DA-4A96-A9FD-50B0FCA2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每阶段不通过即定位修复并回归。可发布产物是版本包、验收记录与回退配置。</a:t>
            </a:r>
          </a:p>
        </p:txBody>
      </p:sp>
    </p:spTree>
    <p:extLst>
      <p:ext uri="{BB962C8B-B14F-4D97-AF65-F5344CB8AC3E}">
        <p14:creationId xmlns:p14="http://schemas.microsoft.com/office/powerpoint/2010/main" val="19131353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F262D9-9BF9-4B7B-AA6E-9898B3E8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压测同时扫描并发与请求到达率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78D9D-9C0A-4FD7-91AA-4D072635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先固定模型、任务规格和服务目标，再从单实例扩到资源池和平台入口。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020B5-412D-4CFC-8327-186AF7B1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1872B-CC50-422C-B7E0-FE974BE1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6C069-096D-4FEA-805B-42C2B721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11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A09BF-F5B0-4C0A-A5A3-4FBEDD62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90725"/>
            <a:ext cx="2743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并发初探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F1637-5FA8-4370-8F0E-9DDAC14E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1 / 2 / 4 / 8 / 16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7B7B5-8511-4191-B4D1-757495B5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25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四类输入输出组合，分别测试未命中与重复前缀。边界未出现时继续加压。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C77F7-8E3F-4746-AC6A-47092B8E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5817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vllm bench serve --backend openai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--model &lt;服务模型&gt; --base-url &lt;地址&gt;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--max-concurrency 8 --request-rate inf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--save-result --save-detailed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FCBF4-FD44-4FDA-A405-B6EC12F8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2861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执行与记录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DED56-51FA-4877-85F6-216034E1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800475"/>
            <a:ext cx="38385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预热后至少重复 3 次</a:t>
            </a:r>
          </a:p>
          <a:p xmlns:a="http://schemas.openxmlformats.org/drawingml/2006/main">
            <a:pPr algn="l">
              <a:def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记录样本数和测试窗口</a:t>
            </a:r>
          </a:p>
          <a:p xmlns:a="http://schemas.openxmlformats.org/drawingml/2006/main">
            <a:pPr algn="l">
              <a:def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保留实际到达率与错误率</a:t>
            </a:r>
          </a:p>
          <a:p xmlns:a="http://schemas.openxmlformats.org/drawingml/2006/main">
            <a:pPr algn="l">
              <a:def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检查客户端和接入层瓶颈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94F47-E521-4E9F-86BC-1EC249F1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完整可复制脚本在备注及随附文件。示例参数是初探设定，正式阈值由平台需求确定。</a:t>
            </a:r>
          </a:p>
        </p:txBody>
      </p:sp>
    </p:spTree>
    <p:extLst>
      <p:ext uri="{BB962C8B-B14F-4D97-AF65-F5344CB8AC3E}">
        <p14:creationId xmlns:p14="http://schemas.microsoft.com/office/powerpoint/2010/main" val="7116987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F2F81-407F-41E9-AB15-DE3A17E4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可售产能来自满足质量与延迟条件的负载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2673B-94B1-47DC-A22A-75BDC293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结果判读方法：在同一请求集合、同一统计窗口内汇总，当前没有实测结果。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428FF-F0B8-4B68-B24E-BFAE9C37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14AFB-904C-48AB-BA7B-CEF86E79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8790A-5CF2-4988-BE22-E9AB3AF7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12 / 18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110490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85950"/>
                <a:gridCol w="4524375"/>
                <a:gridCol w="46386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指标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计算或判读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对经营测算的影响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TTFT / TPOT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TTFT：发出请求到首 Token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TPOT：(末到达时刻−首到达时刻)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÷ (输出 Token 数−1)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TTFT 含排队与网络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纯 Prefill 耗时需服务端 trace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并发与吞吐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报告实际并发、到达率、成功率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输入/输出 Token 数 ÷ 窗口秒数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选择满足服务目标的稳定负载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避免只取无约束峰值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计费 Token/s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同一窗口分别汇总合格输出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未命中输入、命中输入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request_goodput 单位是请求/s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缓存块数需映射为计费 Token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YOLO / Wan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检测质量＋图片/帧吞吐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视频质量＋任务数/小时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按任务规格单独计价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不套文本 Token 指标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2A101-DFDB-4997-B75A-1B803F82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产能交付表应绑定模型版本、卡数、任务规格、SLO、样本数和原始用量证据。</a:t>
            </a:r>
          </a:p>
        </p:txBody>
      </p:sp>
    </p:spTree>
    <p:extLst>
      <p:ext uri="{BB962C8B-B14F-4D97-AF65-F5344CB8AC3E}">
        <p14:creationId xmlns:p14="http://schemas.microsoft.com/office/powerpoint/2010/main" val="8787294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C1413-73C3-4312-ADC5-A018368E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三类 Token 分别估值，采购价决定可结算收入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EFC52-D3BF-4151-9CF3-C66ACEE5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以下为产能计算口径。S = 30×24×3600 = 2,592,000 秒。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630C4-CE2B-4767-9104-E76863CB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1DEDA-BBF6-450C-A636-407FD082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92063-A8C2-4E86-B47F-429B498B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13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AE828-B040-4894-A116-A53838C6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71675"/>
            <a:ext cx="1100137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Decode 月价值 = TGSout × S × Nout × Pout ÷ 10⁶ × ηout</a:t>
            </a:r>
          </a:p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未命中 Prefill 月价值 = TGSunc × S × Nunc × Punc ÷ 10⁶ × ηunc</a:t>
            </a:r>
          </a:p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命中 Prefill 月价值 = TGScache × S × Ncache × Pcache ÷ 10⁶ × ηcache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3724275"/>
          <a:ext xmlns:a="http://schemas.openxmlformats.org/drawingml/2006/main" cx="110490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76900"/>
                <a:gridCol w="1638300"/>
                <a:gridCol w="2047875"/>
                <a:gridCol w="1685925"/>
              </a:tblGrid>
              <a:tr h="4572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公开市场参照（USD / 百万 Token）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输出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输入未命中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输入命中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DeepSeek-V4.1-Flash  高峰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1.20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0.30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0.006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DeepSeek-V4.1-Flash  非高峰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0.60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0.15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0.003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46661-CE7E-44D8-912E-7BC7B5B8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价格查询：2026-09-16，仅作市场参照。该 API 与本台候选并非同一模型，不能代入报价。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FE939-0B69-4315-80DB-2F23A472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TGS 按单卡才乘卡数；混合部署三类速率共用同一负载，已含损耗时不再乘同一 η。</a:t>
            </a:r>
          </a:p>
        </p:txBody>
      </p:sp>
    </p:spTree>
    <p:extLst>
      <p:ext uri="{BB962C8B-B14F-4D97-AF65-F5344CB8AC3E}">
        <p14:creationId xmlns:p14="http://schemas.microsoft.com/office/powerpoint/2010/main" val="9235456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7A3D8-B371-43D0-95C4-13E56084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是否值得供给，要同时看增量收支和全成本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DEAE1-FFE1-4087-9213-4A237644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缺少实测产能、采购价与成本，当前能够给出盈亏条件，不能给出确定利润。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94A71-F657-454A-A654-524D347A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4FC96-6B82-466C-A3F5-A750548F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2C220-92DB-4302-AF59-9A7447E4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14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51C06-905F-408D-A263-3077DD55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9775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月经营结果 = 文本收入＋检测收入＋视频收入−项目成本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2876550"/>
          <a:ext xmlns:a="http://schemas.openxmlformats.org/drawingml/2006/main" cx="11049000" cy="1895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5324475"/>
                <a:gridCol w="358140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决策视角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纳入成本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能回答的问题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增量运营收支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新增电费、网络、机房与运维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按实际承担范围计入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已有设备试供给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能否覆盖新增现金支出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全成本经营结果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增量成本＋折旧/租赁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既有通算和机柜的约定分摊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持续经营与后续扩容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是否具备经济性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421AF-9AF8-4335-92F7-0FC337C0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盈亏边界：固定业务组合时，采购价系数 k* = 月成本 ÷ 基准月收入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E471F-1895-41D4-B53C-99478923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采购价、需求利用、缓存比例和卡时分配分别做敏感性分析，资源重分配后需重测产能。</a:t>
            </a:r>
          </a:p>
        </p:txBody>
      </p:sp>
    </p:spTree>
    <p:extLst>
      <p:ext uri="{BB962C8B-B14F-4D97-AF65-F5344CB8AC3E}">
        <p14:creationId xmlns:p14="http://schemas.microsoft.com/office/powerpoint/2010/main" val="19805595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9D917-01AD-48FE-8234-96E136A5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计量约定决定一条请求能否成为账单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31945-63ED-4170-851A-8D107A89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拟议条款从平台接受的服务目录开始，连接双方认可的用量证据。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9D4E5-3C97-4867-A739-8FBDCDF6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49645-5A51-48A5-B6B3-1C89A4D0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E89A0-B7FE-490F-9FCD-EEDCCB3D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15 /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D1A04-D19A-4092-9A48-79BC8008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服务目录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 / 任务规格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60F46-27A6-48D1-B5E8-89142148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请求或任务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统一关联 ID</a:t>
            </a:r>
          </a:p>
        </p:txBody>
      </p: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00325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B4D5A-810B-4D18-8803-81C7285D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用量明细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计数与状态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57750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D22F7-4902-4993-945C-259767E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对账确认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差异与冲正</a:t>
            </a:r>
          </a:p>
        </p:txBody>
      </p:sp>
      <p:cxnSp>
        <p:nvCxnSpPr>
          <p:cNvPr id="28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115175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6431C-0471-4AA4-9232-AA6DB78A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结算条目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单价与周期</a:t>
            </a:r>
          </a:p>
        </p:txBody>
      </p:sp>
      <p:cxnSp>
        <p:nvCxnSpPr>
          <p:cNvPr id="30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372600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graphicFrame>
        <p:nvGraphicFramePr>
          <p:cNvPr id="31" name=""/>
          <p:cNvGraphicFramePr/>
          <p:nvPr/>
        </p:nvGraphicFramePr>
        <p:xfrm>
          <a:off xmlns:a="http://schemas.openxmlformats.org/drawingml/2006/main" x="571500" y="3219450"/>
          <a:ext xmlns:a="http://schemas.openxmlformats.org/drawingml/2006/main" cx="1104900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50292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必须约定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拟议处理方式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留存证据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输入、输出与缓存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统一 Tokenizer 和缓存定义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三类单价、币种税费分别写明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规则版本、原始计数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平台与供应方明细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超时、重试、部分输出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逐类约定是否计费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重复事件去重，重试保留关联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attempt ID、状态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实际交付量与异常记录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对账差异与结算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确定权威依据、核验时限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冲正、补结算和账期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差异单、确认单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结算单与调整记录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D69EE-A1FB-44AA-8221-CA05A999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技术可运行仍需平台认可模型、区域、容量与质量规格，才具备采购前提。</a:t>
            </a:r>
          </a:p>
        </p:txBody>
      </p:sp>
    </p:spTree>
    <p:extLst>
      <p:ext uri="{BB962C8B-B14F-4D97-AF65-F5344CB8AC3E}">
        <p14:creationId xmlns:p14="http://schemas.microsoft.com/office/powerpoint/2010/main" val="13284557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EEA28-823F-42D6-B3D5-A4317CA2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服务承诺应受当前架构和实测能力约束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86AFC-DE49-4475-97BC-D33DC30F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拟议协议在可验收范围内确定服务窗口、维护、故障处理与责任。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52CFF-45EC-4E16-913F-D2A9AD11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42B35-0956-4773-AFDD-9BECB68C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79645-9982-41C0-8AC8-ABC9DEDB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16 / 18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2038350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4800600"/>
                <a:gridCol w="388620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当前约束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需要约定的边界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验收与责任证据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一台 RoCE 交换机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无交换机级冗余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维护窗口、故障响应与赔付边界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故障演练与恢复记录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运维联系人和升级路径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性能尚未实测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绑定模型、精度、上下文与配额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以验收负载确定服务目标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双方验收报告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监控口径与限流记录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模型与版本会变化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变更审批、回归测试和回退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禁用不满足许可的供给方式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模型权利依据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版本清单与发布记录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数据、暂停与退出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用途、留存、权限和责任分工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余额清算、数据处理与开票回款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访问与删除记录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最终对账单及回款凭证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4C503-F0B9-4901-86FB-5235C7AD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SLA 数值和赔付条款留待验收及双方协商，现阶段不承诺未经验证的可用性。</a:t>
            </a:r>
          </a:p>
        </p:txBody>
      </p:sp>
    </p:spTree>
    <p:extLst>
      <p:ext uri="{BB962C8B-B14F-4D97-AF65-F5344CB8AC3E}">
        <p14:creationId xmlns:p14="http://schemas.microsoft.com/office/powerpoint/2010/main" val="15962864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2E363-42CC-479C-9609-E3366F77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公司交接以凭证推进，直至开票与回款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09210-8FB9-4055-8B79-F087233F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建议流程：技术、商务和财务在每个阶段明确接收什么产物。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18BD1-2503-4948-BF30-1B50A763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2CA79-1549-4CFB-A6AA-0E2E9DBD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97C34-45B3-4564-8E6A-B524737A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17 / 18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990725"/>
          <a:ext xmlns:a="http://schemas.openxmlformats.org/drawingml/2006/main" cx="11049000" cy="3533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71675"/>
                <a:gridCol w="2943225"/>
                <a:gridCol w="2943225"/>
                <a:gridCol w="31908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责任角色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立项与准备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验收与试供给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月度经营与回款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项目负责人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资源与预算确认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首轮范围批准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阶段评审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试供给决策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经营复盘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后续资源决策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技术 / 运维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设备、网络和模型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版本与部署记录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质量/压测验收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接入、发布与回退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用量明细与告警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差异核验与复测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商务 / 法务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平台采购规格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模型与服务权利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报价和合同评审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双方验收确认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对账确认与争议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逾期跟进与变更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财务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成本边界与预算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价格口径核对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报价及结算条款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账期和开票要求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结算、开票与收款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凭证归档和分摊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D2CD0-D02F-4F2E-B91C-AB923C25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同批请求贯通用量、对账确认、结算、发票与回款，才能宣称完成商业闭环。</a:t>
            </a:r>
          </a:p>
        </p:txBody>
      </p:sp>
    </p:spTree>
    <p:extLst>
      <p:ext uri="{BB962C8B-B14F-4D97-AF65-F5344CB8AC3E}">
        <p14:creationId xmlns:p14="http://schemas.microsoft.com/office/powerpoint/2010/main" val="4949223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30541-9E5C-4BA5-B0B2-1C529DE3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下一阶段以一个可复现服务完成验证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542FF-0360-4AB7-98A8-BFF31381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当前已确认资源基线与分柜原则，模型、平台采购和实测证据仍需逐步补齐。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3370E-D8AE-4C05-B777-4CE708DA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735C8-4D02-4E10-8D7C-A2ECAE3D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03643-3048-4000-A627-09E32454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18 / 18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2038350"/>
          <a:ext xmlns:a="http://schemas.openxmlformats.org/drawingml/2006/main" cx="110490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533900"/>
                <a:gridCol w="4133850"/>
              </a:tblGrid>
              <a:tr h="457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评审事项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进入下一阶段的通过条件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下一项证据 / 责任</a:t>
                      </a:r>
                    </a:p>
                  </a:txBody>
                  <a:tcPr marL="123825" marR="114300" marT="57150" marB="57150" anchor="ctr">
                    <a:solidFill>
                      <a:srgbClr val="12304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首轮服务范围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Qwen3-8B 等具体版本完成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质量、负载与计量联调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显存/功率清单、版本包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设备运维与模型负责人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平台试供给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平台接受服务规格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性能目标、采购价和规则明确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接入验收、报价与协议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平台技术、商务、财务</a:t>
                      </a:r>
                    </a:p>
                  </a:txBody>
                  <a:tcPr marL="123825" marR="114300" marT="57150" marB="57150" anchor="ctr">
                    <a:solidFill>
                      <a:srgbClr val="EDF4F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商业闭环与扩容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同批真实用量完成结算回款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订单需求和经济性支持扩容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对账单、回款、经营复盘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商务、财务、项目负责人</a:t>
                      </a:r>
                    </a:p>
                  </a:txBody>
                  <a:tcPr marL="123825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089AB-2C5E-4A4F-8D2F-27E212BF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48275"/>
            <a:ext cx="10991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当前决策建议：继续最小文本闭环验证。YOLO 与 Wan 保持独立 PoC。</a:t>
            </a:r>
          </a:p>
        </p:txBody>
      </p:sp>
    </p:spTree>
    <p:extLst>
      <p:ext uri="{BB962C8B-B14F-4D97-AF65-F5344CB8AC3E}">
        <p14:creationId xmlns:p14="http://schemas.microsoft.com/office/powerpoint/2010/main" val="802675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2026-09-16T04:38:37.4750000Z</dcterms:created>
  <dcterms:modified xsi:type="dcterms:W3CDTF">2026-09-16T04:38:37.4750000Z</dcterms:modified>
</coreProperties>
</file>