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d83bbf53914dbc" /><Relationship Type="http://schemas.openxmlformats.org/officeDocument/2006/relationships/extended-properties" Target="/docProps/app.xml" Id="R1543f8efd17c4fd0" /><Relationship Type="http://schemas.openxmlformats.org/officeDocument/2006/relationships/officeDocument" Target="/ppt/presentation.xml" Id="R04dc98eef12842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85572c03ce4882"/>
  </p:sldMasterIdLst>
  <p:notesMasterIdLst>
    <p:notesMasterId xmlns:r="http://schemas.openxmlformats.org/officeDocument/2006/relationships" r:id="Re2a2ed6819474ed3"/>
  </p:notesMasterIdLst>
  <p:sldIdLst>
    <p:sldId xmlns:r="http://schemas.openxmlformats.org/officeDocument/2006/relationships" id="256" r:id="Rc61b0f9f69604ead"/>
    <p:sldId xmlns:r="http://schemas.openxmlformats.org/officeDocument/2006/relationships" id="257" r:id="R96cc5c8def8f437a"/>
    <p:sldId xmlns:r="http://schemas.openxmlformats.org/officeDocument/2006/relationships" id="258" r:id="R542f4cfc3ac34e33"/>
    <p:sldId xmlns:r="http://schemas.openxmlformats.org/officeDocument/2006/relationships" id="259" r:id="Rd948a21e1d6f4b0a"/>
    <p:sldId xmlns:r="http://schemas.openxmlformats.org/officeDocument/2006/relationships" id="260" r:id="Rd9f6313031be46d4"/>
    <p:sldId xmlns:r="http://schemas.openxmlformats.org/officeDocument/2006/relationships" id="261" r:id="Rfdb0b8cd3e2343ba"/>
    <p:sldId xmlns:r="http://schemas.openxmlformats.org/officeDocument/2006/relationships" id="262" r:id="R1b7a4d4b2b274c3a"/>
    <p:sldId xmlns:r="http://schemas.openxmlformats.org/officeDocument/2006/relationships" id="263" r:id="Rbc843fd665d54957"/>
    <p:sldId xmlns:r="http://schemas.openxmlformats.org/officeDocument/2006/relationships" id="264" r:id="R2f16828bda414b00"/>
    <p:sldId xmlns:r="http://schemas.openxmlformats.org/officeDocument/2006/relationships" id="265" r:id="Rfa229e96df1a4345"/>
    <p:sldId xmlns:r="http://schemas.openxmlformats.org/officeDocument/2006/relationships" id="266" r:id="Rbe1760574de64f36"/>
    <p:sldId xmlns:r="http://schemas.openxmlformats.org/officeDocument/2006/relationships" id="267" r:id="Rc347d3f3546d409b"/>
    <p:sldId xmlns:r="http://schemas.openxmlformats.org/officeDocument/2006/relationships" id="268" r:id="R52932d6bd368409e"/>
    <p:sldId xmlns:r="http://schemas.openxmlformats.org/officeDocument/2006/relationships" id="269" r:id="R58b1731959684e61"/>
    <p:sldId xmlns:r="http://schemas.openxmlformats.org/officeDocument/2006/relationships" id="270" r:id="Rb1b85e128bfa4fbe"/>
    <p:sldId xmlns:r="http://schemas.openxmlformats.org/officeDocument/2006/relationships" id="271" r:id="R964671d4126f4e56"/>
    <p:sldId xmlns:r="http://schemas.openxmlformats.org/officeDocument/2006/relationships" id="272" r:id="Rfcd4818770494095"/>
    <p:sldId xmlns:r="http://schemas.openxmlformats.org/officeDocument/2006/relationships" id="273" r:id="R4f84d8c5445b4d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02223818ff499b" /><Relationship Type="http://schemas.openxmlformats.org/officeDocument/2006/relationships/slideMaster" Target="/ppt/slideMasters/slideMaster1.xml" Id="Rf985572c03ce4882" /><Relationship Type="http://schemas.openxmlformats.org/officeDocument/2006/relationships/notesMaster" Target="/ppt/notesMasters/notesMaster1.xml" Id="Re2a2ed6819474ed3" /><Relationship Type="http://schemas.openxmlformats.org/officeDocument/2006/relationships/presProps" Target="/ppt/presProps.xml" Id="Rfdddd233fb9447ca" /><Relationship Type="http://schemas.openxmlformats.org/officeDocument/2006/relationships/tableStyles" Target="/ppt/tableStyles.xml" Id="R49fc0f3219bd430f" /><Relationship Type="http://schemas.openxmlformats.org/officeDocument/2006/relationships/slide" Target="/ppt/slides/slide1.xml" Id="Rc61b0f9f69604ead" /><Relationship Type="http://schemas.openxmlformats.org/officeDocument/2006/relationships/slide" Target="/ppt/slides/slide2.xml" Id="R96cc5c8def8f437a" /><Relationship Type="http://schemas.openxmlformats.org/officeDocument/2006/relationships/slide" Target="/ppt/slides/slide3.xml" Id="R542f4cfc3ac34e33" /><Relationship Type="http://schemas.openxmlformats.org/officeDocument/2006/relationships/slide" Target="/ppt/slides/slide4.xml" Id="Rd948a21e1d6f4b0a" /><Relationship Type="http://schemas.openxmlformats.org/officeDocument/2006/relationships/slide" Target="/ppt/slides/slide5.xml" Id="Rd9f6313031be46d4" /><Relationship Type="http://schemas.openxmlformats.org/officeDocument/2006/relationships/slide" Target="/ppt/slides/slide6.xml" Id="Rfdb0b8cd3e2343ba" /><Relationship Type="http://schemas.openxmlformats.org/officeDocument/2006/relationships/slide" Target="/ppt/slides/slide7.xml" Id="R1b7a4d4b2b274c3a" /><Relationship Type="http://schemas.openxmlformats.org/officeDocument/2006/relationships/slide" Target="/ppt/slides/slide8.xml" Id="Rbc843fd665d54957" /><Relationship Type="http://schemas.openxmlformats.org/officeDocument/2006/relationships/slide" Target="/ppt/slides/slide9.xml" Id="R2f16828bda414b00" /><Relationship Type="http://schemas.openxmlformats.org/officeDocument/2006/relationships/slide" Target="/ppt/slides/slide10.xml" Id="Rfa229e96df1a4345" /><Relationship Type="http://schemas.openxmlformats.org/officeDocument/2006/relationships/slide" Target="/ppt/slides/slide11.xml" Id="Rbe1760574de64f36" /><Relationship Type="http://schemas.openxmlformats.org/officeDocument/2006/relationships/slide" Target="/ppt/slides/slide12.xml" Id="Rc347d3f3546d409b" /><Relationship Type="http://schemas.openxmlformats.org/officeDocument/2006/relationships/slide" Target="/ppt/slides/slide13.xml" Id="R52932d6bd368409e" /><Relationship Type="http://schemas.openxmlformats.org/officeDocument/2006/relationships/slide" Target="/ppt/slides/slide14.xml" Id="R58b1731959684e61" /><Relationship Type="http://schemas.openxmlformats.org/officeDocument/2006/relationships/slide" Target="/ppt/slides/slide15.xml" Id="Rb1b85e128bfa4fbe" /><Relationship Type="http://schemas.openxmlformats.org/officeDocument/2006/relationships/slide" Target="/ppt/slides/slide16.xml" Id="R964671d4126f4e56" /><Relationship Type="http://schemas.openxmlformats.org/officeDocument/2006/relationships/slide" Target="/ppt/slides/slide17.xml" Id="Rfcd4818770494095" /><Relationship Type="http://schemas.openxmlformats.org/officeDocument/2006/relationships/slide" Target="/ppt/slides/slide18.xml" Id="R4f84d8c5445b4d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9c31221ebb4d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b2eabcbdee4fdd" /><Relationship Type="http://schemas.openxmlformats.org/officeDocument/2006/relationships/notesMaster" Target="/ppt/notesMasters/notesMaster1.xml" Id="R7094eefb9a8e49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60f92c694945f6" /><Relationship Type="http://schemas.openxmlformats.org/officeDocument/2006/relationships/notesMaster" Target="/ppt/notesMasters/notesMaster1.xml" Id="R07b5ebb2c94f40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25769d8612423c" /><Relationship Type="http://schemas.openxmlformats.org/officeDocument/2006/relationships/notesMaster" Target="/ppt/notesMasters/notesMaster1.xml" Id="R51d0d5d90fca42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899ebff57a418a" /><Relationship Type="http://schemas.openxmlformats.org/officeDocument/2006/relationships/notesMaster" Target="/ppt/notesMasters/notesMaster1.xml" Id="Ra79989c9194e4e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3ca73d6f764a5f" /><Relationship Type="http://schemas.openxmlformats.org/officeDocument/2006/relationships/notesMaster" Target="/ppt/notesMasters/notesMaster1.xml" Id="R33b640a8bd314c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53e91597964f5b" /><Relationship Type="http://schemas.openxmlformats.org/officeDocument/2006/relationships/notesMaster" Target="/ppt/notesMasters/notesMaster1.xml" Id="Rf59d63453a624e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5b815b8e114f0f" /><Relationship Type="http://schemas.openxmlformats.org/officeDocument/2006/relationships/notesMaster" Target="/ppt/notesMasters/notesMaster1.xml" Id="R5568a362c6c242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ac63c47d5d4983" /><Relationship Type="http://schemas.openxmlformats.org/officeDocument/2006/relationships/notesMaster" Target="/ppt/notesMasters/notesMaster1.xml" Id="R8ce193c436df41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52c8f12205428c" /><Relationship Type="http://schemas.openxmlformats.org/officeDocument/2006/relationships/notesMaster" Target="/ppt/notesMasters/notesMaster1.xml" Id="R16ea62700dcd49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64e470ea8f4681" /><Relationship Type="http://schemas.openxmlformats.org/officeDocument/2006/relationships/notesMaster" Target="/ppt/notesMasters/notesMaster1.xml" Id="Rc859cf433b3b4c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7c129c3b55438f" /><Relationship Type="http://schemas.openxmlformats.org/officeDocument/2006/relationships/notesMaster" Target="/ppt/notesMasters/notesMaster1.xml" Id="Ra5cd0ea8038c4c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2948075d6f437a" /><Relationship Type="http://schemas.openxmlformats.org/officeDocument/2006/relationships/notesMaster" Target="/ppt/notesMasters/notesMaster1.xml" Id="R48bd9462b9e04f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74f7ef0eac4e1c" /><Relationship Type="http://schemas.openxmlformats.org/officeDocument/2006/relationships/notesMaster" Target="/ppt/notesMasters/notesMaster1.xml" Id="R4e9ba8a3095e49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7e65dd98ba457f" /><Relationship Type="http://schemas.openxmlformats.org/officeDocument/2006/relationships/notesMaster" Target="/ppt/notesMasters/notesMaster1.xml" Id="R4145879761174a8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592892e9cd4bc5" /><Relationship Type="http://schemas.openxmlformats.org/officeDocument/2006/relationships/notesMaster" Target="/ppt/notesMasters/notesMaster1.xml" Id="R9e4296e1e7c849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2fea879613446d" /><Relationship Type="http://schemas.openxmlformats.org/officeDocument/2006/relationships/notesMaster" Target="/ppt/notesMasters/notesMaster1.xml" Id="R2285e95d51d74f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70fe2d5a054db9" /><Relationship Type="http://schemas.openxmlformats.org/officeDocument/2006/relationships/notesMaster" Target="/ppt/notesMasters/notesMaster1.xml" Id="Ra2c765cb43124c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43d8f14cba4ce2" /><Relationship Type="http://schemas.openxmlformats.org/officeDocument/2006/relationships/notesMaster" Target="/ppt/notesMasters/notesMaster1.xml" Id="R9c90f6fb186b4e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内部立项与跨部门评审。依据已确认的执行文档v1.5制作，保留11个主题，合计18页。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优先建议Qwen3-8B作为910B文本联调候选，具体平台采购规格尚未确认。YOLO和Wan独立PoC，不阻塞首个文本计量案例。技术验证完成不代表商业闭环完成。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柜图为资源布置示意，不代表U位尺寸。通算服务器仅列配置类别，不画进两新柜。910B整机单台超过5kW为用户输入，因此两台不可装入同一10kW机柜。卡数计算2×8=16，6×8=48。T4多卡显存不是天然连续显存。RoCE交换机拟放A柜，图上不占服务器槽，功率另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t4: https://www.nvidia.cn/content/dam/en-zz/Solutions/Data-Center/tesla-t4/t4-tensor-core-datasheet.pdf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均为相应整机/设备的设计负载峰值，不能用GPU板卡功耗代替整机，不能将冗余PSU铭牌额定值简单相加。P机柜可用由机房在回路、PDU、故障供电及制冷条件下确认，不自动等于标称10kW。A柜网络负载含RoCE交换机，B柜按实际驻留设备计。覆盖14台整机及网络设备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蓝色为业务网，青色为910B高速计算网，灰色为BMC带外管理。业务网覆盖图示910B与通算，T4业务接入以文字说明。可选存储独立网按模型分发需要启用。跨柜共用同一交换机无新增交换跳数。单RoCE交换机无交换机级冗余。验收：接口与模块兼容、实际距离/光纤/波长/FEC/光功率；16端口速率与映射、MTU/IP、按厂家方案配置PFC/ECN；光误码和丢包检查，再做双机HCCL带宽与实际并行任务。不得仅凭ping。T4不自动接入昇腾HCCL通信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roce: https://e.huawei.com/cn/products/computing/ascend/atlas-800t-a2</a:t>
            </a:r>
          </a:p>
          <a:p xmlns:a="http://schemas.openxmlformats.org/drawingml/2006/main">
            <a:r>
              <a:t>optics: https://e.huawei.com/cn/products/dcn-modules/200g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列为候选替代路径，不要求全部组件同时安装。T4支持FP16及经核验的INT4/INT8路径；BF16/FP8原生能力不能按新卡假定。CUDA专用kernel无法直接搬到Ascend。固定OS/CPU架构、驱动、固件、CUDA或CANN、框架、引擎和镜像digest，按选定release支持矩阵验收。当前文档快照只是研究来源，不宣称latest镜像已在本机验证。vLLM不作为YOLO或Wan统一引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gpu: https://docs.vllm.ai/en/latest/getting_started/installation/gpu/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trt: https://nvidia.github.io/TensorRT-LLM/reference/support-matrix.html</a:t>
            </a:r>
          </a:p>
          <a:p xmlns:a="http://schemas.openxmlformats.org/drawingml/2006/main">
            <a:r>
              <a:t>install: https://docs.vllm.ai/projects/ascend/en/main/getting_started/installation.html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逻辑架构，未声称全部功能属于MASS或已部署。管理/配置、请求、计量三个职责分开。计量字段：tenant_id、request_id、attempt_id、event_id、model/version、tokenizer版本、开始结束时间、状态、input/output/cache_hit/cache_miss、规则版本、原始证据引用。缓存量按双方计费规则核对，框架缓存块计数不得直接当计费Token。YOLO与Wan使用task_id和图片/视频任务单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固定候选ID：Qwen/Qwen3-8B；deepseek-ai/DeepSeek-R1-Distill-Qwen-32B；zai-org/GLM-4.5-Air。权重revision/hash、目标引擎release与镜像digest待设备验证阶段冻结，不能把研究候选称为已验收配置。Qwen3-Dense在当前A2/A3矩阵支持；DeepSeek Distill标为experimental。GLM-4.5-Air主干总参数106B、激活12B，仓库张量统计约110B，容量以实际权重字节与加载策略为准，不能按激活参数估算。优先单机支持的并行配置，只有容量或性能需要时再双机HCCL。备选完整DeepSeek-R1/V3.2须另算量化/双机容量，当前不承诺。所有模型均未本机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asc: https://docs.vllm.ai/projects/ascend/en/latest/user_guide/support_matrix/supported_models.html</a:t>
            </a:r>
          </a:p>
          <a:p xmlns:a="http://schemas.openxmlformats.org/drawingml/2006/main">
            <a:r>
              <a:t>qwen: https://huggingface.co/Qwen/Qwen3-8B</a:t>
            </a:r>
          </a:p>
          <a:p xmlns:a="http://schemas.openxmlformats.org/drawingml/2006/main">
            <a:r>
              <a:t>ds: https://huggingface.co/deepseek-ai/DeepSeek-R1-Distill-Qwen-32B</a:t>
            </a:r>
          </a:p>
          <a:p xmlns:a="http://schemas.openxmlformats.org/drawingml/2006/main">
            <a:r>
              <a:t>glm: https://huggingface.co/zai-org/GLM-4.5-Air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完整ID：Qwen/Qwen2.5-7B-Instruct-AWQ，Ultralytics YOLO26n，Wan-AI/Wan2.1-T2V-1.3B。7B AWQ先验证单卡容量与SM75 kernel，不保证任意上下文/并发。量化只降低字节数，不减少参数量。可增加同系列14B量化作为备选，需重新核验。YOLO官方表有T4/TensorRT列，不搬用其速度作为本台结果；模型/软件许可及商用供给方式待核。Wan仓库低显存参考约8.19GB，非T4完整兼容证据，需检验FP16数值、注意力后端和卸载开销；不搬用4090速度。各任务固定独立镜像，不默认TP8。48卡在任务之间按卡时分配，不重复满额计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t4: https://www.nvidia.cn/content/dam/en-zz/Solutions/Data-Center/tesla-t4/t4-tensor-core-datasheet.pdf</a:t>
            </a:r>
          </a:p>
          <a:p xmlns:a="http://schemas.openxmlformats.org/drawingml/2006/main">
            <a:r>
              <a:t>awq: https://huggingface.co/Qwen/Qwen2.5-7B-Instruct-AWQ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yolo: https://docs.ultralytics.com/models/yolo26</a:t>
            </a:r>
          </a:p>
          <a:p xmlns:a="http://schemas.openxmlformats.org/drawingml/2006/main">
            <a:r>
              <a:t>wan: https://github.com/Wan-Video/Wan2.1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操作记录包含nvidia-smi或npu-smi设备识别、每台8卡、PCIe/NUMA与网络，版本与镜像digest，模型文件hash与许可证。服务配置固定max_model_len、精度、量化、TP/PP/副本及CPU/内存限制。文本验证流式chunk边界、模板、截断、超时和输入输出计数。YOLO额外核验预/后处理、类别和坐标；Wan异步队列、任务状态、生成参数及结果文件交付。单模型成功不能外推所有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完整压测脚本模板（未执行）：</a:t>
            </a:r>
          </a:p>
          <a:p xmlns:a="http://schemas.openxmlformats.org/drawingml/2006/main">
            <a:r>
              <a:t>#!/usr/bin/env bash</a:t>
            </a:r>
          </a:p>
          <a:p xmlns:a="http://schemas.openxmlformats.org/drawingml/2006/main">
            <a:r>
              <a:t># Text-service benchmark template; not executed against any service during PPT creation.</a:t>
            </a:r>
          </a:p>
          <a:p xmlns:a="http://schemas.openxmlformats.org/drawingml/2006/main">
            <a:r>
              <a:t># CLI reference: vLLM 0.27.0. Pin the client and verify --help before use.</a:t>
            </a:r>
          </a:p>
          <a:p xmlns:a="http://schemas.openxmlformats.org/drawingml/2006/main">
            <a:r>
              <a:t>set -euo pipefail</a:t>
            </a:r>
          </a:p>
          <a:p xmlns:a="http://schemas.openxmlformats.org/drawingml/2006/main">
            <a:r>
              <a:t>: "${MODEL:?Set MODEL to the deployed service model ID}"</a:t>
            </a:r>
          </a:p>
          <a:p xmlns:a="http://schemas.openxmlformats.org/drawingml/2006/main">
            <a:r>
              <a:t>: "${TOKENIZER:?Set TOKENIZER to the matching local tokenizer path or ID}"</a:t>
            </a:r>
          </a:p>
          <a:p xmlns:a="http://schemas.openxmlformats.org/drawingml/2006/main">
            <a:r>
              <a:t>BENCH_URL="${BENCH_URL:-http://127.0.0.1:8000}"</a:t>
            </a:r>
          </a:p>
          <a:p xmlns:a="http://schemas.openxmlformats.org/drawingml/2006/main">
            <a:r>
              <a:t>BENCH_DIR="${BENCH_DIR:-./benchmark-results-$(date +%Y%m%d-%H%M%S)}"</a:t>
            </a:r>
          </a:p>
          <a:p xmlns:a="http://schemas.openxmlformats.org/drawingml/2006/main">
            <a:r>
              <a:t>BENCH_PROMPTS="${BENCH_PROMPTS:-500}"</a:t>
            </a:r>
          </a:p>
          <a:p xmlns:a="http://schemas.openxmlformats.org/drawingml/2006/main">
            <a:r>
              <a:t>mkdir -p "$BENCH_DIR"</a:t>
            </a:r>
          </a:p>
          <a:p xmlns:a="http://schemas.openxmlformats.org/drawingml/2006/main">
            <a:r>
              <a:t>vllm --version &gt; "$BENCH_DIR/client-version.txt"</a:t>
            </a:r>
          </a:p>
          <a:p xmlns:a="http://schemas.openxmlformats.org/drawingml/2006/main">
            <a:r>
              <a:t>vllm bench serve --help &gt; "$BENCH_DIR/client-help.txt"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Initial exploration only. Small-sample P99 is not a stable SLA estimate.</a:t>
            </a:r>
          </a:p>
          <a:p xmlns:a="http://schemas.openxmlformats.org/drawingml/2006/main">
            <a:r>
              <a:t># No cache-hit claim: repeat-prefix workloads and server usage evidence are separate.</a:t>
            </a:r>
          </a:p>
          <a:p xmlns:a="http://schemas.openxmlformats.org/drawingml/2006/main">
            <a:r>
              <a:t>for lengths in '256 128' '1024 128' '256 512' '1024 512'; do</a:t>
            </a:r>
          </a:p>
          <a:p xmlns:a="http://schemas.openxmlformats.org/drawingml/2006/main">
            <a:r>
              <a:t>  read -r input_len output_len &lt;&lt;&lt; "$lengths"</a:t>
            </a:r>
          </a:p>
          <a:p xmlns:a="http://schemas.openxmlformats.org/drawingml/2006/main">
            <a:r>
              <a:t>  for concurrency in 1 2 4 8 16 32; do</a:t>
            </a:r>
          </a:p>
          <a:p xmlns:a="http://schemas.openxmlformats.org/drawingml/2006/main">
            <a:r>
              <a:t>    for repeat in 1 2 3; do</a:t>
            </a:r>
          </a:p>
          <a:p xmlns:a="http://schemas.openxmlformats.org/drawingml/2006/main">
            <a:r>
              <a:t>      vllm bench serve \</a:t>
            </a:r>
          </a:p>
          <a:p xmlns:a="http://schemas.openxmlformats.org/drawingml/2006/main">
            <a:r>
              <a:t>        --backend openai --endpoint /v1/completions \</a:t>
            </a:r>
          </a:p>
          <a:p xmlns:a="http://schemas.openxmlformats.org/drawingml/2006/main">
            <a:r>
              <a:t>        --base-url "$BENCH_URL" --model "$MODEL" --tokenizer "$TOKENIZER" \</a:t>
            </a:r>
          </a:p>
          <a:p xmlns:a="http://schemas.openxmlformats.org/drawingml/2006/main">
            <a:r>
              <a:t>        --dataset-name random --input-len "$input_len" --output-len "$output_len" \</a:t>
            </a:r>
          </a:p>
          <a:p xmlns:a="http://schemas.openxmlformats.org/drawingml/2006/main">
            <a:r>
              <a:t>        --num-prompts "$BENCH_PROMPTS" --num-warmups 20 \</a:t>
            </a:r>
          </a:p>
          <a:p xmlns:a="http://schemas.openxmlformats.org/drawingml/2006/main">
            <a:r>
              <a:t>        --max-concurrency "$concurrency" --request-rate inf \</a:t>
            </a:r>
          </a:p>
          <a:p xmlns:a="http://schemas.openxmlformats.org/drawingml/2006/main">
            <a:r>
              <a:t>        --percentile-metrics ttft,tpot,itl,e2el --metric-percentiles 50,95,99 \</a:t>
            </a:r>
          </a:p>
          <a:p xmlns:a="http://schemas.openxmlformats.org/drawingml/2006/main">
            <a:r>
              <a:t>        --save-result --save-detailed --result-dir "$BENCH_DIR" \</a:t>
            </a:r>
          </a:p>
          <a:p xmlns:a="http://schemas.openxmlformats.org/drawingml/2006/main">
            <a:r>
              <a:t>        --result-filename "in${input_len}-out${output_len}-c${concurrency}-r${repeat}.json"</a:t>
            </a:r>
          </a:p>
          <a:p xmlns:a="http://schemas.openxmlformats.org/drawingml/2006/main">
            <a:r>
              <a:t>    done</a:t>
            </a:r>
          </a:p>
          <a:p xmlns:a="http://schemas.openxmlformats.org/drawingml/2006/main">
            <a:r>
              <a:t>  done</a:t>
            </a:r>
          </a:p>
          <a:p xmlns:a="http://schemas.openxmlformats.org/drawingml/2006/main">
            <a:r>
              <a:t>done</a:t>
            </a:r>
          </a:p>
          <a:p xmlns:a="http://schemas.openxmlformats.org/drawingml/2006/main">
            <a:r>
              <a:t># Run a separate arrival-rate experiment by replacing inf with chosen rates.</a:t>
            </a:r>
          </a:p>
          <a:p xmlns:a="http://schemas.openxmlformats.org/drawingml/2006/main">
            <a:r>
              <a:t># Preserve actual arrival rate, errors, duration, sample counts and server telemetry.</a:t>
            </a:r>
          </a:p>
          <a:p xmlns:a="http://schemas.openxmlformats.org/drawingml/2006/main">
            <a:r>
              <a:t># For authenticated/chat-only endpoints, adapt the backend, endpoint, template and</a:t>
            </a:r>
          </a:p>
          <a:p xmlns:a="http://schemas.openxmlformats.org/drawingml/2006/main">
            <a:r>
              <a:t># authentication using the installed client's help before running this script.</a:t>
            </a:r>
          </a:p>
          <a:p xmlns:a="http://schemas.openxmlformats.org/drawingml/2006/main">
            <a:r>
              <a:t># request_goodput is requests/s. Aggregate qualified input/output/cache tokens</a:t>
            </a:r>
          </a:p>
          <a:p xmlns:a="http://schemas.openxmlformats.org/drawingml/2006/main">
            <a:r>
              <a:t># separately, using the same request set and time window, before revenue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官方参数依据：https://docs.vllm.ai/en/v0.27.0/cli/bench/serve/</a:t>
            </a:r>
          </a:p>
          <a:p xmlns:a="http://schemas.openxmlformats.org/drawingml/2006/main">
            <a:r>
              <a:t>查询日期：2026-09-16。缓存命中另用重复前缀工作负载并核对服务端实际计数。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TPOT仅用于输出Token数≥2的样本，stream chunk不等于Token。统计所有请求错误与超时，分位数记录样本量。合格Token/s采用事先约定的合格请求集合，质量门槛不能仅靠客户端耗时替代。输入总数=命中+未命中（按约定计费边界）。client request_goodput为满足SLO请求数/秒，不能直接代入Token公式；输出吞吐是实际输出Token/秒。单卡吞吐不线性外推48卡，分别实测资源池和MASS入口。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metrics: https://docs.vllm.ai/en/latest/api/vllm/benchmarks/serve/</a:t>
            </a:r>
          </a:p>
          <a:p xmlns:a="http://schemas.openxmlformats.org/drawingml/2006/main">
            <a:r>
              <a:t>bench: https://docs.vllm.ai/en/v0.27.0/cli/bench/serve/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原公式完整保留：Decode集群月价值=Decode TGS×30×24×3600×Decode GPU总卡数×Decode单价/1000000×产出率。Prefill非命中与cache各用相应TGS、GPU总卡数、单价及计费产出率。910B资源卡为NPU，N泛指该资源池实际参与卡数。若直接使用集群Token/s则不再乘N。Mini基线Prefill/Decode混合部署，三类产能来自同一工作负载，不相加独立压测峰值。缓存TGS为可计费逻辑命中Token速率，不代表实际执行完整Prefill。η仅反映未在测量中体现的可用性/需求/可计费损失，避免重复打折。市场价格适用deepseek-flash(DeepSeek-V4.1-Flash)，高峰UTC工作日01:00–04:00及06:00–10:00，其余非高峰。公开API美元零售价不是本项目平台采购价，且与首选Qwen3-8B及蒸馏模型不同，不可直接估收入。YOLO按图片/任务，Wan按视频任务或合同单位另算。实际结算=双方认可用量×约定采购价±调整，实际回款以银行凭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price: https://api-docs.deepseek.com/quick_start/pricing/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令R0是同一模型组合、同币种税口径、固定卡时与负载下以基准采购价计算的月收入，若三类单价同比例乘k且成本不变，则盈亏k*=C/R0；R0=0时无此边界。若收入uRfull、成本F+uV，则u*=F/(Rfull−V)，仅当Rfull&gt;V且u*≤1才存在该区间的盈亏可能。缓存比例改变会影响计费价格和产能，不可只改一个数就声称真实利润。月电量=实测平均kW×小时，机柜10kW不是持续负载。CAPEX与折旧不得同月重复全额计成本。实际T4卡时在文本/检测/视频间分配，总和不超过48张×可用时间。利润、应收与回款分别记录；共享CPU机柜已有资源按项目分摊，避免重复新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商务讨论清单，并非已签协议或法律意见。首批用同一请求样本比对Tokenizer、推理返回usage、接入记录及平台账单。需约定失败/取消/重试/部分输出及缓存口径，不能由技术默认免费或收费。检测/视频分别约定规格、质量、任务单位及价格。合同还需价格变更、税费、付款账户、争议处理和开票要求，以双方最终文本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议条款由商务/法务/财务评审。单交换机故障可能影响双机并行服务，同一资源池内独立单机服务的影响依赖网络与路由。合同约定故障责任归属、供应方与平台侧原因判定、不可用统计、维护排除项、赔付上限、退出与余额清算。数据最小留存及安全职责按实际数据和适用制度审查，不假定客户数据可任意留存或用于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以角色为泳道、阶段为列。公司制度未提供，不虚构审批姓名或时限。重要交接：技术产能报告传商务财务形成报价；商务法务确认条款后技术按配额发布；技术给出用量明细、商务获取平台对账确认、财务形成结算及发票、商务财务跟踪到账。真实商业闭环需要实际交易与凭证；模拟账单仅作为计量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报告不声称设备已上架、模型已部署、压测已通过、合同已签或款项已到账。与第2页三项评审目标对应：确定首轮范围；明确资源资料及责任；设置试供给门槛。扩容依据需要实际质量、产能、订单与全成本经济性，不以峰值吞吐或能输出文本为充分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7ebf6eab914b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f9a00252a243dd" /><Relationship Type="http://schemas.openxmlformats.org/officeDocument/2006/relationships/slideLayout" Target="/ppt/slideLayouts/slideLayout1.xml" Id="R05fdf89e86394a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fdf89e86394a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c8ccabf144e9a" /><Relationship Type="http://schemas.openxmlformats.org/officeDocument/2006/relationships/notesSlide" Target="/ppt/notesSlides/notesSlide1.xml" Id="R0c466fc80ad64f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1169885e14853" /><Relationship Type="http://schemas.openxmlformats.org/officeDocument/2006/relationships/notesSlide" Target="/ppt/notesSlides/notesSlide2.xml" Id="R1d9c5c1c906545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0d0ec51134f43" /><Relationship Type="http://schemas.openxmlformats.org/officeDocument/2006/relationships/notesSlide" Target="/ppt/notesSlides/notesSlide3.xml" Id="Rdd74405fffb94f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63a4d8528485f" /><Relationship Type="http://schemas.openxmlformats.org/officeDocument/2006/relationships/notesSlide" Target="/ppt/notesSlides/notesSlide4.xml" Id="R2fef0b64b39247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e24c24ea94248" /><Relationship Type="http://schemas.openxmlformats.org/officeDocument/2006/relationships/notesSlide" Target="/ppt/notesSlides/notesSlide5.xml" Id="Ra44c0bfcf19245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8913099454e13" /><Relationship Type="http://schemas.openxmlformats.org/officeDocument/2006/relationships/notesSlide" Target="/ppt/notesSlides/notesSlide6.xml" Id="R63620f956bf847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3c6906c154291" /><Relationship Type="http://schemas.openxmlformats.org/officeDocument/2006/relationships/notesSlide" Target="/ppt/notesSlides/notesSlide7.xml" Id="R4f0fecfe168e40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1aa8336e34771" /><Relationship Type="http://schemas.openxmlformats.org/officeDocument/2006/relationships/notesSlide" Target="/ppt/notesSlides/notesSlide8.xml" Id="Rb2369f50034945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ca38fe0cd4bef" /><Relationship Type="http://schemas.openxmlformats.org/officeDocument/2006/relationships/notesSlide" Target="/ppt/notesSlides/notesSlide9.xml" Id="R8e8504fbe9e342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78608a6d3495c" /><Relationship Type="http://schemas.openxmlformats.org/officeDocument/2006/relationships/notesSlide" Target="/ppt/notesSlides/notesSlide10.xml" Id="Re994c8afa91c43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0d655d0a64592" /><Relationship Type="http://schemas.openxmlformats.org/officeDocument/2006/relationships/notesSlide" Target="/ppt/notesSlides/notesSlide11.xml" Id="R8e7e00f862364c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adec471684724" /><Relationship Type="http://schemas.openxmlformats.org/officeDocument/2006/relationships/notesSlide" Target="/ppt/notesSlides/notesSlide12.xml" Id="R6729ba906af647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c1af8cb614938" /><Relationship Type="http://schemas.openxmlformats.org/officeDocument/2006/relationships/notesSlide" Target="/ppt/notesSlides/notesSlide13.xml" Id="R7be42ede1da94c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a20d91c6a4f5b" /><Relationship Type="http://schemas.openxmlformats.org/officeDocument/2006/relationships/notesSlide" Target="/ppt/notesSlides/notesSlide14.xml" Id="R945ad259ac7849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1970e18364752" /><Relationship Type="http://schemas.openxmlformats.org/officeDocument/2006/relationships/notesSlide" Target="/ppt/notesSlides/notesSlide15.xml" Id="R5b38e82568874d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2971b5a044e38" /><Relationship Type="http://schemas.openxmlformats.org/officeDocument/2006/relationships/notesSlide" Target="/ppt/notesSlides/notesSlide16.xml" Id="Ra8f671be4e1b47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73ab2e889415a" /><Relationship Type="http://schemas.openxmlformats.org/officeDocument/2006/relationships/notesSlide" Target="/ppt/notesSlides/notesSlide17.xml" Id="R7c87e7130c684d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694e1948b443c" /><Relationship Type="http://schemas.openxmlformats.org/officeDocument/2006/relationships/notesSlide" Target="/ppt/notesSlides/notesSlide18.xml" Id="R137308fb0de44e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05ACA-470F-4BD7-8D14-C7E8326A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token 魔方</a:t>
            </a:r>
          </a:p>
          <a:p xmlns:a="http://schemas.openxmlformats.org/drawingml/2006/main">
            <a:pPr algn="l"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Mini实验台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84E07-9315-49E1-BC0B-768A3CB9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Token 生产与平台销售闭环验证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94CCB-81B2-42D4-BD19-0CA07DA6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0D612-045F-4294-B1C4-7D10DC24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prepare:张帅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B0E34-995A-433F-AE4C-C4AF5945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150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2026年9月16日</a:t>
            </a:r>
          </a:p>
        </p:txBody>
      </p:sp>
    </p:spTree>
    <p:extLst>
      <p:ext uri="{BB962C8B-B14F-4D97-AF65-F5344CB8AC3E}">
        <p14:creationId xmlns:p14="http://schemas.microsoft.com/office/powerpoint/2010/main" val="11968742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D35E5-0D4E-457D-B3C8-01626F08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6CEB5-83C5-42BF-94A1-4FFF5CB6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技术验证与商业验证的范围及评审目标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73343-C068-40A8-9BE4-7F9E49D9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首轮用一个文本服务贯通生产、计量与平台对账，再验证真实结算回款。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4DDB8-9CB7-4F94-8477-4C476FF9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DADEA-5716-4F01-81F6-CAA4DF21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DF7AC-4B96-478A-BEB3-7C033D60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DFDAD-1D5F-442F-ACAE-12760D60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A  技术验证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7DAD0-09FE-4D1B-B1A6-9FFE8D17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B  商业验证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33365-5C09-4C06-BCD9-8A52EF58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5048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硬件设备与功率边界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网络拓扑与跨柜 RoCE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软件架构与 MASS 接入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模型适配与部署验收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68D2B-A373-4562-BAD0-9E59EED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43200"/>
            <a:ext cx="5162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性能测算与可售产能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Token 收益与盈亏边界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商业协议与结算证据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公司流程与回款验收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CB8BA-A320-448D-A22B-D00F4580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223D8-5AC7-41C7-8179-A9AA0513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863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本次评审形成：首轮服务范围、必补资源资料、平台试供给通过条件。</a:t>
            </a:r>
          </a:p>
        </p:txBody>
      </p:sp>
    </p:spTree>
    <p:extLst>
      <p:ext uri="{BB962C8B-B14F-4D97-AF65-F5344CB8AC3E}">
        <p14:creationId xmlns:p14="http://schemas.microsoft.com/office/powerpoint/2010/main" val="327051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21DD7-BE89-4B3A-B4AF-8A1335EE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56DDA-DCDF-4E00-B34C-67A6B4C1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双机柜资源配置：910B 分柜，T4 均衡布置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376D4-7C57-4785-91E0-8E66DB97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已确认 14 台服务器：16 张 910B NPU、48 张 T4 GPU及 6 台通算服务器。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43ECD-4461-46CF-9BB6-6367DE4E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76778-F517-49B4-81AE-88F55B79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FC2BA-6FFC-4AC1-B79D-31A6B531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78FA8-D196-4BC1-B56E-30550333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24790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95327-D856-4857-AE5C-08FB5513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A  /  10 kW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41D9E-F5F4-4A4A-AE11-3DF86543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9431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服务器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6C2AB-E8AE-47B2-9062-D14A19A5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4319B-ECC3-422B-AEB3-5BE10115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8BAB1-0E9D-42B0-8A7F-81928880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B7711-D352-496B-90D9-9911F3D1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09775"/>
            <a:ext cx="224790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24695-93B8-46D2-BA41-A2C34390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95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B  /  10 kW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5FDD7-B9AF-4357-ABFC-0D28CA3F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38425"/>
            <a:ext cx="19431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服务器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71CCB-9056-4BD7-8663-25D4708C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343DC-9333-42E2-A23B-DC68C77B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0025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38AC9-3F0F-41F2-BFB0-1DAA72D2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5762625" y="2009775"/>
          <a:ext xmlns:a="http://schemas.openxmlformats.org/drawingml/2006/main" cx="5848350" cy="3457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0386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数量与核心配置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昇腾 910B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台 × 8 张 NPU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子型号与显存待盘点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T4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 × 8 张 GPU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 16GB GDDR6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通算服务器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台，已有机柜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/ 内存 / 系统盘 / 数据盘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与光链路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台交换机，16 条链路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 个 200GE 光模块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73731D-A0BB-47B8-97CF-9532B03F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每柜 1 台 910B＋3 台八卡 T4 为拟议装载，须通过整机功率和安装核验。</a:t>
            </a:r>
          </a:p>
        </p:txBody>
      </p:sp>
    </p:spTree>
    <p:extLst>
      <p:ext uri="{BB962C8B-B14F-4D97-AF65-F5344CB8AC3E}">
        <p14:creationId xmlns:p14="http://schemas.microsoft.com/office/powerpoint/2010/main" val="1981821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1D843-42BE-4C75-807C-AF36330A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21F12-0981-49F7-94D8-01EC509B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功率与配套：逐柜整机峰值决定混装容量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BF152-1A17-4C1E-AF35-2301511B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kW 是机柜容量等级。八卡 T4 的 CPU、风扇和电源损耗都要纳入。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7EF30-B0B7-4B1B-AD17-B16A4ABB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7719F-1F6A-4619-BE13-9996EB76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81239-C640-446F-81D0-EE4926B2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838F6-018D-4356-BE7C-AC9C5D89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P910B + 3 × PT4 + P网络 + P预留 ≤ P机柜可用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743575"/>
                <a:gridCol w="3495675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配套类别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上线前必备项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核验重点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整机与存储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机箱、主板、CPU、内存、风扇、冗余电源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系统盘、模型/日志盘、按需磁盘控制器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八卡槽位、PCIe / Riser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峰值功耗与散热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网络与光纤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业务网卡、BMC 口、业务/管理交换机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交换机、32 个光模块、16 组光纤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端口、上联线缆、管理网线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速率、接口和距离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机柜与机房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导轨、PDU、电源线、接地、理线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供电回路、UPS、制冷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持续容量、U 位、承重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冗余供电工况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 / 可选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台通算配套按现状盘点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可选共享存储、备份及存储网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复用边界、留存需求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不重复新增机柜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CE500-B68A-4E7F-81B3-03CEDE92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上架门槛：设备/运维提供两柜功率表和配件差缺清单，超限则调整 T4 分布。</a:t>
            </a:r>
          </a:p>
        </p:txBody>
      </p:sp>
    </p:spTree>
    <p:extLst>
      <p:ext uri="{BB962C8B-B14F-4D97-AF65-F5344CB8AC3E}">
        <p14:creationId xmlns:p14="http://schemas.microsoft.com/office/powerpoint/2010/main" val="167205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E38066-012A-43BA-A18F-AA0EBC40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54867-240D-43A4-9CDC-BEACA293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跨柜 RoCE：两台 910B 共用一台交换机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99176-AEC7-4745-89E8-914CCAE4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业务、带外管理与高速计算分网。柜体边界不增加交换跳数。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31BFC-3691-411E-BF22-B8FD7D97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A7187-CFCB-466A-BD4E-26FB06A0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BE89D-FFEE-413B-8721-8AB9314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FE1F6-0E0D-4EE1-BB5F-6EA5830B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目标平台 / 压测入口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0E014-14B6-4A0D-A63D-294892D6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71675"/>
            <a:ext cx="2857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业务交换设备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67050" y="2233613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9FC2A-EC10-43A8-9056-85709D09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3381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既有通算资源池 6 台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MASS 与接入服务</a:t>
            </a:r>
          </a:p>
        </p:txBody>
      </p: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762750" y="2233613"/>
            <a:ext cx="1466850" cy="42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8E60A-6C7C-41A1-BDD7-004191BD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57500"/>
            <a:ext cx="51720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BFA12-F8F6-49AA-A956-BBAA8EC3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57500"/>
            <a:ext cx="54006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2C737-6CBE-4785-A58F-2A3C69E9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337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A 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3D5BC-714D-4139-ADF2-348C0FF5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337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B 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78474-5A49-4276-96BE-ECDC9886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B3EEB-CA81-4EA2-9099-98DE2670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29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RoCE 交换机 ×1</a:t>
            </a:r>
          </a:p>
          <a:p xmlns:a="http://schemas.openxmlformats.org/drawingml/2006/main">
            <a:pPr algn="ctr">
              <a:defRPr sz="165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≥16 个 200GE 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A4DAB-9E89-4EB2-ADE5-3762FCC9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cxnSp>
        <p:nvCxnSpPr>
          <p:cNvPr id="5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381250" y="3752850"/>
            <a:ext cx="72390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8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581650" y="376237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7B038-8EB7-407D-BC39-E4DE7374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337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9E8449-AC46-4902-BFE0-9F9051B3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71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8×200GE 跨柜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387BDA-6C3D-4B8C-97F3-919E1262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05325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×3，每台 8 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ADA246-F0B5-439A-989B-4B5A537E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05325"/>
            <a:ext cx="2457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×3，每台 8 卡</a:t>
            </a:r>
          </a:p>
        </p:txBody>
      </p:sp>
      <p:cxnSp>
        <p:nvCxnSpPr>
          <p:cNvPr id="59" name=""/>
          <p:cNvCxnSpPr>
            <a:stCxn xmlns:a="http://schemas.openxmlformats.org/drawingml/2006/main" id="8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1590675" y="2495550"/>
            <a:ext cx="3743325" cy="923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8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5334000" y="2495550"/>
            <a:ext cx="1914525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B6C95C-BDE1-41D1-AD8B-AB1CAA2A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14650"/>
            <a:ext cx="328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业务网同时接入全部 T4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44549B-D016-4FAF-BB4C-D85F6001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3333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运维入口 / 管理交换设备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B923B5-9C18-4DCC-9A64-50B25895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73056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全部 14 台服务器 BMC＋交换设备管理口</a:t>
            </a:r>
          </a:p>
        </p:txBody>
      </p:sp>
      <p:cxnSp>
        <p:nvCxnSpPr>
          <p:cNvPr id="64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924300" y="54244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B89"/>
            </a:solidFill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751342-1368-4ABF-A8B5-C3BA8A22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86425"/>
            <a:ext cx="3333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9B641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9B641C"/>
                </a:solidFill>
                <a:latin typeface="Arial Unicode MS"/>
                <a:ea typeface="Arial Unicode MS"/>
                <a:cs typeface="Arial Unicode MS"/>
              </a:rPr>
              <a:t>各资源池存储接口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87988C-D9EA-45B4-9C90-42DA6A6F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86425"/>
            <a:ext cx="73056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9B641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9B641C"/>
                </a:solidFill>
                <a:latin typeface="Arial Unicode MS"/>
                <a:ea typeface="Arial Unicode MS"/>
                <a:cs typeface="Arial Unicode MS"/>
              </a:rPr>
              <a:t>可选存储网 / 共享存储与备份</a:t>
            </a:r>
          </a:p>
        </p:txBody>
      </p:sp>
      <p:cxnSp>
        <p:nvCxnSpPr>
          <p:cNvPr id="67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924300" y="58626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41C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38C73D-5F56-4A3A-9542-40BB403C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52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16 条光链路，双端 32 个模块</a:t>
            </a:r>
          </a:p>
        </p:txBody>
      </p:sp>
    </p:spTree>
    <p:extLst>
      <p:ext uri="{BB962C8B-B14F-4D97-AF65-F5344CB8AC3E}">
        <p14:creationId xmlns:p14="http://schemas.microsoft.com/office/powerpoint/2010/main" val="1827852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A2F06-FC18-4F76-A057-D64448E1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63C58-3119-43BB-89D0-E80943AC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生态与部署路径：软件依赖决定模型适配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BF311-DFE1-43A4-B5F4-084377DE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完整版本组合需要匹配驱动、运行时、模型算子和推理引擎。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1A381-E2E1-4C49-AB19-A5341E9C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F9D1F-419E-44CC-A8BE-5C14CC80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B8CDC-3F39-43D5-B128-E47658B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19625"/>
                <a:gridCol w="4619625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层次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T4 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昇腾 910B 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硬件与设备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驱动、容器设备支持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/ SM75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驱动、固件、容器设备映射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子型号待核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运行时与通信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CUDA、计算库、NCCL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CANN、算子库、HCCL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框架与模型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PyTorch、Transformers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量化权重及兼容 kernel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+ torch_npu 等适配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量化与算子工具链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任务与引擎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文本：兼容 vLLM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YOLO：ONNX / TensorRT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Wan：官方推理流程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国产文本：vLLM Ascend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或 MindIE 对应路径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按模型单独验证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499A2-7A13-4AC2-84FD-06E7BF36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先冻结可运行镜像再扩功能。T4 的 TensorRT 路径不能推导为 TensorRT-LLM 支持。</a:t>
            </a:r>
          </a:p>
        </p:txBody>
      </p:sp>
    </p:spTree>
    <p:extLst>
      <p:ext uri="{BB962C8B-B14F-4D97-AF65-F5344CB8AC3E}">
        <p14:creationId xmlns:p14="http://schemas.microsoft.com/office/powerpoint/2010/main" val="13375681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2F8C9D-4F9D-46E3-ABAC-E4CBD0BB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C6F15-0952-4B76-B09B-CB55D7FD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MASS 接入与计量：请求到用量的证据链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2634F-2EBD-47D0-AFC8-EF7AC788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6 台既有通算承载逻辑组件，具体能力归属和逐台部署待平台文档确认。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CCE9F-3B40-4594-84D5-B8A7D2C0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E8876-24D6-47B9-8416-D6D083C3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2C529-ADC6-4A61-B4A1-5A2E5CB2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872F0-F5A9-4C71-B667-D005DF1B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19300"/>
            <a:ext cx="11010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管理配置：模型登记、资源配额、版本发布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FE1AA-4C50-4B31-BA2B-808150E1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38475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平台请求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租户 / 请求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D653D-4D9B-4E46-8E9C-7CFC2B81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38475"/>
            <a:ext cx="25050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接入鉴权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模型路由 / 限流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FD1AB-5973-469F-AE5C-3D55A163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38475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 / T4 推理服务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模型与版本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52204-1466-43E7-B6A2-11162D43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38475"/>
            <a:ext cx="1762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服务结果</a:t>
            </a:r>
          </a:p>
        </p:txBody>
      </p: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733675" y="34290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29300" y="34290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296400" y="34290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105525" y="2524125"/>
            <a:ext cx="1785938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667B89"/>
            </a:solidFill>
            <a:prstDash val="dash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DB71D-6B95-4C02-97C3-429E1AF7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0"/>
            <a:ext cx="2514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原始用量事件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输入 / 输出 / 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F4B66-B0FC-4527-8E45-52D55B1E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72000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去重与规则计算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保留原始记录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C0ECCC-E01E-4D56-90E6-ACB88122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572000"/>
            <a:ext cx="1762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账单明细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对账差异</a:t>
            </a:r>
          </a:p>
        </p:txBody>
      </p:sp>
      <p:cxnSp>
        <p:nvCxnSpPr>
          <p:cNvPr id="42" name=""/>
          <p:cNvCxnSpPr>
            <a:stCxn xmlns:a="http://schemas.openxmlformats.org/drawingml/2006/main" id="10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4572000" y="3819525"/>
            <a:ext cx="3319463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29300" y="496252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296400" y="49625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9C1F3-0914-43FA-8CCC-AB31447A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295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拟集成职责</a:t>
            </a:r>
          </a:p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MASS 已有能力</a:t>
            </a:r>
          </a:p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需逐项核对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35A1A-04EA-4660-AF19-A601FBA1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同一请求 ID 关联版本、状态、用量与账单。事件去重和重试计费分别处理。</a:t>
            </a:r>
          </a:p>
        </p:txBody>
      </p:sp>
    </p:spTree>
    <p:extLst>
      <p:ext uri="{BB962C8B-B14F-4D97-AF65-F5344CB8AC3E}">
        <p14:creationId xmlns:p14="http://schemas.microsoft.com/office/powerpoint/2010/main" val="5279005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020D4-4AD7-4BEB-AA2D-FC5AFD09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B6C30-EEB0-4B39-8080-BB5684C1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国产模型：先验证稠密模型，再扩候选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21823-227E-4ED4-BC17-76678074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筛选顺序：许可与平台规格、引擎支持、逐卡容量、通信、质量与负载验证。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35B65-0761-43F6-B5AC-815A225E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DFF55-5645-4F71-8037-DE647642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0DA20-5633-498B-A633-7A4887B4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2028825"/>
          <a:ext xmlns:a="http://schemas.openxmlformats.org/drawingml/2006/main" cx="11049000" cy="2847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543300"/>
                <a:gridCol w="39814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候选模型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精度与起测路径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本轮判断与证据边界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 / Qwen3-8B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或 FP16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短上下文、低并发起测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建议首个文本联调候选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 A2/A3 家族支持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DeepSeek-R1-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Distill-Qwen-32B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位或适配量化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先核算权重＋KV＋工作区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进入条件性 PoC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蒸馏家族为实验性适配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zai-org / GLM-4.5-Air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位或匹配 W8A8 路径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核对 MoE 分片和通信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容量核验后再启动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家族支持不等于本台成功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833FF-A93D-48C9-90E4-675A6B34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逐卡峰值 = 本卡权重＋KV Cache＋激活/工作区＋通信缓冲＋余量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04685-54EE-4BA6-BF18-788D66EB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16 张卡是资源总量。910B 显存未知，暂不承诺完整 DeepSeek 大模型的双机容量。</a:t>
            </a:r>
          </a:p>
        </p:txBody>
      </p:sp>
    </p:spTree>
    <p:extLst>
      <p:ext uri="{BB962C8B-B14F-4D97-AF65-F5344CB8AC3E}">
        <p14:creationId xmlns:p14="http://schemas.microsoft.com/office/powerpoint/2010/main" val="3142662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F7BBF-77A2-4C6E-BC92-4BA66C9C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01E3E-F287-48D3-B52F-0DAC0072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T4 模型分工：文本、检测、视频分别验收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F2901-2E21-42B1-932B-E5EC0713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6 台八卡服务器共 48 张 GPU。单卡 16GB，多副本和多卡并行按任务选择。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6B082-C927-4A76-8F4A-BC43782F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955A2-4EB5-4955-9896-3FD03B00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348EA-C0D3-4C94-9092-7CA8F804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09775"/>
          <a:ext xmlns:a="http://schemas.openxmlformats.org/drawingml/2006/main" cx="110490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3667125"/>
                <a:gridCol w="39052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 / 首选候选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起测路径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验收指标与判断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量化文本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Qwen2.5-7B-Instruct-AWQ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+ 兼容 AWQ kernel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FP16 激活，先单卡短上下文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质量、TTFT / TPOT、Token/s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 PoC，实机待验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目标检测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YOLO26n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基线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ONNX / TensorRT 优化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mAP、召回率、端到端延迟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图片/帧吞吐，复验 T4 参考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视频生成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Wan2.1-T2V-1.3B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官方流程与必要卸载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 dtype / attention 后端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质量、分辨率/帧数/步数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生成耗时、视频/小时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条件性 PoC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806CC-7824-4146-9467-E76D191D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文本模型按总参数 &lt;20B 筛选。Wan 低显存参考不能证明 T4 的生成速度可交付。</a:t>
            </a:r>
          </a:p>
        </p:txBody>
      </p:sp>
    </p:spTree>
    <p:extLst>
      <p:ext uri="{BB962C8B-B14F-4D97-AF65-F5344CB8AC3E}">
        <p14:creationId xmlns:p14="http://schemas.microsoft.com/office/powerpoint/2010/main" val="15222685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025BC2-3E9C-41B9-9A5C-FA254ACD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A5  模型部署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7457B-4BA7-4F42-9314-ACE055FC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部署与发布：以阶段证据作为上线门槛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61DFD-017A-4361-B4E3-FC68A853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部署流程从设备验收开始，到可回退的服务版本结束。以下为待执行流程。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2E280-CA93-4EAB-826E-40C66AF1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DE24C-0338-434E-8F17-685C6E04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8F2FB-203C-4C64-948E-47CF8472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8055E-E93E-4553-B2D6-1D6F2070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设备与网络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70D46-3DB4-42D1-83E2-B1CF3400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资产与健康记录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功率 / 光链路 / HCCL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5AF66-29C0-4CA4-9F0D-355C48D1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32A1B-B62D-40F0-A149-99BC5396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环境与模型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1F1C4-FC32-4975-863A-B7CF2B85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镜像与权重校验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许可 / Tokenizer / 模板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6CDF9-5E3C-460F-93FB-7C186F69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97EC9-1791-4C55-A242-67DAA854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服务启动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C0512-46C1-41E6-9E89-E9085B0E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精度 / 上下文 / 并行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健康检查与启动日志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EC243-CE74-4305-A37D-24AF2EF3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5826E-A223-491B-A7FD-E18D83A2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正确性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95425-9AA1-41CF-BB13-33FFC091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中文 / 多轮 / 流式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质量集与异常请求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A36694-6FC0-4692-876F-A3DC8B89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9C202-1713-4C90-B8F4-93718A01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05  MASS 与平台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B024C-3FF5-4500-9449-8937E919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鉴权 / 路由 / 计量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同批请求联调记录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BB1127-16B0-4023-9934-F12CBA81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1F9A7-01D2-4D59-AD10-B0EAFBEE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06  性能与发布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B84C2-FD87-4226-9A07-71E2138D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稳定性 / 限流 / 恢复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配额、告警与回退版本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73F6C4-6CAE-420C-BAC3-BA58FB98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6B82A0-D7EB-4CC7-A963-52A54454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每阶段不通过即定位修复并回归。可发布产物是版本包、验收记录与回退配置。</a:t>
            </a:r>
          </a:p>
        </p:txBody>
      </p:sp>
    </p:spTree>
    <p:extLst>
      <p:ext uri="{BB962C8B-B14F-4D97-AF65-F5344CB8AC3E}">
        <p14:creationId xmlns:p14="http://schemas.microsoft.com/office/powerpoint/2010/main" val="495297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0A22E-813A-415A-9ACB-4023704C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94C4E-AEDE-4718-A48D-9B43B473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压测设计：分别扫描并发与请求到达率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65A3C-B28C-4FCF-B599-2308FD36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先固定模型、任务规格和服务目标，再从单实例扩到资源池和平台入口。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2B001-52CF-4FB9-9CAA-B5EE54FF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8732E-7942-4E0F-85D5-43884347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A302B-476C-4EFE-ADDA-9BBA759A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1C724-4430-402B-8C09-BF2467F3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90725"/>
            <a:ext cx="2743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并发初探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18548-C9DD-41E3-B25B-81C36E6C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1 / 2 / 4 / 8 / 16 / 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FAF7C-0421-408C-A446-E86F83B8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25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四类输入输出组合，分别测试未命中与重复前缀。边界未出现时继续加压。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2DFA0-E048-48B9-B32B-A25F8E2E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5817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vllm bench serve --backend openai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--model &lt;服务模型&gt; --base-url &lt;地址&gt;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--max-concurrency 8 --request-rate inf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--save-result --save-detailed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1F954-D3C7-41AA-B8A0-7A488DCC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2861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执行与记录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3C6EE-20BD-453A-B5C8-AA65DCE4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800475"/>
            <a:ext cx="38385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预热后至少重复 3 次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记录样本数和测试窗口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保留实际到达率与错误率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检查客户端和接入层瓶颈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69E29-E1DB-4AE2-970C-F5BE7F6A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完整可复制脚本在备注及随附文件。示例参数是初探设定，正式阈值由平台需求确定。</a:t>
            </a:r>
          </a:p>
        </p:txBody>
      </p:sp>
    </p:spTree>
    <p:extLst>
      <p:ext uri="{BB962C8B-B14F-4D97-AF65-F5344CB8AC3E}">
        <p14:creationId xmlns:p14="http://schemas.microsoft.com/office/powerpoint/2010/main" val="19441150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9D087-10B3-48E3-9B8B-C6F451BD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4E3E5-F040-4482-AACD-42CC82E7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结果判读：服务目标约束下的可售产能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5ABED-6F8E-4DF8-AB1E-633E18AC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结果判读方法：在同一请求集合、同一统计窗口内汇总，当前没有实测结果。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A77F9-1F5E-44AE-96CA-9E23D441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CB781-1379-4155-BD63-4C452736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0A497-23A2-468B-A6BD-B9649E31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85950"/>
                <a:gridCol w="4524375"/>
                <a:gridCol w="46386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计算或判读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对经营测算的影响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 / TPOT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TTFT：发出请求到首 Token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TPOT：(末到达时刻−首到达时刻)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÷ (输出 Token 数−1)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 含排队与网络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纯 Prefill 耗时需服务端 trace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并发与吞吐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报告实际并发、到达率、成功率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输入/输出 Token 数 ÷ 窗口秒数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选择满足服务目标的稳定负载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避免只取无约束峰值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计费 Token/s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同一窗口分别汇总合格输出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未命中输入、命中输入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request_goodput 单位是请求/s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缓存块数需映射为计费 Token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 / Wan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检测质量＋图片/帧吞吐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视频质量＋任务数/小时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按任务规格单独计价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不套文本 Token 指标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FFCF6-DBD5-4AC0-8246-02E176D3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产能交付表应绑定模型版本、卡数、任务规格、SLO、样本数和原始用量证据。</a:t>
            </a:r>
          </a:p>
        </p:txBody>
      </p:sp>
    </p:spTree>
    <p:extLst>
      <p:ext uri="{BB962C8B-B14F-4D97-AF65-F5344CB8AC3E}">
        <p14:creationId xmlns:p14="http://schemas.microsoft.com/office/powerpoint/2010/main" val="6097670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BF566-3C80-492B-9CC2-97C3D959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39214-36A8-4C3C-815E-6812BE05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产能估值：三类 Token 分别计算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CDD48-48B0-41A6-AA6C-9C42C223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以下为产能计算口径。S = 30×24×3600 = 2,592,000 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24BF4-982A-418A-8589-343BA97D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37205-30D6-4F5A-BE5C-82BC23D4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B4783-A463-4AB8-860A-19DA4ADA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C5D02-177B-4F5B-B201-80E6D58F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71675"/>
            <a:ext cx="110013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Decode 月价值 = TGSout × S × Nout × Pout ÷ 10⁶ × ηout</a:t>
            </a:r>
          </a:p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未命中 Prefill 月价值 = TGSunc × S × Nunc × Punc ÷ 10⁶ × ηunc</a:t>
            </a:r>
          </a:p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命中 Prefill 月价值 = TGScache × S × Ncache × Pcache ÷ 10⁶ × ηcache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3724275"/>
          <a:ext xmlns:a="http://schemas.openxmlformats.org/drawingml/2006/main" cx="110490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76900"/>
                <a:gridCol w="1638300"/>
                <a:gridCol w="2047875"/>
                <a:gridCol w="1685925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公开市场参照（USD / 百万 Token）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输入未命中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输入命中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  高峰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1.20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0.30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0.006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  非高峰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0.60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0.15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0.003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A8B72-81E8-48D5-AA9B-81FB1C3C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价格查询：2026-09-16，仅作市场参照。该 API 与本台候选并非同一模型，不能代入报价。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586FA-C992-4866-B42A-1A699824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TGS 按单卡才乘卡数；混合部署三类速率共用同一负载，已含损耗时不再乘同一 η。</a:t>
            </a:r>
          </a:p>
        </p:txBody>
      </p:sp>
    </p:spTree>
    <p:extLst>
      <p:ext uri="{BB962C8B-B14F-4D97-AF65-F5344CB8AC3E}">
        <p14:creationId xmlns:p14="http://schemas.microsoft.com/office/powerpoint/2010/main" val="16534616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2ACEC-D358-47C2-AF81-B04D2C9F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051CE-24A6-4637-9C56-D28E2A32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经济性判断：增量收支、全成本与盈亏边界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AE058-7BE3-4389-B1F4-81676576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缺少实测产能、采购价与成本，当前能够给出盈亏条件，不能给出确定利润。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53A56-246C-4E97-982C-5130B7C4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F7505-BE96-4388-A618-3B1B19E4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D0924-BC78-4373-BE77-4B3ECEEC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DE8B4-7D39-4BEE-8DA0-F57771FF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月经营结果 = 文本收入＋检测收入＋视频收入−项目成本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2876550"/>
          <a:ext xmlns:a="http://schemas.openxmlformats.org/drawingml/2006/main" cx="11049000" cy="1895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324475"/>
                <a:gridCol w="35814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决策视角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纳入成本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能回答的问题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增量运营收支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新增电费、网络、机房与运维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按实际承担范围计入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已有设备试供给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能否覆盖新增现金支出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全成本经营结果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增量成本＋折旧/租赁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既有通算和机柜的约定分摊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持续经营与后续扩容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是否具备经济性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37D82-3CBB-4572-BEF2-6DEE523C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盈亏边界：固定业务组合时，采购价系数 k* = 月成本 ÷ 基准月收入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E73E8-5541-445C-B877-31DCA21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采购价、需求利用、缓存比例和卡时分配分别做敏感性分析，资源重分配后需重测产能。</a:t>
            </a:r>
          </a:p>
        </p:txBody>
      </p:sp>
    </p:spTree>
    <p:extLst>
      <p:ext uri="{BB962C8B-B14F-4D97-AF65-F5344CB8AC3E}">
        <p14:creationId xmlns:p14="http://schemas.microsoft.com/office/powerpoint/2010/main" val="9217586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8E8B0-367B-40C3-A295-8BFCF917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2783C-E57E-4044-AA1C-26D6BCF5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计量与结算：请求如何形成双方认可的账单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D41F5-8666-418B-8BB8-203585DA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拟议条款从平台接受的服务目录开始，连接双方认可的用量证据。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906E0-B07B-4DF6-B6B3-B727B821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18606-8B4A-4048-B857-4CC9DF61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31EFB-4BFE-41C2-B464-A2796C05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899E9-64C5-4429-8B83-42F975A4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服务目录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 / 任务规格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41A87-6F55-4455-8553-42AFD22D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请求或任务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统一关联 ID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0032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19188-FC93-4FEB-A0FD-935DCBC6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用量明细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计数与状态</a:t>
            </a:r>
          </a:p>
        </p:txBody>
      </p: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5775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3DC65-932F-45FD-84DC-B2135A0A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对账确认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差异与冲正</a:t>
            </a:r>
          </a:p>
        </p:txBody>
      </p:sp>
      <p:cxnSp>
        <p:nvCxnSpPr>
          <p:cNvPr id="3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11517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3E721-DDBE-476B-97B1-8A8BB7B0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结算条目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单价与周期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7260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graphicFrame>
        <p:nvGraphicFramePr>
          <p:cNvPr id="33" name=""/>
          <p:cNvGraphicFramePr/>
          <p:nvPr/>
        </p:nvGraphicFramePr>
        <p:xfrm>
          <a:off xmlns:a="http://schemas.openxmlformats.org/drawingml/2006/main" x="571500" y="3219450"/>
          <a:ext xmlns:a="http://schemas.openxmlformats.org/drawingml/2006/main" cx="110490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50292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必须约定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拟议处理方式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留存证据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输入、输出与缓存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 Tokenizer 和缓存定义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三类单价、币种税费分别写明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规则版本、原始计数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平台与供应方明细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超时、重试、部分输出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逐类约定是否计费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重复事件去重，重试保留关联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attempt ID、状态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实际交付量与异常记录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对账差异与结算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确定权威依据、核验时限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冲正、补结算和账期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差异单、确认单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结算单与调整记录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A86E0-06EC-49DC-8461-323BFD9F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技术可运行仍需平台认可模型、区域、容量与质量规格，才具备采购前提。</a:t>
            </a:r>
          </a:p>
        </p:txBody>
      </p:sp>
    </p:spTree>
    <p:extLst>
      <p:ext uri="{BB962C8B-B14F-4D97-AF65-F5344CB8AC3E}">
        <p14:creationId xmlns:p14="http://schemas.microsoft.com/office/powerpoint/2010/main" val="4754607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101CB-0863-4A57-8531-747ED18B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E9FEA-2816-462B-97E7-F5374F95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服务与责任：承诺范围匹配架构和实测能力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DD6ED-8EA3-400E-BEDB-732B706C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拟议协议在可验收范围内确定服务窗口、维护、故障处理与责任。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40C51-1091-4C81-9124-F084DB33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08304-E27A-4FA4-B392-707368ED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FF534-E786-452A-9DD0-331F9693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4800600"/>
                <a:gridCol w="38862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当前约束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需要约定的边界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验收与责任证据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一台 RoCE 交换机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无交换机级冗余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维护窗口、故障响应与赔付边界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故障演练与恢复记录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运维联系人和升级路径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性能尚未实测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绑定模型、精度、上下文与配额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以验收负载确定服务目标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双方验收报告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监控口径与限流记录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模型与版本会变化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变更审批、回归测试和回退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禁用不满足许可的供给方式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模型权利依据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版本清单与发布记录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数据、暂停与退出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用途、留存、权限和责任分工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余额清算、数据处理与开票回款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访问与删除记录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最终对账单及回款凭证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0FC43-21DE-449A-BED7-20407A3A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SLA 数值和赔付条款留待验收及双方协商，现阶段不承诺未经验证的可用性。</a:t>
            </a:r>
          </a:p>
        </p:txBody>
      </p:sp>
    </p:spTree>
    <p:extLst>
      <p:ext uri="{BB962C8B-B14F-4D97-AF65-F5344CB8AC3E}">
        <p14:creationId xmlns:p14="http://schemas.microsoft.com/office/powerpoint/2010/main" val="1866966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3F7AD-06A9-4424-BDC5-B06D2AC4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200A8-E341-4B73-90FB-68BB7DBD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协作与回款：各角色按凭证完成交接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093F4-4548-458B-97A5-6DA08F93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建议流程：技术、商务和财务在每个阶段明确接收什么产物。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D34BA-767B-44BB-9C8F-3A05DC1A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BE0C1-8809-49B9-A79C-A23005EF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DD8DE-7182-4937-BABB-BC821C30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533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71675"/>
                <a:gridCol w="2943225"/>
                <a:gridCol w="2943225"/>
                <a:gridCol w="31908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责任角色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立项与准备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验收与试供给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月度经营与回款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资源与预算确认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首轮范围批准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试供给决策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经营复盘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后续资源决策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技术 / 运维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设备、网络和模型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版本与部署记录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质量/压测验收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接入、发布与回退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用量明细与告警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差异核验与复测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 / 法务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平台采购规格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模型与服务权利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报价和合同评审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双方验收确认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对账确认与争议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逾期跟进与变更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财务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成本边界与预算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价格口径核对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报价及结算条款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账期和开票要求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结算、开票与收款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凭证归档和分摊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29756-DCA0-4C87-853A-C320A9D0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同批请求贯通用量、对账确认、结算、发票与回款，才能宣称完成商业闭环。</a:t>
            </a:r>
          </a:p>
        </p:txBody>
      </p:sp>
    </p:spTree>
    <p:extLst>
      <p:ext uri="{BB962C8B-B14F-4D97-AF65-F5344CB8AC3E}">
        <p14:creationId xmlns:p14="http://schemas.microsoft.com/office/powerpoint/2010/main" val="15979724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748CA-2770-4F20-8DD7-2DE2AD81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FDE56-1B25-4F29-898F-0C545687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闭环验收：下一阶段通过条件与责任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303EB-59F9-4DAB-9CFD-8EB7DDDE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当前已确认资源基线与分柜原则，模型、平台采购和实测证据仍需逐步补齐。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E010D-B1DB-47BB-A423-B3E25E26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721AA-25B5-4647-9D87-EDD7AC1C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0B3C6-0002-48B8-8203-AD383996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533900"/>
                <a:gridCol w="4133850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评审事项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进入下一阶段的通过条件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下一项证据 / 责任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首轮服务范围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Qwen3-8B 等具体版本完成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质量、负载与计量联调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显存/功率清单、版本包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设备运维与模型负责人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平台试供给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平台接受服务规格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性能目标、采购价和规则明确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接入验收、报价与协议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平台技术、商务、财务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商业闭环与扩容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同批真实用量完成结算回款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订单需求和经济性支持扩容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对账单、回款、经营复盘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商务、财务、项目负责人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84959-68E7-4797-87BB-FA17A316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48275"/>
            <a:ext cx="10991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当前决策建议：继续最小文本闭环验证。YOLO 与 Wan 保持独立 PoC。</a:t>
            </a:r>
          </a:p>
        </p:txBody>
      </p:sp>
    </p:spTree>
    <p:extLst>
      <p:ext uri="{BB962C8B-B14F-4D97-AF65-F5344CB8AC3E}">
        <p14:creationId xmlns:p14="http://schemas.microsoft.com/office/powerpoint/2010/main" val="1776841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2026-09-16T05:18:33.5640000Z</dcterms:created>
  <dcterms:modified xsi:type="dcterms:W3CDTF">2026-09-16T05:18:33.5640000Z</dcterms:modified>
</coreProperties>
</file>