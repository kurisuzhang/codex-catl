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bd4d345d224310" /><Relationship Type="http://schemas.openxmlformats.org/officeDocument/2006/relationships/extended-properties" Target="/docProps/app.xml" Id="R3ab34907e80f4d71" /><Relationship Type="http://schemas.openxmlformats.org/officeDocument/2006/relationships/officeDocument" Target="/ppt/presentation.xml" Id="Rfc938998e7774c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633839a2d640bd"/>
  </p:sldMasterIdLst>
  <p:notesMasterIdLst>
    <p:notesMasterId xmlns:r="http://schemas.openxmlformats.org/officeDocument/2006/relationships" r:id="R61480821d12a4e99"/>
  </p:notesMasterIdLst>
  <p:sldIdLst>
    <p:sldId xmlns:r="http://schemas.openxmlformats.org/officeDocument/2006/relationships" id="256" r:id="Rb88a493c29dd4684"/>
    <p:sldId xmlns:r="http://schemas.openxmlformats.org/officeDocument/2006/relationships" id="257" r:id="R8c3a1f998b5e4e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f5e1f07ffa4f63" /><Relationship Type="http://schemas.openxmlformats.org/officeDocument/2006/relationships/slideMaster" Target="/ppt/slideMasters/slideMaster1.xml" Id="Rd2633839a2d640bd" /><Relationship Type="http://schemas.openxmlformats.org/officeDocument/2006/relationships/notesMaster" Target="/ppt/notesMasters/notesMaster1.xml" Id="R61480821d12a4e99" /><Relationship Type="http://schemas.openxmlformats.org/officeDocument/2006/relationships/presProps" Target="/ppt/presProps.xml" Id="R5bced7d40bb541cf" /><Relationship Type="http://schemas.openxmlformats.org/officeDocument/2006/relationships/tableStyles" Target="/ppt/tableStyles.xml" Id="Rfb3f6484206644c0" /><Relationship Type="http://schemas.openxmlformats.org/officeDocument/2006/relationships/slide" Target="/ppt/slides/slide1.xml" Id="Rb88a493c29dd4684" /><Relationship Type="http://schemas.openxmlformats.org/officeDocument/2006/relationships/slide" Target="/ppt/slides/slide2.xml" Id="R8c3a1f998b5e4e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1b13ca43ea47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05df7372dc4e63" /><Relationship Type="http://schemas.openxmlformats.org/officeDocument/2006/relationships/notesMaster" Target="/ppt/notesMasters/notesMaster1.xml" Id="R044188ba44e044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f6fb430f494e0f" /><Relationship Type="http://schemas.openxmlformats.org/officeDocument/2006/relationships/notesMaster" Target="/ppt/notesMasters/notesMaster1.xml" Id="Re19cffc18dc247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本页按职责从底层到服务层盘点，不表示全部软件都在同一串行调用链上。容器、K8s和监控是部署管理面，框架、算子、运行库是模型执行面。各列列出组件范围及替代路径，不要求全部安装。GPU Operator可管理驱动、Container Toolkit、Device Plugin、GFD、DCGM等，不应与另一个驱动生命周期管理方式重复管理。K8s提供调度，不是推理必须条件，首轮可先单容器验通再纳管。NVIDIA宿主机需可用驱动，CUDA用户态库可位于镜像，运行预编译镜像不必把完整CUDA Toolkit一概装在宿主机。Toolkit用于开发编译，不能与Container Toolkit混淆。Ascend容器接入需按运行时、MindCluster和驱动版本选择部署方式，安装工具名称不能证明任意containerd版本兼容。MindCluster中的NodeD、ClusterD、Volcano与Operator按需要配置，非本项目全部必装。NVIDIA T4不假定具备新GPU的所有精度与kernel能力，不照抄MIG方案。跨机NCCL/HCCL还受网卡、RDMA驱动及网络配置影响，双910B沿已定RoCE方案单独验通信。CANN包含运行和开发能力，ATB按引擎需求装。SGLang Ascend依赖包括匹配的Triton-Ascend及SGL Kernel NPU。PD分离还需核验MemFabric等KV传输组件，MoE场景按版本考虑DeepEP兼容实现，这些属于特性依赖，不是所有模型的必装项。MindIE为另一推理路径，不是vLLM的必装前置。SGLang列为候选生态，并未宣称当前默认镜像支持本台T4。YOLO和Wan保持任务专用推理路径，不能因vLLM支持文本就认为其支持任意视觉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官方参考文档（查询2026-09-16，动态页面不是本项目冻结版本）：</a:t>
            </a:r>
          </a:p>
          <a:p xmlns:a="http://schemas.openxmlformats.org/drawingml/2006/main">
            <a:r>
              <a:t>[1] NVIDIA GPU Operator</a:t>
            </a:r>
          </a:p>
          <a:p xmlns:a="http://schemas.openxmlformats.org/drawingml/2006/main">
            <a:r>
              <a:t>https://docs.nvidia.com/datacenter/cloud-native/gpu-operator/latest/</a:t>
            </a:r>
          </a:p>
          <a:p xmlns:a="http://schemas.openxmlformats.org/drawingml/2006/main">
            <a:r>
              <a:t>[2] NVIDIA Container Toolkit</a:t>
            </a:r>
          </a:p>
          <a:p xmlns:a="http://schemas.openxmlformats.org/drawingml/2006/main">
            <a:r>
              <a:t>https://docs.nvidia.com/datacenter/cloud-native/container-toolkit/latest/arch-overview.html</a:t>
            </a:r>
          </a:p>
          <a:p xmlns:a="http://schemas.openxmlformats.org/drawingml/2006/main">
            <a:r>
              <a:t>[3] MindCluster 组件</a:t>
            </a:r>
          </a:p>
          <a:p xmlns:a="http://schemas.openxmlformats.org/drawingml/2006/main">
            <a:r>
              <a:t>https://www.hiascend.com/document/detail/en/mindcluster/2600/clustersched/schedulingug/docs/en/scheduling/introduction/01_component_description.md</a:t>
            </a:r>
          </a:p>
          <a:p xmlns:a="http://schemas.openxmlformats.org/drawingml/2006/main">
            <a:r>
              <a:t>[4] torch_npu 版本配套</a:t>
            </a:r>
          </a:p>
          <a:p xmlns:a="http://schemas.openxmlformats.org/drawingml/2006/main">
            <a:r>
              <a:t>https://github.com/Ascend/pytorch/blob/master/COMPATIBILITY.en.md</a:t>
            </a:r>
          </a:p>
          <a:p xmlns:a="http://schemas.openxmlformats.org/drawingml/2006/main">
            <a:r>
              <a:t>[5] vLLM GPU 安装</a:t>
            </a:r>
          </a:p>
          <a:p xmlns:a="http://schemas.openxmlformats.org/drawingml/2006/main">
            <a:r>
              <a:t>https://docs.vllm.ai/en/latest/getting_started/installation/gpu/</a:t>
            </a:r>
          </a:p>
          <a:p xmlns:a="http://schemas.openxmlformats.org/drawingml/2006/main">
            <a:r>
              <a:t>[7] vLLM Ascend 安装</a:t>
            </a:r>
          </a:p>
          <a:p xmlns:a="http://schemas.openxmlformats.org/drawingml/2006/main">
            <a:r>
              <a:t>https://docs.vllm.ai/projects/ascend/en/latest/getting_started/installation.html</a:t>
            </a:r>
          </a:p>
          <a:p xmlns:a="http://schemas.openxmlformats.org/drawingml/2006/main">
            <a:r>
              <a:t>[9] SGLang 安装与硬件入口</a:t>
            </a:r>
          </a:p>
          <a:p xmlns:a="http://schemas.openxmlformats.org/drawingml/2006/main">
            <a:r>
              <a:t>https://docs.sglang.io/docs/get-started/install</a:t>
            </a:r>
          </a:p>
          <a:p xmlns:a="http://schemas.openxmlformats.org/drawingml/2006/main">
            <a:r>
              <a:t>[11] SGLang Ascend 安装与依赖</a:t>
            </a:r>
          </a:p>
          <a:p xmlns:a="http://schemas.openxmlformats.org/drawingml/2006/main">
            <a:r>
              <a:t>https://docs.sglang.io/docs/hardware-platforms/ascend-npus/getting-started/installation</a:t>
            </a:r>
          </a:p>
          <a:p xmlns:a="http://schemas.openxmlformats.org/drawingml/2006/main">
            <a:r>
              <a:t>[12] MindIE 配套要求</a:t>
            </a:r>
          </a:p>
          <a:p xmlns:a="http://schemas.openxmlformats.org/drawingml/2006/main">
            <a:r>
              <a:t>https://www.hiascend.com/document/detail/zh/mindie/1.0.RC1/envdeployment/instg/mindie_instg_0015.html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论是本项目的归纳：可部署集合为模型结构、硬件、精度/量化实现、推理特性和依赖版本的交集，还要满足容量和服务目标。先固定模型revision与权重格式，再选择候选引擎release并反查其依赖，避免把每层latest任意拼接。启动后先测确定性小样本与质量，再观察逐卡权重、KV Cache和工作区峰值；多卡验证并行与通信；最后纳入K8s后复验资源分配、健康检查、失败恢复与同规格性能。T4的SM75满足vLLM基础门槛，不代表任何attention后端、量化或模型特性均可用。当前量化矩阵对Turing的支持随版本变化，不能长期沿用旧版Marlin结论。SGLang有NVIDIA和Ascend入口，但本次资料不能建立当前SGLang/T4完整可运行组合，故保留核验，不标成已支持或绝对不支持。910B按A2路径选择匹配算子和镜像；vLLM Ascend矩阵有Qwen、DeepSeek、GLM家族条目，必须核验具体结构、精度、TP/PP、PD、缓存等特性。SGLang Ascend与MindIE各有自己的版本和模型矩阵，不能相互外推。示例均为筛选判断，未做实机部署或基准测试。YOLO/Wan需以任务仓库、许可和所选后端验收；不新增对具体版本的兼容承诺。最终产物为按设备族和任务区分的镜像清单、模型支持表、测试记录及回退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官方参考文档（查询2026-09-16，动态页面不是本项目冻结版本）：</a:t>
            </a:r>
          </a:p>
          <a:p xmlns:a="http://schemas.openxmlformats.org/drawingml/2006/main">
            <a:r>
              <a:t>[4] torch_npu 版本配套</a:t>
            </a:r>
          </a:p>
          <a:p xmlns:a="http://schemas.openxmlformats.org/drawingml/2006/main">
            <a:r>
              <a:t>https://github.com/Ascend/pytorch/blob/master/COMPATIBILITY.en.md</a:t>
            </a:r>
          </a:p>
          <a:p xmlns:a="http://schemas.openxmlformats.org/drawingml/2006/main">
            <a:r>
              <a:t>[5] vLLM GPU 安装</a:t>
            </a:r>
          </a:p>
          <a:p xmlns:a="http://schemas.openxmlformats.org/drawingml/2006/main">
            <a:r>
              <a:t>https://docs.vllm.ai/en/latest/getting_started/installation/gpu/</a:t>
            </a:r>
          </a:p>
          <a:p xmlns:a="http://schemas.openxmlformats.org/drawingml/2006/main">
            <a:r>
              <a:t>[6] vLLM 量化矩阵</a:t>
            </a:r>
          </a:p>
          <a:p xmlns:a="http://schemas.openxmlformats.org/drawingml/2006/main">
            <a:r>
              <a:t>https://docs.vllm.ai/en/latest/features/quantization/</a:t>
            </a:r>
          </a:p>
          <a:p xmlns:a="http://schemas.openxmlformats.org/drawingml/2006/main">
            <a:r>
              <a:t>[7] vLLM Ascend 安装</a:t>
            </a:r>
          </a:p>
          <a:p xmlns:a="http://schemas.openxmlformats.org/drawingml/2006/main">
            <a:r>
              <a:t>https://docs.vllm.ai/projects/ascend/en/latest/getting_started/installation.html</a:t>
            </a:r>
          </a:p>
          <a:p xmlns:a="http://schemas.openxmlformats.org/drawingml/2006/main">
            <a:r>
              <a:t>[8] vLLM Ascend 模型矩阵</a:t>
            </a:r>
          </a:p>
          <a:p xmlns:a="http://schemas.openxmlformats.org/drawingml/2006/main">
            <a:r>
              <a:t>https://docs.vllm.ai/projects/ascend/en/latest/user_guide/support_matrix/supported_models.html</a:t>
            </a:r>
          </a:p>
          <a:p xmlns:a="http://schemas.openxmlformats.org/drawingml/2006/main">
            <a:r>
              <a:t>[9] SGLang 安装与硬件入口</a:t>
            </a:r>
          </a:p>
          <a:p xmlns:a="http://schemas.openxmlformats.org/drawingml/2006/main">
            <a:r>
              <a:t>https://docs.sglang.io/docs/get-started/install</a:t>
            </a:r>
          </a:p>
          <a:p xmlns:a="http://schemas.openxmlformats.org/drawingml/2006/main">
            <a:r>
              <a:t>[10] SGLang Ascend 模型表</a:t>
            </a:r>
          </a:p>
          <a:p xmlns:a="http://schemas.openxmlformats.org/drawingml/2006/main">
            <a:r>
              <a:t>https://github.com/sgl-project/sglang/blob/main/docs_new/docs/hardware-platforms/ascend-npus/reference/support_models.mdx</a:t>
            </a:r>
          </a:p>
          <a:p xmlns:a="http://schemas.openxmlformats.org/drawingml/2006/main">
            <a:r>
              <a:t>[11] SGLang Ascend 安装与依赖</a:t>
            </a:r>
          </a:p>
          <a:p xmlns:a="http://schemas.openxmlformats.org/drawingml/2006/main">
            <a:r>
              <a:t>https://docs.sglang.io/docs/hardware-platforms/ascend-npus/getting-started/installation</a:t>
            </a:r>
          </a:p>
          <a:p xmlns:a="http://schemas.openxmlformats.org/drawingml/2006/main">
            <a:r>
              <a:t>[12] MindIE 配套要求</a:t>
            </a:r>
          </a:p>
          <a:p xmlns:a="http://schemas.openxmlformats.org/drawingml/2006/main">
            <a:r>
              <a:t>https://www.hiascend.com/document/detail/zh/mindie/1.0.RC1/envdeployment/instg/mindie_instg_0015.html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68473b2914a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7e1e07cd3945b8" /><Relationship Type="http://schemas.openxmlformats.org/officeDocument/2006/relationships/slideLayout" Target="/ppt/slideLayouts/slideLayout1.xml" Id="Rcfb84a327d8143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b84a327d8143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ede6bbb0248ac" /><Relationship Type="http://schemas.openxmlformats.org/officeDocument/2006/relationships/notesSlide" Target="/ppt/notesSlides/notesSlide1.xml" Id="R9052f9ec880244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33b2b33564832" /><Relationship Type="http://schemas.openxmlformats.org/officeDocument/2006/relationships/notesSlide" Target="/ppt/notesSlides/notesSlide2.xml" Id="R16d366e4417e41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80DEB-B9CB-4F6E-A42A-7A6F167C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5C907-3373-4E2C-8A76-4F3DDBED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T4 与 910B 的完整软件生态对照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44216-8C05-4B28-AAA7-832722F1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分析：同一模型名称背后，是两套驱动、运行库、设备管理和算子实现。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D331B-1BB9-437C-8F96-C5BCA26C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1DBBF-ED78-48D8-B58B-68AAF245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5AEFE-3E7E-4797-AAAE-58E30C54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06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885950"/>
          <a:ext xmlns:a="http://schemas.openxmlformats.org/drawingml/2006/main" cx="11049000" cy="3819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3286125"/>
                <a:gridCol w="3381375"/>
                <a:gridCol w="2905125"/>
              </a:tblGrid>
              <a:tr h="352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层次 / 职责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 T4</a:t>
                      </a:r>
                    </a:p>
                  </a:txBody>
                  <a:tcPr marL="95250" marR="76200" marT="0" marB="0" anchor="ctr">
                    <a:solidFill>
                      <a:srgbClr val="4468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昇腾 910B</a:t>
                      </a:r>
                    </a:p>
                  </a:txBody>
                  <a:tcPr marL="95250" marR="76200" marT="0" marB="0" anchor="ctr">
                    <a:solidFill>
                      <a:srgbClr val="1763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对模型部署的影响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01  宿主机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Linux / 内核、NVIDIA Driver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nvidia-smi / NVML</a:t>
                      </a:r>
                    </a:p>
                  </a:txBody>
                  <a:tcPr marL="95250" marR="76200" marT="0" marB="0" anchor="ctr">
                    <a:solidFill>
                      <a:srgbClr val="F1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Linux / 内核、NPU Driver＋固件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npu-smi / DCMI</a:t>
                      </a:r>
                    </a:p>
                  </a:txBody>
                  <a:tcPr marL="95250" marR="76200" marT="0" marB="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OS、CPU 架构、驱动与镜像匹配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02  计算与通信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CUDA Runtime / Toolkit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cuBLAS、cuDNN、NCCL</a:t>
                      </a:r>
                    </a:p>
                  </a:txBody>
                  <a:tcPr marL="95250" marR="76200" marT="0" marB="0" anchor="ctr">
                    <a:solidFill>
                      <a:srgbClr val="EA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CANN / AscendCL、算子包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HCCL、ATB（按引擎）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运行库 ABI、算子执行</a:t>
                      </a:r>
                    </a:p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及多卡 / 跨机通信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03  容器接入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containerd / Docker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 Container Toolkit</a:t>
                      </a:r>
                    </a:p>
                  </a:txBody>
                  <a:tcPr marL="95250" marR="76200" marT="0" marB="0" anchor="ctr">
                    <a:solidFill>
                      <a:srgbClr val="F1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containerd / Docker（核验版本）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Ascend Docker Runtime / 设备挂载</a:t>
                      </a:r>
                    </a:p>
                  </a:txBody>
                  <a:tcPr marL="95250" marR="76200" marT="0" marB="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使容器访问设备和驱动</a:t>
                      </a:r>
                    </a:p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不自动转换 CUDA 代码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04  K8s 资源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 Device Plugin、GFD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GPU Operator（统一管理）</a:t>
                      </a:r>
                    </a:p>
                  </a:txBody>
                  <a:tcPr marL="95250" marR="76200" marT="0" marB="0" anchor="ctr">
                    <a:solidFill>
                      <a:srgbClr val="EA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Ascend Device Plugin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Volcano / Ascend Operator（按需）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资源发现、分配、调度</a:t>
                      </a:r>
                    </a:p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不补齐模型算子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05  监控与运维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DCGM Exporter / Prometheus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Nsight（性能定位）</a:t>
                      </a:r>
                    </a:p>
                  </a:txBody>
                  <a:tcPr marL="95250" marR="76200" marT="0" marB="0" anchor="ctr">
                    <a:solidFill>
                      <a:srgbClr val="F1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NPU Exporter / Prometheus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NodeD / ClusterD、msprof（按需）</a:t>
                      </a:r>
                    </a:p>
                  </a:txBody>
                  <a:tcPr marL="95250" marR="76200" marT="0" marB="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设备健康、资源利用率</a:t>
                      </a:r>
                    </a:p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及故障 / 性能定位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06  框架适配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 CUDA 构建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Transformers / ONNX（按任务）</a:t>
                      </a:r>
                    </a:p>
                  </a:txBody>
                  <a:tcPr marL="95250" marR="76200" marT="0" marB="0" anchor="ctr">
                    <a:solidFill>
                      <a:srgbClr val="EA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PyTorch＋torch_npu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MindSpore（另一条框架路径）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模型结构与算子映射</a:t>
                      </a:r>
                    </a:p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扩展包必须匹配框架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07  算子与量化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CUDA / Triton kernel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AWQ、GPTQ 等按 SM75 核验</a:t>
                      </a:r>
                    </a:p>
                  </a:txBody>
                  <a:tcPr marL="95250" marR="76200" marT="0" marB="0" anchor="ctr">
                    <a:solidFill>
                      <a:srgbClr val="F1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Ascend C / Triton-Ascend / ATB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SGL Kernel NPU；量化按引擎核验</a:t>
                      </a:r>
                    </a:p>
                  </a:txBody>
                  <a:tcPr marL="95250" marR="76200" marT="0" marB="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Attention / MoE / 量化 kernel</a:t>
                      </a:r>
                    </a:p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须支持硬件、精度与形状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08  推理与服务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文本：vLLM；SGLang 需核验 T4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YOLO：TensorRT；Wan：独立管线</a:t>
                      </a:r>
                    </a:p>
                  </a:txBody>
                  <a:tcPr marL="95250" marR="76200" marT="0" marB="0" anchor="ctr">
                    <a:solidFill>
                      <a:srgbClr val="EA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vLLM＋vLLM Ascend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SGLang Ascend 后端 / MindIE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引擎、模型、特性支持取交集</a:t>
                      </a:r>
                    </a:p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分别提供业务服务接口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F0B04-2C32-4EB1-9585-8766C4FE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101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结论：基础设施决定“设备能否使用”，模型适配与算子、引擎决定“服务能否交付”。</a:t>
            </a:r>
          </a:p>
        </p:txBody>
      </p:sp>
    </p:spTree>
    <p:extLst>
      <p:ext uri="{BB962C8B-B14F-4D97-AF65-F5344CB8AC3E}">
        <p14:creationId xmlns:p14="http://schemas.microsoft.com/office/powerpoint/2010/main" val="1314898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889226-680E-4D16-B412-C3573472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4B7B8-44C3-4B69-A739-096739CC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软件支持如何转化为模型可部署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F2B9A-9796-4C86-AEDC-FEF2BE20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方法论：对“模型＋权重格式＋硬件＋引擎版本＋服务规格”验证，而非只查模型名称。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364DC-0FE9-4432-BBD3-9F3425B3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9585D-EF4A-4CF7-B326-F6288147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C50FB-B29D-4547-BE9F-FCC89C9D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07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2D78D-B9CE-48DD-B2FE-83FCBC5D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  定义任务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87C10-3B32-4FE5-B091-F5DDE033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CAB76-97C8-4EAB-865F-EB31BF03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固定模型 revision、精度 / 量化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上下文、并发、TP / PP、接口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8B122-1DFB-4BDF-BA68-BD1227B9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240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  查支持交集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F58CE-83A7-4321-B308-26A5B7E5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050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218A2-46FE-449E-BDB6-866358F2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9825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核对硬件、模型与特性矩阵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反查算子、框架及运行库版本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98205-5A69-456A-A00A-70D925BD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  冻结软件组合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9AAA8-C7D9-44B7-9543-6955141F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21FC9-80FF-4E05-B355-D574DF41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9825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驱动 / 固件、镜像 digest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框架、引擎 / 插件、权重 hash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36B280-65E9-4EB9-B350-354D7452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240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  实机验收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B8249-7E46-46D9-9B89-688A7919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050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981AA-63C4-4CA2-89C2-89177093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09825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单卡 / 单容器起测，再多卡 / K8s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质量、显存、TTFT / TPOT、稳定性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3209925"/>
          <a:ext xmlns:a="http://schemas.openxmlformats.org/drawingml/2006/main" cx="1104900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47850"/>
                <a:gridCol w="5267325"/>
                <a:gridCol w="3933825"/>
              </a:tblGrid>
              <a:tr h="3333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分析案例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支持关系与限制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本项目判断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· 量化文本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vLLM 安装门槛包含 SM75 / T4 [5]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仍须同时核验量化 kernel、注意力后端与显存 [6]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&lt;20B 量化模型进入 PoC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SGLang 的 T4 组合单独验证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· 国产模型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vLLM Ascend 按 A2、模型、精度及特性列支持 [8]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 / torch_npu / CANN 需保持版本配套 [4]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 / DeepSeek / GLM 逐项筛选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不把系列支持当成任意规格可部署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· YOLO / Wan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检测、视频生成走各自框架与推理管线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文本引擎支持表不能代替视觉任务兼容验证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分别建镜像与质量 / 性能用例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Wan 另核验显存、卸载和耗时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84031-79C4-4536-813E-62664CB6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625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结论：两套可复现镜像基线，逐模型验收；容器启动成功与模型可售之间还有质量和性能门槛。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9499A-E5E4-468C-90CE-9E5AFAE9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11010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官方依据：[1] GPU Operator  [3] MindCluster  [4] torch_npu 配套  [5–6] vLLM 硬件 / 量化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D67BE4-4633-4A85-8026-A607A4D6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[7–8] vLLM Ascend 安装 / 模型矩阵  [9–10] SGLang 安装 / Ascend 模型表   完整链接见备注与参考文档</a:t>
            </a:r>
          </a:p>
        </p:txBody>
      </p:sp>
    </p:spTree>
    <p:extLst>
      <p:ext uri="{BB962C8B-B14F-4D97-AF65-F5344CB8AC3E}">
        <p14:creationId xmlns:p14="http://schemas.microsoft.com/office/powerpoint/2010/main" val="1537590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2026-09-16T06:54:42.9560000Z</dcterms:created>
  <dcterms:modified xsi:type="dcterms:W3CDTF">2026-09-16T06:54:42.9560000Z</dcterms:modified>
</coreProperties>
</file>