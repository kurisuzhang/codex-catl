
<file path=[Content_Types].xml><?xml version="1.0" encoding="utf-8"?>
<Types xmlns="http://schemas.openxmlformats.org/package/2006/content-types">
  <Default Extension="xml" ContentType="application/vnd.openxmlformats-package.core-properties+xml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74f6974f7e0b48a4" /><Relationship Type="http://schemas.openxmlformats.org/officeDocument/2006/relationships/extended-properties" Target="/docProps/app.xml" Id="R05dfa4338cdb445d" /><Relationship Type="http://schemas.openxmlformats.org/officeDocument/2006/relationships/officeDocument" Target="/ppt/presentation.xml" Id="Rffffc7bf86814503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da65dcf537e340d7"/>
  </p:sldMasterIdLst>
  <p:notesMasterIdLst>
    <p:notesMasterId xmlns:r="http://schemas.openxmlformats.org/officeDocument/2006/relationships" r:id="R83a1afb35ed44c6e"/>
  </p:notesMasterIdLst>
  <p:sldIdLst>
    <p:sldId xmlns:r="http://schemas.openxmlformats.org/officeDocument/2006/relationships" id="256" r:id="R5742557fca854582"/>
  </p:sldIdLst>
  <p:sldSz cx="15240000" cy="85725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0f832d41f33f49ec" /><Relationship Type="http://schemas.openxmlformats.org/officeDocument/2006/relationships/slideMaster" Target="/ppt/slideMasters/slideMaster1.xml" Id="Rda65dcf537e340d7" /><Relationship Type="http://schemas.openxmlformats.org/officeDocument/2006/relationships/notesMaster" Target="/ppt/notesMasters/notesMaster1.xml" Id="R83a1afb35ed44c6e" /><Relationship Type="http://schemas.openxmlformats.org/officeDocument/2006/relationships/presProps" Target="/ppt/presProps.xml" Id="R325b03dcf6c94ec7" /><Relationship Type="http://schemas.openxmlformats.org/officeDocument/2006/relationships/tableStyles" Target="/ppt/tableStyles.xml" Id="R918b450fb55d482f" /><Relationship Type="http://schemas.openxmlformats.org/officeDocument/2006/relationships/slide" Target="/ppt/slides/slide1.xml" Id="R5742557fca854582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e277e4830d5542b3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294cf8666bf14e00" /><Relationship Type="http://schemas.openxmlformats.org/officeDocument/2006/relationships/notesMaster" Target="/ppt/notesMasters/notesMaster1.xml" Id="Rf7c6891996cd4b30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来源：用户工作内容及微信图片_20260918173112_75_2.jpg。完成状态：Token魔方Mini实验台报告已完成，移动服务器租赁与P8000测试未完成。报告已完成并不表示所有技术和商业验证均已完成。租赁计划：流程调试期9月30日至10月30日，移动漳湾机房，2台910B+6台T4，后续迁移至展示期，移动负责组网，MOMA，互联网500Mbps。安全测试期10月20日至11月10日，21C token魔方，18台报废通算服务器，其中4台以上带GPU，时代负责组网，MOMA，互联网1Gbps。最终展示期11月10日至2027年5月10日，21C token魔方，8台910B+10台T4，时代负责组网，MOMA，互联网1Gbps。原图前两段未写年份，正文保持月日，最终终止时间明确为2027年。阶段日期存在重叠，按原图保留。设备单位为台。P8000初测一轮已完成，细化测试进行中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bf2ff37acda1491e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cdd834bd465a4574" /><Relationship Type="http://schemas.openxmlformats.org/officeDocument/2006/relationships/slideLayout" Target="/ppt/slideLayouts/slideLayout1.xml" Id="Rc93ef5c443324892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c93ef5c443324892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75a1151f3444432f" /><Relationship Type="http://schemas.openxmlformats.org/officeDocument/2006/relationships/notesSlide" Target="/ppt/notesSlides/notesSlide1.xml" Id="R6cb8a51aa29c4471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6279329B-1F71-4BB2-BB1A-DEC3DF6E3E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381000"/>
            <a:ext cx="7620000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3750" b="1">
                <a:solidFill>
                  <a:srgbClr val="18334C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3750" b="1">
                <a:solidFill>
                  <a:srgbClr val="18334C"/>
                </a:solidFill>
                <a:latin typeface="Arial Unicode MS"/>
                <a:ea typeface="Arial Unicode MS"/>
                <a:cs typeface="Arial Unicode MS"/>
              </a:rPr>
              <a:t>工作进展汇报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DE31823A-1393-40DF-936D-0BC56F7311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1057275"/>
            <a:ext cx="133350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950" b="0">
                <a:solidFill>
                  <a:srgbClr val="7D8B96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950" b="0">
                <a:solidFill>
                  <a:srgbClr val="7D8B96"/>
                </a:solidFill>
                <a:latin typeface="Arial Unicode MS"/>
                <a:ea typeface="Arial Unicode MS"/>
                <a:cs typeface="Arial Unicode MS"/>
              </a:rPr>
              <a:t>Token 实验台报告、移动服务器租赁与 P8000 测试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DDB04C42-AF6D-4D94-B1BD-EB5B7739E3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1828800"/>
            <a:ext cx="4762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950" b="0">
                <a:solidFill>
                  <a:srgbClr val="7D8B96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950" b="0">
                <a:solidFill>
                  <a:srgbClr val="7D8B96"/>
                </a:solidFill>
                <a:latin typeface="Arial Unicode MS"/>
                <a:ea typeface="Arial Unicode MS"/>
                <a:cs typeface="Arial Unicode MS"/>
              </a:rPr>
              <a:t>01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18D651AF-FD18-49C7-8838-E9AE85A532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71600" y="1733550"/>
            <a:ext cx="2762250" cy="409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2175" b="1">
                <a:solidFill>
                  <a:srgbClr val="18334C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2175" b="1">
                <a:solidFill>
                  <a:srgbClr val="18334C"/>
                </a:solidFill>
                <a:latin typeface="Arial Unicode MS"/>
                <a:ea typeface="Arial Unicode MS"/>
                <a:cs typeface="Arial Unicode MS"/>
              </a:rPr>
              <a:t>Token 魔方 Mini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D2C1E64B-5B58-4472-988A-6B6358A2C5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71600" y="2105025"/>
            <a:ext cx="2762250" cy="409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2175" b="1">
                <a:solidFill>
                  <a:srgbClr val="18334C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2175" b="1">
                <a:solidFill>
                  <a:srgbClr val="18334C"/>
                </a:solidFill>
                <a:latin typeface="Arial Unicode MS"/>
                <a:ea typeface="Arial Unicode MS"/>
                <a:cs typeface="Arial Unicode MS"/>
              </a:rPr>
              <a:t>实验台报告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15C3CF67-3054-466C-9695-40C763A74B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71600" y="2581275"/>
            <a:ext cx="2762250" cy="4667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2775" b="1">
                <a:solidFill>
                  <a:srgbClr val="008B84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2775" b="1">
                <a:solidFill>
                  <a:srgbClr val="008B84"/>
                </a:solidFill>
                <a:latin typeface="Arial Unicode MS"/>
                <a:ea typeface="Arial Unicode MS"/>
                <a:cs typeface="Arial Unicode MS"/>
              </a:rPr>
              <a:t>已完成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96AA10E8-1FD5-429B-A968-9D0EEBC2E3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95800" y="1752600"/>
            <a:ext cx="1000125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2100" b="1">
                <a:solidFill>
                  <a:srgbClr val="18334C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2100" b="1">
                <a:solidFill>
                  <a:srgbClr val="18334C"/>
                </a:solidFill>
                <a:latin typeface="Arial Unicode MS"/>
                <a:ea typeface="Arial Unicode MS"/>
                <a:cs typeface="Arial Unicode MS"/>
              </a:rPr>
              <a:t>已完成报告梳理，覆盖 Token 生产与平台销售闭环验证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7B87F3DF-DE68-447D-BF8B-1AF26D4F01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95800" y="2324100"/>
            <a:ext cx="13335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950" b="1">
                <a:solidFill>
                  <a:srgbClr val="18334C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950" b="1">
                <a:solidFill>
                  <a:srgbClr val="18334C"/>
                </a:solidFill>
                <a:latin typeface="Arial Unicode MS"/>
                <a:ea typeface="Arial Unicode MS"/>
                <a:cs typeface="Arial Unicode MS"/>
              </a:rPr>
              <a:t>技术验证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D9F42F24-CA72-43B7-9767-2F335CE0FF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00750" y="2324100"/>
            <a:ext cx="84582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950" b="0">
                <a:solidFill>
                  <a:srgbClr val="364C5D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950" b="0">
                <a:solidFill>
                  <a:srgbClr val="364C5D"/>
                </a:solidFill>
                <a:latin typeface="Arial Unicode MS"/>
                <a:ea typeface="Arial Unicode MS"/>
                <a:cs typeface="Arial Unicode MS"/>
              </a:rPr>
              <a:t>硬件设备、网络拓扑、软件架构、模型适配与部署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2645E8F7-C419-4465-AA81-C0D9D6F095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95800" y="2762250"/>
            <a:ext cx="13335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950" b="1">
                <a:solidFill>
                  <a:srgbClr val="18334C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950" b="1">
                <a:solidFill>
                  <a:srgbClr val="18334C"/>
                </a:solidFill>
                <a:latin typeface="Arial Unicode MS"/>
                <a:ea typeface="Arial Unicode MS"/>
                <a:cs typeface="Arial Unicode MS"/>
              </a:rPr>
              <a:t>商业验证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1052204C-E951-42F1-8E90-7756668C89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00750" y="2762250"/>
            <a:ext cx="84582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950" b="0">
                <a:solidFill>
                  <a:srgbClr val="364C5D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950" b="0">
                <a:solidFill>
                  <a:srgbClr val="364C5D"/>
                </a:solidFill>
                <a:latin typeface="Arial Unicode MS"/>
                <a:ea typeface="Arial Unicode MS"/>
                <a:cs typeface="Arial Unicode MS"/>
              </a:rPr>
              <a:t>性能测试、Token 收益分析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27988B9D-A035-4A94-8F8B-A23D8B1BF5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3667125"/>
            <a:ext cx="4762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950" b="0">
                <a:solidFill>
                  <a:srgbClr val="7D8B96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950" b="0">
                <a:solidFill>
                  <a:srgbClr val="7D8B96"/>
                </a:solidFill>
                <a:latin typeface="Arial Unicode MS"/>
                <a:ea typeface="Arial Unicode MS"/>
                <a:cs typeface="Arial Unicode MS"/>
              </a:rPr>
              <a:t>02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9394D3CF-5980-4A9C-BF37-4ADE4FB087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71600" y="3581400"/>
            <a:ext cx="2809875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2175" b="1">
                <a:solidFill>
                  <a:srgbClr val="18334C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2175" b="1">
                <a:solidFill>
                  <a:srgbClr val="18334C"/>
                </a:solidFill>
                <a:latin typeface="Arial Unicode MS"/>
                <a:ea typeface="Arial Unicode MS"/>
                <a:cs typeface="Arial Unicode MS"/>
              </a:rPr>
              <a:t>移动服务器租赁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7192F4B3-51B8-4A8B-AD9B-82EA301B11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71600" y="4114800"/>
            <a:ext cx="2762250" cy="4667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2775" b="1">
                <a:solidFill>
                  <a:srgbClr val="A97621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2775" b="1">
                <a:solidFill>
                  <a:srgbClr val="A97621"/>
                </a:solidFill>
                <a:latin typeface="Arial Unicode MS"/>
                <a:ea typeface="Arial Unicode MS"/>
                <a:cs typeface="Arial Unicode MS"/>
              </a:rPr>
              <a:t>未完成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5BD05392-5224-49CE-850B-9FE110A612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71600" y="4676775"/>
            <a:ext cx="27622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725" b="0">
                <a:solidFill>
                  <a:srgbClr val="7D8B96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725" b="0">
                <a:solidFill>
                  <a:srgbClr val="7D8B96"/>
                </a:solidFill>
                <a:latin typeface="Arial Unicode MS"/>
                <a:ea typeface="Arial Unicode MS"/>
                <a:cs typeface="Arial Unicode MS"/>
              </a:rPr>
              <a:t>待商务流程初稿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B3D2EDEE-C6D4-432B-98EC-B3F6C6EA20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95800" y="3562350"/>
            <a:ext cx="10001250" cy="409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2025" b="1">
                <a:solidFill>
                  <a:srgbClr val="18334C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2025" b="1">
                <a:solidFill>
                  <a:srgbClr val="18334C"/>
                </a:solidFill>
                <a:latin typeface="Arial Unicode MS"/>
                <a:ea typeface="Arial Unicode MS"/>
                <a:cs typeface="Arial Unicode MS"/>
              </a:rPr>
              <a:t>已确定 2 台 910B + 6 台 NVIDIA T4，待夏新完成商务流程初稿</a:t>
            </a:r>
          </a:p>
        </p:txBody>
      </p:sp>
      <p:graphicFrame>
        <p:nvGraphicFramePr>
          <p:cNvPr id="42" name=""/>
          <p:cNvGraphicFramePr/>
          <p:nvPr/>
        </p:nvGraphicFramePr>
        <p:xfrm>
          <a:off xmlns:a="http://schemas.openxmlformats.org/drawingml/2006/main" x="4495800" y="4095750"/>
          <a:ext xmlns:a="http://schemas.openxmlformats.org/drawingml/2006/main" cx="10001250" cy="2162175"/>
        </p:xfrm>
        <a:graphic xmlns:a="http://schemas.openxmlformats.org/drawingml/2006/main">
          <a:graphicData uri="http://schemas.openxmlformats.org/drawingml/2006/table">
            <a:tbl>
              <a:tblPr/>
              <a:tblGrid>
                <a:gridCol w="1333500"/>
                <a:gridCol w="2000250"/>
                <a:gridCol w="1809750"/>
                <a:gridCol w="2952750"/>
                <a:gridCol w="1905000"/>
              </a:tblGrid>
              <a:tr h="400050">
                <a:tc>
                  <a:txBody>
                    <a:bodyPr/>
                    <a:lstStyle/>
                    <a:p>
                      <a:r>
                        <a:rPr sz="1725" b="1">
                          <a:solidFill>
                            <a:srgbClr val="18334C"/>
                          </a:solidFill>
                          <a:latin typeface="Arial Unicode MS"/>
                          <a:ea typeface="Arial Unicode MS"/>
                          <a:cs typeface="Arial Unicode MS"/>
                        </a:rPr>
                        <a:t>阶段</a:t>
                      </a:r>
                    </a:p>
                  </a:txBody>
                  <a:tcPr marL="114300" marR="76200" marT="0" marB="0" anchor="ctr">
                    <a:solidFill>
                      <a:srgbClr val="EDF2F5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 b="1">
                          <a:solidFill>
                            <a:srgbClr val="18334C"/>
                          </a:solidFill>
                          <a:latin typeface="Arial Unicode MS"/>
                          <a:ea typeface="Arial Unicode MS"/>
                          <a:cs typeface="Arial Unicode MS"/>
                        </a:rPr>
                        <a:t>时间</a:t>
                      </a:r>
                    </a:p>
                  </a:txBody>
                  <a:tcPr marL="114300" marR="76200" marT="0" marB="0" anchor="ctr">
                    <a:solidFill>
                      <a:srgbClr val="EDF2F5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 b="1">
                          <a:solidFill>
                            <a:srgbClr val="18334C"/>
                          </a:solidFill>
                          <a:latin typeface="Arial Unicode MS"/>
                          <a:ea typeface="Arial Unicode MS"/>
                          <a:cs typeface="Arial Unicode MS"/>
                        </a:rPr>
                        <a:t>地点</a:t>
                      </a:r>
                    </a:p>
                  </a:txBody>
                  <a:tcPr marL="114300" marR="76200" marT="0" marB="0" anchor="ctr">
                    <a:solidFill>
                      <a:srgbClr val="EDF2F5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 b="1">
                          <a:solidFill>
                            <a:srgbClr val="18334C"/>
                          </a:solidFill>
                          <a:latin typeface="Arial Unicode MS"/>
                          <a:ea typeface="Arial Unicode MS"/>
                          <a:cs typeface="Arial Unicode MS"/>
                        </a:rPr>
                        <a:t>算力资源</a:t>
                      </a:r>
                    </a:p>
                  </a:txBody>
                  <a:tcPr marL="114300" marR="76200" marT="0" marB="0" anchor="ctr">
                    <a:solidFill>
                      <a:srgbClr val="EDF2F5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 b="1">
                          <a:solidFill>
                            <a:srgbClr val="18334C"/>
                          </a:solidFill>
                          <a:latin typeface="Arial Unicode MS"/>
                          <a:ea typeface="Arial Unicode MS"/>
                          <a:cs typeface="Arial Unicode MS"/>
                        </a:rPr>
                        <a:t>组网方 / 带宽</a:t>
                      </a:r>
                    </a:p>
                  </a:txBody>
                  <a:tcPr marL="114300" marR="76200" marT="0" marB="0" anchor="ctr">
                    <a:solidFill>
                      <a:srgbClr val="EDF2F5"/>
                    </a:solidFill>
                  </a:tcPr>
                </a:tc>
              </a:tr>
              <a:tr h="600075">
                <a:tc>
                  <a:txBody>
                    <a:bodyPr/>
                    <a:lstStyle/>
                    <a:p>
                      <a:r>
                        <a:rPr sz="1650" b="0">
                          <a:solidFill>
                            <a:srgbClr val="364C5D"/>
                          </a:solidFill>
                          <a:latin typeface="Arial Unicode MS"/>
                          <a:ea typeface="Arial Unicode MS"/>
                          <a:cs typeface="Arial Unicode MS"/>
                        </a:rPr>
                        <a:t>流程调试期</a:t>
                      </a:r>
                    </a:p>
                  </a:txBody>
                  <a:tcPr marL="114300" marR="76200" marT="0" marB="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650" b="0">
                          <a:solidFill>
                            <a:srgbClr val="364C5D"/>
                          </a:solidFill>
                          <a:latin typeface="Arial Unicode MS"/>
                          <a:ea typeface="Arial Unicode MS"/>
                          <a:cs typeface="Arial Unicode MS"/>
                        </a:rPr>
                        <a:t>9/30–10/30</a:t>
                      </a:r>
                    </a:p>
                  </a:txBody>
                  <a:tcPr marL="114300" marR="76200" marT="0" marB="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650" b="0">
                          <a:solidFill>
                            <a:srgbClr val="364C5D"/>
                          </a:solidFill>
                          <a:latin typeface="Arial Unicode MS"/>
                          <a:ea typeface="Arial Unicode MS"/>
                          <a:cs typeface="Arial Unicode MS"/>
                        </a:rPr>
                        <a:t>移动漳湾机房</a:t>
                      </a:r>
                    </a:p>
                  </a:txBody>
                  <a:tcPr marL="114300" marR="76200" marT="0" marB="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650" b="0">
                          <a:solidFill>
                            <a:srgbClr val="364C5D"/>
                          </a:solidFill>
                          <a:latin typeface="Arial Unicode MS"/>
                          <a:ea typeface="Arial Unicode MS"/>
                          <a:cs typeface="Arial Unicode MS"/>
                        </a:rPr>
                        <a:t>2 台 910B + 6 台 T4</a:t>
                      </a:r>
                    </a:p>
                    <a:p>
                      <a:r>
                        <a:rPr sz="1650" b="0">
                          <a:solidFill>
                            <a:srgbClr val="364C5D"/>
                          </a:solidFill>
                          <a:latin typeface="Arial Unicode MS"/>
                          <a:ea typeface="Arial Unicode MS"/>
                          <a:cs typeface="Arial Unicode MS"/>
                        </a:rPr>
                        <a:t>后续迁移至展示期</a:t>
                      </a:r>
                    </a:p>
                  </a:txBody>
                  <a:tcPr marL="114300" marR="76200" marT="0" marB="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650" b="0">
                          <a:solidFill>
                            <a:srgbClr val="364C5D"/>
                          </a:solidFill>
                          <a:latin typeface="Arial Unicode MS"/>
                          <a:ea typeface="Arial Unicode MS"/>
                          <a:cs typeface="Arial Unicode MS"/>
                        </a:rPr>
                        <a:t>移动 / 500 Mbps</a:t>
                      </a:r>
                    </a:p>
                  </a:txBody>
                  <a:tcPr marL="114300" marR="76200" marT="0" marB="0" anchor="ctr">
                    <a:solidFill>
                      <a:srgbClr val="FFFFFF"/>
                    </a:solidFill>
                  </a:tcPr>
                </a:tc>
              </a:tr>
              <a:tr h="600075">
                <a:tc>
                  <a:txBody>
                    <a:bodyPr/>
                    <a:lstStyle/>
                    <a:p>
                      <a:r>
                        <a:rPr sz="1650" b="0">
                          <a:solidFill>
                            <a:srgbClr val="364C5D"/>
                          </a:solidFill>
                          <a:latin typeface="Arial Unicode MS"/>
                          <a:ea typeface="Arial Unicode MS"/>
                          <a:cs typeface="Arial Unicode MS"/>
                        </a:rPr>
                        <a:t>安全测试期</a:t>
                      </a:r>
                    </a:p>
                  </a:txBody>
                  <a:tcPr marL="114300" marR="76200" marT="0" marB="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650" b="0">
                          <a:solidFill>
                            <a:srgbClr val="364C5D"/>
                          </a:solidFill>
                          <a:latin typeface="Arial Unicode MS"/>
                          <a:ea typeface="Arial Unicode MS"/>
                          <a:cs typeface="Arial Unicode MS"/>
                        </a:rPr>
                        <a:t>10/20–11/10</a:t>
                      </a:r>
                    </a:p>
                  </a:txBody>
                  <a:tcPr marL="114300" marR="76200" marT="0" marB="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650" b="0">
                          <a:solidFill>
                            <a:srgbClr val="364C5D"/>
                          </a:solidFill>
                          <a:latin typeface="Arial Unicode MS"/>
                          <a:ea typeface="Arial Unicode MS"/>
                          <a:cs typeface="Arial Unicode MS"/>
                        </a:rPr>
                        <a:t>21C Token 魔方</a:t>
                      </a:r>
                    </a:p>
                  </a:txBody>
                  <a:tcPr marL="114300" marR="76200" marT="0" marB="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650" b="0">
                          <a:solidFill>
                            <a:srgbClr val="364C5D"/>
                          </a:solidFill>
                          <a:latin typeface="Arial Unicode MS"/>
                          <a:ea typeface="Arial Unicode MS"/>
                          <a:cs typeface="Arial Unicode MS"/>
                        </a:rPr>
                        <a:t>18 台报废通算服务器</a:t>
                      </a:r>
                    </a:p>
                    <a:p>
                      <a:r>
                        <a:rPr sz="1650" b="0">
                          <a:solidFill>
                            <a:srgbClr val="364C5D"/>
                          </a:solidFill>
                          <a:latin typeface="Arial Unicode MS"/>
                          <a:ea typeface="Arial Unicode MS"/>
                          <a:cs typeface="Arial Unicode MS"/>
                        </a:rPr>
                        <a:t>其中 4 台以上带 GPU</a:t>
                      </a:r>
                    </a:p>
                  </a:txBody>
                  <a:tcPr marL="114300" marR="76200" marT="0" marB="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650" b="0">
                          <a:solidFill>
                            <a:srgbClr val="364C5D"/>
                          </a:solidFill>
                          <a:latin typeface="Arial Unicode MS"/>
                          <a:ea typeface="Arial Unicode MS"/>
                          <a:cs typeface="Arial Unicode MS"/>
                        </a:rPr>
                        <a:t>时代 / 1 Gbps</a:t>
                      </a:r>
                    </a:p>
                  </a:txBody>
                  <a:tcPr marL="114300" marR="76200" marT="0" marB="0" anchor="ctr">
                    <a:solidFill>
                      <a:srgbClr val="FFFFFF"/>
                    </a:solidFill>
                  </a:tcPr>
                </a:tc>
              </a:tr>
              <a:tr h="561975">
                <a:tc>
                  <a:txBody>
                    <a:bodyPr/>
                    <a:lstStyle/>
                    <a:p>
                      <a:r>
                        <a:rPr sz="1650" b="0">
                          <a:solidFill>
                            <a:srgbClr val="364C5D"/>
                          </a:solidFill>
                          <a:latin typeface="Arial Unicode MS"/>
                          <a:ea typeface="Arial Unicode MS"/>
                          <a:cs typeface="Arial Unicode MS"/>
                        </a:rPr>
                        <a:t>最终展示期</a:t>
                      </a:r>
                    </a:p>
                  </a:txBody>
                  <a:tcPr marL="114300" marR="76200" marT="0" marB="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650" b="0">
                          <a:solidFill>
                            <a:srgbClr val="364C5D"/>
                          </a:solidFill>
                          <a:latin typeface="Arial Unicode MS"/>
                          <a:ea typeface="Arial Unicode MS"/>
                          <a:cs typeface="Arial Unicode MS"/>
                        </a:rPr>
                        <a:t>11/10–2027/5/10</a:t>
                      </a:r>
                    </a:p>
                  </a:txBody>
                  <a:tcPr marL="114300" marR="76200" marT="0" marB="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650" b="0">
                          <a:solidFill>
                            <a:srgbClr val="364C5D"/>
                          </a:solidFill>
                          <a:latin typeface="Arial Unicode MS"/>
                          <a:ea typeface="Arial Unicode MS"/>
                          <a:cs typeface="Arial Unicode MS"/>
                        </a:rPr>
                        <a:t>21C Token 魔方</a:t>
                      </a:r>
                    </a:p>
                  </a:txBody>
                  <a:tcPr marL="114300" marR="76200" marT="0" marB="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650" b="0">
                          <a:solidFill>
                            <a:srgbClr val="364C5D"/>
                          </a:solidFill>
                          <a:latin typeface="Arial Unicode MS"/>
                          <a:ea typeface="Arial Unicode MS"/>
                          <a:cs typeface="Arial Unicode MS"/>
                        </a:rPr>
                        <a:t>8 台 910B + 10 台 T4</a:t>
                      </a:r>
                    </a:p>
                  </a:txBody>
                  <a:tcPr marL="114300" marR="76200" marT="0" marB="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650" b="0">
                          <a:solidFill>
                            <a:srgbClr val="364C5D"/>
                          </a:solidFill>
                          <a:latin typeface="Arial Unicode MS"/>
                          <a:ea typeface="Arial Unicode MS"/>
                          <a:cs typeface="Arial Unicode MS"/>
                        </a:rPr>
                        <a:t>时代 / 1 Gbps</a:t>
                      </a:r>
                    </a:p>
                  </a:txBody>
                  <a:tcPr marL="114300" marR="76200" marT="0" marB="0" anchor="ctr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1BE0D8E4-C56A-42F7-8743-15D3F34D93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14850" y="6343650"/>
            <a:ext cx="99631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7D8B96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650" b="0">
                <a:solidFill>
                  <a:srgbClr val="7D8B96"/>
                </a:solidFill>
                <a:latin typeface="Arial Unicode MS"/>
                <a:ea typeface="Arial Unicode MS"/>
                <a:cs typeface="Arial Unicode MS"/>
              </a:rPr>
              <a:t>三个阶段均使用 MOMA 平台，通过互联网访问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1E9EC373-F278-4F93-B8F9-3CD10FE4E0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7162800"/>
            <a:ext cx="4762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950" b="0">
                <a:solidFill>
                  <a:srgbClr val="7D8B96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950" b="0">
                <a:solidFill>
                  <a:srgbClr val="7D8B96"/>
                </a:solidFill>
                <a:latin typeface="Arial Unicode MS"/>
                <a:ea typeface="Arial Unicode MS"/>
                <a:cs typeface="Arial Unicode MS"/>
              </a:rPr>
              <a:t>03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F26DD448-1BF9-4EC2-93E4-27B41606F9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71600" y="7077075"/>
            <a:ext cx="2809875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2175" b="1">
                <a:solidFill>
                  <a:srgbClr val="18334C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2175" b="1">
                <a:solidFill>
                  <a:srgbClr val="18334C"/>
                </a:solidFill>
                <a:latin typeface="Arial Unicode MS"/>
                <a:ea typeface="Arial Unicode MS"/>
                <a:cs typeface="Arial Unicode MS"/>
              </a:rPr>
              <a:t>P8000 测试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F8FB9879-1F31-4B5C-AF82-52B1A4E606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71600" y="7610475"/>
            <a:ext cx="2762250" cy="4667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2775" b="1">
                <a:solidFill>
                  <a:srgbClr val="A97621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2775" b="1">
                <a:solidFill>
                  <a:srgbClr val="A97621"/>
                </a:solidFill>
                <a:latin typeface="Arial Unicode MS"/>
                <a:ea typeface="Arial Unicode MS"/>
                <a:cs typeface="Arial Unicode MS"/>
              </a:rPr>
              <a:t>未完成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CF35B008-4249-47EC-A9F0-DA5F6FF3A8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95800" y="7058025"/>
            <a:ext cx="10001250" cy="409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2100" b="1">
                <a:solidFill>
                  <a:srgbClr val="18334C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2100" b="1">
                <a:solidFill>
                  <a:srgbClr val="18334C"/>
                </a:solidFill>
                <a:latin typeface="Arial Unicode MS"/>
                <a:ea typeface="Arial Unicode MS"/>
                <a:cs typeface="Arial Unicode MS"/>
              </a:rPr>
              <a:t>已完成一轮初步测试，正在学习并开展细化测试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368AA8E3-C09E-4BDF-9C28-48AFF4D47A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95800" y="7562850"/>
            <a:ext cx="1000125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875" b="0">
                <a:solidFill>
                  <a:srgbClr val="364C5D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875" b="0">
                <a:solidFill>
                  <a:srgbClr val="364C5D"/>
                </a:solidFill>
                <a:latin typeface="Arial Unicode MS"/>
                <a:ea typeface="Arial Unicode MS"/>
                <a:cs typeface="Arial Unicode MS"/>
              </a:rPr>
              <a:t>环境与通信：RDMA 测试、驱动环境验证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0EA002E0-2151-4C9E-9BDD-405CBF3245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95800" y="7915275"/>
            <a:ext cx="1000125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875" b="0">
                <a:solidFill>
                  <a:srgbClr val="364C5D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875" b="0">
                <a:solidFill>
                  <a:srgbClr val="364C5D"/>
                </a:solidFill>
                <a:latin typeface="Arial Unicode MS"/>
                <a:ea typeface="Arial Unicode MS"/>
                <a:cs typeface="Arial Unicode MS"/>
              </a:rPr>
              <a:t>模型与推理：模型文件与可用性验证、推理引擎参数确定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48D7AE71-F644-4BE7-98C9-C6FCCD24D8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0" y="7562850"/>
            <a:ext cx="384810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875" b="0">
                <a:solidFill>
                  <a:srgbClr val="364C5D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875" b="0">
                <a:solidFill>
                  <a:srgbClr val="364C5D"/>
                </a:solidFill>
                <a:latin typeface="Arial Unicode MS"/>
                <a:ea typeface="Arial Unicode MS"/>
                <a:cs typeface="Arial Unicode MS"/>
              </a:rPr>
              <a:t>性能：LLM 吞吐性能测试</a:t>
            </a:r>
          </a:p>
        </p:txBody>
      </p:sp>
    </p:spTree>
    <p:extLst>
      <p:ext uri="{BB962C8B-B14F-4D97-AF65-F5344CB8AC3E}">
        <p14:creationId xmlns:p14="http://schemas.microsoft.com/office/powerpoint/2010/main" val="447816516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2026-09-18T09:36:25.8760000Z</dcterms:created>
  <dcterms:modified xsi:type="dcterms:W3CDTF">2026-09-18T09:36:25.8760000Z</dcterms:modified>
</coreProperties>
</file>