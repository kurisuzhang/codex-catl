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20c433be354479" /><Relationship Type="http://schemas.openxmlformats.org/officeDocument/2006/relationships/extended-properties" Target="/docProps/app.xml" Id="R9100738ba3734034" /><Relationship Type="http://schemas.openxmlformats.org/officeDocument/2006/relationships/officeDocument" Target="/ppt/presentation.xml" Id="Recd25d4ad08145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8c80d6dd1f4e99"/>
  </p:sldMasterIdLst>
  <p:notesMasterIdLst>
    <p:notesMasterId xmlns:r="http://schemas.openxmlformats.org/officeDocument/2006/relationships" r:id="Rc897f99a105c414d"/>
  </p:notesMasterIdLst>
  <p:sldIdLst>
    <p:sldId xmlns:r="http://schemas.openxmlformats.org/officeDocument/2006/relationships" id="256" r:id="R398cabdbabf24b85"/>
    <p:sldId xmlns:r="http://schemas.openxmlformats.org/officeDocument/2006/relationships" id="257" r:id="R36c5f7ae48c3496c"/>
    <p:sldId xmlns:r="http://schemas.openxmlformats.org/officeDocument/2006/relationships" id="258" r:id="R56778dbb8c4547a3"/>
    <p:sldId xmlns:r="http://schemas.openxmlformats.org/officeDocument/2006/relationships" id="259" r:id="Redbfe71f46a14246"/>
    <p:sldId xmlns:r="http://schemas.openxmlformats.org/officeDocument/2006/relationships" id="260" r:id="Rd97ef04d984b4431"/>
    <p:sldId xmlns:r="http://schemas.openxmlformats.org/officeDocument/2006/relationships" id="261" r:id="R5b392dc6bf8848c6"/>
    <p:sldId xmlns:r="http://schemas.openxmlformats.org/officeDocument/2006/relationships" id="262" r:id="R9a971b8ad49b40b0"/>
    <p:sldId xmlns:r="http://schemas.openxmlformats.org/officeDocument/2006/relationships" id="263" r:id="Rab79d4000f6a486e"/>
    <p:sldId xmlns:r="http://schemas.openxmlformats.org/officeDocument/2006/relationships" id="264" r:id="R34cced0ce07a4397"/>
    <p:sldId xmlns:r="http://schemas.openxmlformats.org/officeDocument/2006/relationships" id="265" r:id="Rec42a4e6c62f4655"/>
    <p:sldId xmlns:r="http://schemas.openxmlformats.org/officeDocument/2006/relationships" id="266" r:id="Re530c6e845ef4100"/>
    <p:sldId xmlns:r="http://schemas.openxmlformats.org/officeDocument/2006/relationships" id="267" r:id="R4310b47d65e541b9"/>
    <p:sldId xmlns:r="http://schemas.openxmlformats.org/officeDocument/2006/relationships" id="268" r:id="R82ea857a1817450a"/>
    <p:sldId xmlns:r="http://schemas.openxmlformats.org/officeDocument/2006/relationships" id="269" r:id="R2429744a1fbd41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426c1e4c01446e" /><Relationship Type="http://schemas.openxmlformats.org/officeDocument/2006/relationships/slideMaster" Target="/ppt/slideMasters/slideMaster1.xml" Id="R528c80d6dd1f4e99" /><Relationship Type="http://schemas.openxmlformats.org/officeDocument/2006/relationships/notesMaster" Target="/ppt/notesMasters/notesMaster1.xml" Id="Rc897f99a105c414d" /><Relationship Type="http://schemas.openxmlformats.org/officeDocument/2006/relationships/presProps" Target="/ppt/presProps.xml" Id="Re126bae2070e4ada" /><Relationship Type="http://schemas.openxmlformats.org/officeDocument/2006/relationships/tableStyles" Target="/ppt/tableStyles.xml" Id="R85a24209e49d477b" /><Relationship Type="http://schemas.openxmlformats.org/officeDocument/2006/relationships/slide" Target="/ppt/slides/slide1.xml" Id="R398cabdbabf24b85" /><Relationship Type="http://schemas.openxmlformats.org/officeDocument/2006/relationships/slide" Target="/ppt/slides/slide2.xml" Id="R36c5f7ae48c3496c" /><Relationship Type="http://schemas.openxmlformats.org/officeDocument/2006/relationships/slide" Target="/ppt/slides/slide3.xml" Id="R56778dbb8c4547a3" /><Relationship Type="http://schemas.openxmlformats.org/officeDocument/2006/relationships/slide" Target="/ppt/slides/slide4.xml" Id="Redbfe71f46a14246" /><Relationship Type="http://schemas.openxmlformats.org/officeDocument/2006/relationships/slide" Target="/ppt/slides/slide5.xml" Id="Rd97ef04d984b4431" /><Relationship Type="http://schemas.openxmlformats.org/officeDocument/2006/relationships/slide" Target="/ppt/slides/slide6.xml" Id="R5b392dc6bf8848c6" /><Relationship Type="http://schemas.openxmlformats.org/officeDocument/2006/relationships/slide" Target="/ppt/slides/slide7.xml" Id="R9a971b8ad49b40b0" /><Relationship Type="http://schemas.openxmlformats.org/officeDocument/2006/relationships/slide" Target="/ppt/slides/slide8.xml" Id="Rab79d4000f6a486e" /><Relationship Type="http://schemas.openxmlformats.org/officeDocument/2006/relationships/slide" Target="/ppt/slides/slide9.xml" Id="R34cced0ce07a4397" /><Relationship Type="http://schemas.openxmlformats.org/officeDocument/2006/relationships/slide" Target="/ppt/slides/slide10.xml" Id="Rec42a4e6c62f4655" /><Relationship Type="http://schemas.openxmlformats.org/officeDocument/2006/relationships/slide" Target="/ppt/slides/slide11.xml" Id="Re530c6e845ef4100" /><Relationship Type="http://schemas.openxmlformats.org/officeDocument/2006/relationships/slide" Target="/ppt/slides/slide12.xml" Id="R4310b47d65e541b9" /><Relationship Type="http://schemas.openxmlformats.org/officeDocument/2006/relationships/slide" Target="/ppt/slides/slide13.xml" Id="R82ea857a1817450a" /><Relationship Type="http://schemas.openxmlformats.org/officeDocument/2006/relationships/slide" Target="/ppt/slides/slide14.xml" Id="R2429744a1fbd41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157f589d4240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dd39261ec47c6" /><Relationship Type="http://schemas.openxmlformats.org/officeDocument/2006/relationships/notesMaster" Target="/ppt/notesMasters/notesMaster1.xml" Id="R070b11737bdf49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34818971c4c69" /><Relationship Type="http://schemas.openxmlformats.org/officeDocument/2006/relationships/notesMaster" Target="/ppt/notesMasters/notesMaster1.xml" Id="R671af2d6480d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56f88c05c54969" /><Relationship Type="http://schemas.openxmlformats.org/officeDocument/2006/relationships/notesMaster" Target="/ppt/notesMasters/notesMaster1.xml" Id="R52687888e8f04c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abfc11a5548e7" /><Relationship Type="http://schemas.openxmlformats.org/officeDocument/2006/relationships/notesMaster" Target="/ppt/notesMasters/notesMaster1.xml" Id="R8d80608422d84e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796b333cc84489" /><Relationship Type="http://schemas.openxmlformats.org/officeDocument/2006/relationships/notesMaster" Target="/ppt/notesMasters/notesMaster1.xml" Id="Rafa576ba6d0e44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6e556083c241ae" /><Relationship Type="http://schemas.openxmlformats.org/officeDocument/2006/relationships/notesMaster" Target="/ppt/notesMasters/notesMaster1.xml" Id="Rd81915f0a1e4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0bd6d44e074f89" /><Relationship Type="http://schemas.openxmlformats.org/officeDocument/2006/relationships/notesMaster" Target="/ppt/notesMasters/notesMaster1.xml" Id="R57ed60068c074d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8c203cc95f4a90" /><Relationship Type="http://schemas.openxmlformats.org/officeDocument/2006/relationships/notesMaster" Target="/ppt/notesMasters/notesMaster1.xml" Id="R993dc4300b5649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1ba0d64d244477" /><Relationship Type="http://schemas.openxmlformats.org/officeDocument/2006/relationships/notesMaster" Target="/ppt/notesMasters/notesMaster1.xml" Id="R47a8951ba2934c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710ae8cfa14780" /><Relationship Type="http://schemas.openxmlformats.org/officeDocument/2006/relationships/notesMaster" Target="/ppt/notesMasters/notesMaster1.xml" Id="R2afc156834a342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0d0f825f9e425c" /><Relationship Type="http://schemas.openxmlformats.org/officeDocument/2006/relationships/notesMaster" Target="/ppt/notesMasters/notesMaster1.xml" Id="R0dd3860cd4d044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a29926bc146d4" /><Relationship Type="http://schemas.openxmlformats.org/officeDocument/2006/relationships/notesMaster" Target="/ppt/notesMasters/notesMaster1.xml" Id="R7fbb73b11e5b48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2b25ae3a45496d" /><Relationship Type="http://schemas.openxmlformats.org/officeDocument/2006/relationships/notesMaster" Target="/ppt/notesMasters/notesMaster1.xml" Id="R22cbafb53c734f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b8d158a64e4d48" /><Relationship Type="http://schemas.openxmlformats.org/officeDocument/2006/relationships/notesMaster" Target="/ppt/notesMasters/notesMaster1.xml" Id="Ra90762ba71f14a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全篇仅三大部分：第2–4页硬件配置清单；第5–8页模型适配结论；第9–14页判断模型适配方法论。910B按64GB/卡假设，必须向供应商确认。本报告为公开资料与源码核验，没有租赁设备实测。封面图片为NVIDIA T4官方参考图。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台8卡。总服务器6–8台，NPU16张，GPU32–48张。910B按64GB/卡，单机512GB、双机1024GB；T4单机128GB、全池512–768GB。不能把全部T4的容量视为单模型统一显存。逻辑接入可复用已有主机，不要求新增GPU；检测和视频生成的输出不是LLM正文Token，应分别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清单要同时覆盖CPU、主板、ECC DIMM、全部加速卡、板卡内互联/PCIe riser、系统盘及RAID、模型盘、网卡、BMC、机箱、导轨、电源、风扇和电源线。双机910B总RAM2–4TB、本地NVMe可用16TB起；4–6台T4总RAM1–3TB、本地NVMe可用16–24TB起。磁盘按原始权重+转换权重+下载缓存+输出+日志累加；不是显存不足的自动补救。CPU体系结构必须匹配容器。T4为被动散热卡，不能只把卡插入缺少整机风道的主机。8卡PCIe通道与NUMA分布须交付拓扑，不承诺每卡独享CPU直连x16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求所有硬件都新购：交换机、镜像仓库、监控与存储可复用但必须写清资源配额。200GE是配套A2参考拓扑，最终以租赁整机实际NPU端口为准，不能只配一条高速业务网线代替NPU互联。若16条光链路，两端共32只匹配模块与16条光纤；AOC为另一方案，不重复计模块。最终交付包括设备健康、8卡可见、ECC/错误检查、拓扑、通信测试、模型文件权限、监控日志、服务启动与重启恢复。电源按厂家整机最大功耗及机房冗余规划，不把PSU铭牌相加当实际功耗。模型镜像不能混用：GLM/DeepSeek配方vLLM-Ascend v0.23.0；Qwen Flash-Next FlagOS使用另一套定制SGLang环境。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没有把资料检索等同于实机成功。双机910B的三个指定超大模型目前不能全部承诺。GLM参考配置不等于严格理论下限；DeepSeek教程明确至少4A2，是当前参考路径的硬要求。Flash-Next存在昇腾定制适配，但发布页单机16设备不能直接对应双机8卡910B。YOLO官方同类T4测试是最强硬件证据，交付机仍需复验。PoC表示有实施路径但尚未全部满足验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ltx: https://huggingface.co/Lightricks/LTX-2.5</a:t>
            </a:r>
          </a:p>
          <a:p xmlns:a="http://schemas.openxmlformats.org/drawingml/2006/main">
            <a:r>
              <a:t>magi: https://huggingface.co/sand-ai/MAGI-2-preview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权重估算以十进制GB计，不含量化元数据、未量化模块、缓存、工作区和通信。MoE激活参数不能替代驻留总参数。GLM量化从BF16源重新生成，不应把原始FP8权重当作Ascend W8A8C8。vLLM-Ascend配方基于v0.23.0，不能仅升级latest保证兼容。DeepSeek-V4-Pro的W4A8配方已是低精度，A3每台8×128GB与A2每台8×64GB不可互换。FlagRelease发布环境为openEuler22.03 SP4、CANN8.5、torch_npu2.8、SGLang0.5.11、FlagGems5.3.0；还替换qwen4及专用算子文件，映射davinci0..15且TP4 DP4。原始BF16权重仓库不表示所有运行算子都是BF16。该页未明确验证芯片为910B或双机拓扑，不以昇腾品牌名称推定兼容。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ds: https://huggingface.co/deepseek-ai/DeepSeek-V4-Pro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4为SM75，缺原生BF16/FP8执行能力；不能照搬新GPU专用FlashAttention/FP8路径。Transformers源码有torch_chunk_gated_delta_rule与torch_recurrent_gated_delta_rule回退，包括关键A_log等float32计算；这提供候选实现，不代替完整T4数值测试。先锁定包含该实现的commit，用FP16、eager attention、不启用可选融合kernel、batch1输入512–1024和输出128测试。检查hf_device_map与每卡峰值，不允许无记录的CPU/disk卸载。YOLO26官方模型页提供T4 TensorRT10检测性能；本报告不把其速度当实际业务速度。最新Ultralytics导出接口可使用quantize=16，目标机导出并锁定依赖版本。INT8另做校准及mAP/召回率回归。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trt: https://docs.ultralytics.com/integrations/tensorrt/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LTX-2.5包含22B transformer、Gemma4-12B文本编码器、视频/音频VAE及上采样器，不能只算22B权重。官方有PyTorch SDPA回退和多GPU方案，因此不能声称必须FlashAttention或完全无多卡支持；但其默认BF16及FP8量化并无完整T4实机证明。MAGI-2官方明确8张Hopper，并非8张任意NVIDIA GPU。CogVideoX-2b官方模型卡推荐FP16，提到torchao/quanto量化使T4可运行，但显存表在A100/H100测得，不能把表中4GB直接当T4保证。选备选时按锁定Diffusers版本验证FP16与INT8后端、CPU卸载、VAE分块；不要使用FP8路径。视频验收需检查完整视频、帧数、分辨率、NaN/黑帧、生成耗时、画质，不用文本Token吞吐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ltx: https://huggingface.co/Lightricks/LTX-2.5</a:t>
            </a:r>
          </a:p>
          <a:p xmlns:a="http://schemas.openxmlformats.org/drawingml/2006/main">
            <a:r>
              <a:t>ltxcode: https://github.com/Lightricks/LTX-2</a:t>
            </a:r>
          </a:p>
          <a:p xmlns:a="http://schemas.openxmlformats.org/drawingml/2006/main">
            <a:r>
              <a:t>magi: https://huggingface.co/sand-ai/MAGI-2-preview</a:t>
            </a:r>
          </a:p>
          <a:p xmlns:a="http://schemas.openxmlformats.org/drawingml/2006/main">
            <a:r>
              <a:t>cog: https://huggingface.co/zai-org/CogVideoX-2b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集合：A权重与配置完整可获取，B架构与所有必需模块被框架正确识别，C每个算子的dtype/量化格式与芯片及运行库兼容且有实现或已验证回退，D每rank运行峰值小于实际可用显存，E并行切分及通信可行，F主机RAM/磁盘/IO足够且预处理后处理完整。静态资格=A∧B∧C∧D∧E∧F。部署验收=静态资格∧真实权重正确输出∧质量回归∧目标负载稳定运行。任何unknown不能按true处理。通过资料条件只能进入PoC，不能直接声称本机已验证。改量化、kernel、上下文、batch、节点数任一项，都需要重新检查受影响条件并重新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kernel清单至少覆盖attention、GDN/循环状态、MoE路由及GEMM、量化解码、归一化、通信、MTP/视觉/VAE等实际启用模块。量化名相同不代表pack格式、group size、scale dtype、对称性、激活精度或KV精度相同。先核对checkpoint quantization_config和框架后端，再查每种算子的设备实现。合法TP不仅看卡数，要检查头数、专家数、维度整除、复制模块及框架约束。支持多GPU不等于支持任意跨节点拓扑。CPU卸载须计主机内存和PCIe传输，并在目标延迟下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  <a:p xmlns:a="http://schemas.openxmlformats.org/drawingml/2006/main">
            <a:r>
              <a:t>ltxcode: https://github.com/Lightricks/LTX-2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对每rank分别累计W_r+K_r+A_r+C_r+headroom，并与设备实测可用容量比较；特别关注rank0复制组件或视觉编码器集中导致的不均衡。常规GQA KV字节=2×层数×KV头数×head_dim×缓存字节×总缓存token，实际按分片和复制规则修正；该公式不直接适用于GDN、MLA、CSA。MoE激活49B是计算口径，不是只需驻留49B。压低上下文减少KV，但不解决权重布局或缺少kernel。FP16缩小指数范围可能溢出，BF16训练模型转FP16必须质量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ds: https://huggingface.co/deepseek-ai/DeepSeek-V4-Pro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quant: https://docs.vllm.ai/en/latest/features/quantization/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先解析模型main当前commit SHA，再snapshot_download指定revision SHA，归档config、索引、tokenizer、generation config、chat template及全部必要组件。记录下载文件清单/大小和校验信息，避免只下一个分片。若量化转换，记录源SHA、校准集、转换工具版本和产物配置。硬件冒烟测试与目标模型验证分开：设备正常并不证明目标架构正常。LLM输入512–1024、输出128、batch1起测，后按业务负载提升；YOLO从640 batch1；视频按官方支持的分辨率/帧数与低内存选项起测。首个Token不是最终交付，生成完整可解释结果并测质量后才进入持续负载。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cog: https://huggingface.co/zai-org/CogVideoX-2b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不是新增模型推荐，而是展示同一判定链的不同结果。YOLO同硬件官方证据覆盖基本执行，生产服务质量和本机配置仍需验收。Qwen27的总容量算术和代码回退只是部分证据，缺失项必须保留待验证状态。DeepSeek双机未达到已公布配方的硬件要求，拒绝用纯权重下界宣称可用；如供应商提供更小配置实现，需要重新核对实际权重、精度、算子、上下文、并发和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最终证据包同时记录硬件设备ID/显存、CPU RAM磁盘、PCIe/NUMA/RDMA拓扑、驱动固件与运行库、镜像digest、框架commit、模型SHA、量化来源、启动参数、代表性输入输出、质量评估、每rank峰值与持续负载。建议至少1小时持续测试不等于覆盖长期可靠性。业务必须给出质量、延迟和并发阈值，未给定前仅报告实测不判定生产达标。完整参考见配套大纲，网页latest与main实施时重新核验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ds: https://huggingface.co/deepseek-ai/DeepSeek-V4-Pro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trt: https://docs.ultralytics.com/integrations/tensorrt/</a:t>
            </a:r>
          </a:p>
          <a:p xmlns:a="http://schemas.openxmlformats.org/drawingml/2006/main">
            <a:r>
              <a:t>ltx: https://huggingface.co/Lightricks/LTX-2.5</a:t>
            </a:r>
          </a:p>
          <a:p xmlns:a="http://schemas.openxmlformats.org/drawingml/2006/main">
            <a:r>
              <a:t>ltxcode: https://github.com/Lightricks/LTX-2</a:t>
            </a:r>
          </a:p>
          <a:p xmlns:a="http://schemas.openxmlformats.org/drawingml/2006/main">
            <a:r>
              <a:t>magi: https://huggingface.co/sand-ai/MAGI-2-preview</a:t>
            </a:r>
          </a:p>
          <a:p xmlns:a="http://schemas.openxmlformats.org/drawingml/2006/main">
            <a:r>
              <a:t>cog: https://huggingface.co/zai-org/CogVideoX-2b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07fd005ef48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a9710f5edc43b5" /><Relationship Type="http://schemas.openxmlformats.org/officeDocument/2006/relationships/slideLayout" Target="/ppt/slideLayouts/slideLayout1.xml" Id="Rc96ea6f4780b4f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6ea6f4780b4f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ecc6ee3654a80" /><Relationship Type="http://schemas.openxmlformats.org/officeDocument/2006/relationships/image" Target="/ppt/media/image.jpeg" Id="R49c0f057423a47b5" /><Relationship Type="http://schemas.openxmlformats.org/officeDocument/2006/relationships/notesSlide" Target="/ppt/notesSlides/notesSlide1.xml" Id="R33c98a624e7544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5e12aa8304aa0" /><Relationship Type="http://schemas.openxmlformats.org/officeDocument/2006/relationships/notesSlide" Target="/ppt/notesSlides/notesSlide2.xml" Id="Re9bf3c2d540a46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9d3faeb9148cd" /><Relationship Type="http://schemas.openxmlformats.org/officeDocument/2006/relationships/notesSlide" Target="/ppt/notesSlides/notesSlide3.xml" Id="Rc88866868b8d41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46390035a45a5" /><Relationship Type="http://schemas.openxmlformats.org/officeDocument/2006/relationships/notesSlide" Target="/ppt/notesSlides/notesSlide4.xml" Id="R954f67b0a40e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e664a77174d36" /><Relationship Type="http://schemas.openxmlformats.org/officeDocument/2006/relationships/notesSlide" Target="/ppt/notesSlides/notesSlide5.xml" Id="R474ca10e82374e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5921e34a14f73" /><Relationship Type="http://schemas.openxmlformats.org/officeDocument/2006/relationships/notesSlide" Target="/ppt/notesSlides/notesSlide6.xml" Id="R507a3781f54449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354e979cd483c" /><Relationship Type="http://schemas.openxmlformats.org/officeDocument/2006/relationships/notesSlide" Target="/ppt/notesSlides/notesSlide7.xml" Id="R6509eb0b31744b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b7896626643f7" /><Relationship Type="http://schemas.openxmlformats.org/officeDocument/2006/relationships/notesSlide" Target="/ppt/notesSlides/notesSlide8.xml" Id="R682d5d474fec4e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e86c765824b05" /><Relationship Type="http://schemas.openxmlformats.org/officeDocument/2006/relationships/notesSlide" Target="/ppt/notesSlides/notesSlide9.xml" Id="Rda2ca47ea98b40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9bed33cf1451d" /><Relationship Type="http://schemas.openxmlformats.org/officeDocument/2006/relationships/notesSlide" Target="/ppt/notesSlides/notesSlide10.xml" Id="R26993ff43a3349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865ac41ad4dde" /><Relationship Type="http://schemas.openxmlformats.org/officeDocument/2006/relationships/notesSlide" Target="/ppt/notesSlides/notesSlide11.xml" Id="R9ef3711fb0e649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0383315aa46ce" /><Relationship Type="http://schemas.openxmlformats.org/officeDocument/2006/relationships/image" Target="/ppt/media/image2.jpeg" Id="Rb8aeafd3677e4f48" /><Relationship Type="http://schemas.openxmlformats.org/officeDocument/2006/relationships/notesSlide" Target="/ppt/notesSlides/notesSlide12.xml" Id="R38abced9e07748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54e9e583546a6" /><Relationship Type="http://schemas.openxmlformats.org/officeDocument/2006/relationships/notesSlide" Target="/ppt/notesSlides/notesSlide13.xml" Id="R9353e593acdd4b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5a96163034232" /><Relationship Type="http://schemas.openxmlformats.org/officeDocument/2006/relationships/hyperlink" Target="https://docs.vllm.ai/projects/ascend/en/latest/tutorials/models/DeepSeek-V4-Pro.html" TargetMode="External" Id="Rdb9102ac6e58468f" /><Relationship Type="http://schemas.openxmlformats.org/officeDocument/2006/relationships/hyperlink" Target="https://huggingface.co/FlagRelease/Qwen3.8-Flash-Next-BF16-ascend-FlagOS" TargetMode="External" Id="R96dd417428b04705" /><Relationship Type="http://schemas.openxmlformats.org/officeDocument/2006/relationships/hyperlink" Target="https://docs.ultralytics.com/models/yolo26/" TargetMode="External" Id="R09d6bf850e694566" /><Relationship Type="http://schemas.openxmlformats.org/officeDocument/2006/relationships/hyperlink" Target="https://huggingface.co/Lightricks/LTX-2.5" TargetMode="External" Id="R477fea3aadab4373" /><Relationship Type="http://schemas.openxmlformats.org/officeDocument/2006/relationships/hyperlink" Target="https://huggingface.co/docs/huggingface_hub/guides/cli" TargetMode="External" Id="R3997d7c2b6be43cd" /><Relationship Type="http://schemas.openxmlformats.org/officeDocument/2006/relationships/notesSlide" Target="/ppt/notesSlides/notesSlide14.xml" Id="Rac24698a877444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8694C-8FA3-41B4-940B-1D2012C7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rPr>
              <a:t>GPU / NPU 租赁调研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D20AA-9ECE-49AB-AB51-1C48D56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"/>
            <a:ext cx="1095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硬件配置与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模型部署可行性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080E1-00A5-46E6-AA86-85E549A1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rPr>
              <a:t>2 台 × 8 卡 910B    /    4–6 台 × 8 卡 T4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0f057423a47b5"/>
          <a:stretch xmlns:a="http://schemas.openxmlformats.org/drawingml/2006/main"/>
        </p:blipFill>
        <p:spPr>
          <a:xfrm xmlns:a="http://schemas.openxmlformats.org/drawingml/2006/main">
            <a:off x="0" y="3781425"/>
            <a:ext cx="121920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4AF27-EB2C-4675-9860-840A45D7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  硬件配置清单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FADA0-4533-44F2-A201-E12AA684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  模型适配结论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3E1F4-1C83-4F2C-A736-89452073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  判断模型适配方法论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5A7FD-7310-46AA-99E6-7364FEE9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rPr>
              <a:t>调研修订版  ·  2026.09.14  ·  结论按具体权重、软件栈与硬件条件限定</a:t>
            </a:r>
          </a:p>
        </p:txBody>
      </p:sp>
    </p:spTree>
    <p:extLst>
      <p:ext uri="{BB962C8B-B14F-4D97-AF65-F5344CB8AC3E}">
        <p14:creationId xmlns:p14="http://schemas.microsoft.com/office/powerpoint/2010/main" val="561222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A8E59-9263-48D5-8D47-F3D672EA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B2D64-64A0-439A-81D6-BEB71877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1.1  硬件范围与资源池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7B937-A30A-4D3F-9360-1E4F21F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交付范围覆盖服务器、互联、存储、供电散热及管理接入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E867E-6437-4895-9DB8-CD974042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AC0E3-10DD-4AFC-BD76-5287F7E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E5431-8C45-47A8-8FFE-B8F54664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4C80C-1C83-49AF-AFCD-B1841602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统一接入与任务队列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文本 / 检测 / 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272DF-E381-4118-8ED5-34AB4133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3190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910B 池：2 台 × 8 卡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64GB/卡待确认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B50A6-50CA-46BF-BAC9-B9DED4C9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00525"/>
            <a:ext cx="3190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 池：4–6 台 × 8 卡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16GB/卡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2571750"/>
            <a:ext cx="85725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14750" y="2571750"/>
            <a:ext cx="857250" cy="2152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1DF5D-0C30-4760-B4CF-D511C55D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同构跨机互联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HCCL / RDMA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F0048-DD20-4C39-B6B5-34D38C01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00525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独立任务 / 多副本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优先单机分配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62875" y="260032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62875" y="472440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E56F4-FFBB-463F-B949-0BD6AAC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0670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模型仓库 / 输出存储</a:t>
            </a:r>
          </a:p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管理网络 / BMC</a:t>
            </a:r>
          </a:p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机柜 / PDU / 散热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588D5-E8D4-4DE6-8847-4893AF43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标称容量：910B 池 1,024GB；T4 每台 128GB。跨卡、跨机容量需要软件显式分片。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82F38-B646-41EC-93D3-03888103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架构为本项目方案；硬件参考：Huawei Atlas 800I A2、NVIDIA T4。异构资源池分别运行模型实例</a:t>
            </a:r>
          </a:p>
        </p:txBody>
      </p:sp>
    </p:spTree>
    <p:extLst>
      <p:ext uri="{BB962C8B-B14F-4D97-AF65-F5344CB8AC3E}">
        <p14:creationId xmlns:p14="http://schemas.microsoft.com/office/powerpoint/2010/main" val="337271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0CC3A-B39E-4599-ADD8-4197A2F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AE9D0-B46C-4F91-8EF5-F816B4CD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1.2  单台服务器硬件清单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B4670-902D-42EB-AD66-5822F5BF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以下是完整租赁 BOM 的询价起点；主机配置为建议值，按最终模型修订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B7D11-916E-4611-ACE1-E6A78F36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B78E1-8978-463D-ADB0-5BADFF4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79FD6-A9BF-4D6F-BC48-3523FE21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03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5025"/>
                <a:gridCol w="4438650"/>
                <a:gridCol w="45053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硬件项目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910B：每台，合计 2 台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T4：每台，合计 4–6 台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加速卡与承载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64GB；配套板卡互联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16GB；足量 PCIe 插槽 / 转接板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ECC 内存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厂家配套 CPU；1–2TB RAM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32–64 物理核；256–512GB RAM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× 960GB SSD，RAID1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× 960GB SSD，RAID1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模型与缓存盘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NVMe 可用容量 8TB 起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NVMe 可用容量 4TB 起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网卡 / 管理口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NPU RDMA；业务口；BMC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双口 25GbE；独立 BMC 管理口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 / 电源 / 散热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完整机箱、导轨、冗余 PSU、风扇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支持 8 张被动散热卡的整机风道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5C71E-B89D-4BF8-856F-1C666009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容量均需以可用容量交付；系统盘 RAID1 不等于两块容量相加。参考：Huawei / NVIDIA；RAM、磁盘为项目建议</a:t>
            </a:r>
          </a:p>
        </p:txBody>
      </p:sp>
    </p:spTree>
    <p:extLst>
      <p:ext uri="{BB962C8B-B14F-4D97-AF65-F5344CB8AC3E}">
        <p14:creationId xmlns:p14="http://schemas.microsoft.com/office/powerpoint/2010/main" val="1822921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7727C-F6D2-4153-B559-FFFFABAD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16A16-5196-413B-AA7C-355453B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1.3  集群配套与最终交付环境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F5CE2-A9A9-4210-AD3E-C3073D95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租赁合同应包含可运行的软件环境与对应硬件，不只交付可登录的裸机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5B55C-0D8F-4EA4-915C-A95ED68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D7ED9-877F-417C-94AF-34BD2BD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B0C6F-2915-414A-82CA-F962556D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04 / 14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86868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配套硬件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接口 / 交付要求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互联网络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按整机 RDMA 端口配齐交换机、AOC 或光模块与光纤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若每台 8 × 200GE：共 16 条接入链路，交换容量同步核验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业务与管理网络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双口 25G 共 8–12 个接入口；BMC 共 6–8 个接入口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补齐上联、网线、IP、路由；已有设备可复用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共享存储与机房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模型镜像与输出存储、备份目标；容量按留存量计算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机柜空间、导轨、双路供电 / PDU、散热与远程控制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6DD1C-4A93-49F1-AF6D-5E5FC4A0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910B 交付栈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9C864-B357-42AF-9898-6A21BF9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53244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Linux + 驱动 / 固件 + CANN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模型专用容器、HCCL / RDMA、设备权限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48148-F5E4-424A-A45D-678E45BC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29125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T4 交付栈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62B3D-BBF8-4501-AA01-FC73808F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67275"/>
            <a:ext cx="5124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Linux + NVIDIA 驱动 + CUDA 容器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Transformers / TensorRT / Diffusers 按任务固定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3E6AE-1BE3-4EDC-9D1E-C571ACFE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每套环境记录镜像 digest、框架 commit、依赖锁文件和启动脚本；不同模型可使用不同容器</a:t>
            </a:r>
          </a:p>
        </p:txBody>
      </p:sp>
    </p:spTree>
    <p:extLst>
      <p:ext uri="{BB962C8B-B14F-4D97-AF65-F5344CB8AC3E}">
        <p14:creationId xmlns:p14="http://schemas.microsoft.com/office/powerpoint/2010/main" val="333872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27F7B-13F4-45E4-A7D4-D06F01DD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25B4C-869D-4E6C-BD4E-344EFE8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2.1  模型适配结论总表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D43F7-449E-41A8-8552-377B13B6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“官方已验证”“可进入验证”“当前原版不适配”采用不同证据标准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0882F-A3C1-4523-B12B-3AF8E27A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E02DD-68B4-41C5-ABCE-58E33095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5C473-193C-45D0-8E5C-0A11EAB5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05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5725"/>
                <a:gridCol w="2181225"/>
                <a:gridCol w="4972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 / 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结论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决定结论的证据或缺口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 910B · GLM-5.3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双机未确认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W8A8C8 官方参考 4 台 A2；双机需新验证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 910B · DeepSeek-V4-Pro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不满足官方配方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W4A8 已要求至少 4 台 A2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 910B · Qwen3.8-Flash-Next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有适配，拓扑待核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FlagOS 有昇腾实现；未证明双机 8 卡 910B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· Qwen3.8-27B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可进入 PoC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+ PyTorch 回退；数值与逐卡峰值待测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· YOLO26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T4 已验证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官方提供 T4 TensorRT 10 检测测试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· LTX-2.5 / MAGI-2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不作生产承诺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前者缺 T4 完整证据；后者要求 Hopper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5E934-B58B-4488-B1C7-465E9884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范围：910B 按 64GB/卡；均未在本项目租赁机实测。Qwen 云端 Flash 对应的公开权重为 Flash-Next</a:t>
            </a:r>
          </a:p>
        </p:txBody>
      </p:sp>
    </p:spTree>
    <p:extLst>
      <p:ext uri="{BB962C8B-B14F-4D97-AF65-F5344CB8AC3E}">
        <p14:creationId xmlns:p14="http://schemas.microsoft.com/office/powerpoint/2010/main" val="1647558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5AE32-DDB7-487F-9951-BC38DE69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43071-8ED8-403B-B450-74322A29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2.2  双机 910B：精度、框架与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8DC2D-C8F3-46A1-9E6B-DB343AEC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量化必须有对应权重格式和执行实现；更低比特不自动等于可部署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781B9-2195-4A16-ABFB-E95DF383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0BA69-CF21-4D2C-BA92-C3EC9A70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9DE2D-C655-4FD2-B391-65325F4E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06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05075"/>
                <a:gridCol w="4438650"/>
                <a:gridCol w="41052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已查到的执行路径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8 卡 910B 的判断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753B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约 1,506GB，双机装不下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W8A8C8；vLLM-Ascend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官方参考 4 A2，标为实验性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 理想权重约 753GB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容量可能，但运行余量 / 拓扑待证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未找到双机 W4 完整配方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DeepSeek-V4-Pro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1.6T / 激活 49B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原权重 FP4 / FP8 不等于 INT4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专用 W4A8 + 对应算子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官方要求至少 4 A2 或 2 A3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理想全 4bit 已约 800GB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且另有非量化模块与运行开销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A2 不满足该配方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完整约 180B 起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仓库 + 定制 SGLang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FlagGems / CANN / NPU GMM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示例运行时 MoE 启用 W8A16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粗估约 360GB 起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示例单机 16 设备，TP4 / DP4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缺双机 910B 同拓扑验证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2250C-F34B-4D4B-ABAA-CF2C09B4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双机方案可先做 Flash-Next 验证；GLM 与 DeepSeek 需供应商提供同配置运行证据。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EB232-BD32-4339-9E81-B3E97145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来源：官方模型卡、vLLM-Ascend GLM5.3 / DeepSeek-V4-Pro 教程、FlagRelease 昇腾适配卡</a:t>
            </a:r>
          </a:p>
        </p:txBody>
      </p:sp>
    </p:spTree>
    <p:extLst>
      <p:ext uri="{BB962C8B-B14F-4D97-AF65-F5344CB8AC3E}">
        <p14:creationId xmlns:p14="http://schemas.microsoft.com/office/powerpoint/2010/main" val="1986462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A0ACF-EC75-48D4-A85C-581D6A00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01BF8-6519-4C57-88D5-2AD78D92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2.3  T4：27B 文本推理与 YOLO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64062-126A-431F-8114-B19A86BE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同一台 8 卡服务器按任务切分；模型层分配与多副本是不同方式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85E29-4D03-4015-88C1-BDB113B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4C28F-D80A-42B1-8AB0-467E4BBF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0198B-7988-4E81-8A68-314F3D2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07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41A0D-1D7E-4C06-964A-0C7D8D46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535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Qwen3.8-27B：单机 8 卡 PoC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25BE6-258B-4EF2-9E48-6841A5AB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5353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FP16 权重约 56GB，先用短输入、并发 1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Transformers + Accelerate 分配模型层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attention 用 eager，GDN 用 PyTorch 回退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FBD7C-20FB-4290-8459-E77E493D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仍需通过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05CA4-F507-403F-BC2B-1CC1A423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53244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FP16 无溢出；全部算子支持 SM75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逐卡峰值、生成质量及实际速度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“device_map”分层不是高效张量并行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367E7-7494-4E19-898D-AEBE7215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71675"/>
            <a:ext cx="510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YOLO26：官方 T4 路径可采用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33370-AAE1-4304-900F-12C917AC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81275"/>
            <a:ext cx="22288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视频帧 / 图片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解码与预处理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FC628-2A60-489D-A930-21DBA3D9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81275"/>
            <a:ext cx="22764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 / TensorRT 10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YOLO26s FP16</a:t>
            </a:r>
          </a:p>
        </p:txBody>
      </p:sp>
      <p:cxnSp>
        <p:nvCxnSpPr>
          <p:cNvPr id="3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82050" y="29956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051AC-1271-4E94-94D0-CCBAF008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95725"/>
            <a:ext cx="50387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在目标 T4 导出 engine，640 输入起测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按单卡实例扩展，检测不需要 8 卡 TP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INT8 另需代表性校准集和质量回归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F2664-B4CF-414C-A140-B640C9A2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53050"/>
            <a:ext cx="5038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官方同硬件测试 ≠ 本机交付已验收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F71B1-E86F-49E2-8C35-239E795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来源：Qwen 官方模型卡、Transformers qwen3_5 源码；Ultralytics YOLO26 与 TensorRT 集成文档</a:t>
            </a:r>
          </a:p>
        </p:txBody>
      </p:sp>
    </p:spTree>
    <p:extLst>
      <p:ext uri="{BB962C8B-B14F-4D97-AF65-F5344CB8AC3E}">
        <p14:creationId xmlns:p14="http://schemas.microsoft.com/office/powerpoint/2010/main" val="524435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9B7C8-7E81-4FF8-9631-C9F1C325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CB0C5-AD0C-4CE5-84F1-B8D45071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2.4  T4 与最新开源视频模型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0CA38-D0F3-4319-8FC3-6E7E706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截至调研日，以已公开权重的 LTX-2.5、MAGI-2-preview 为近期代表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FE35C-2E0F-4E84-BBD9-A7E565CF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B491A-3AD1-446E-B16B-3D543643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15D22-D73E-4452-A1A9-1732F146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08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4762500"/>
                <a:gridCol w="38385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官方执行条件 / 障碍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决策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LTX-2.5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22B 视频模型 + 12B 文本编码器等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主路径，低显存路径含 FP8 / 卸载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 SDPA 回退，但没有完整 T4 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不作为首批交付承诺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卸载只缓解容量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转换仍需算子与质量验证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MAGI-2-preview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114B MoE，激活 6B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官方要求 8 张 NVIDIA Hopper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 MagiAttention / MagiCompiler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当前原版路径不适配 T4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增加 T4 数量不能满足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Hopper 专用执行要求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CogVideoX-2B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较旧的备选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官方推荐 FP16；Diffusers 路径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模型卡提到量化可在 Colab T4 运行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卸载 + VAE 切片 / 分块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可作为 T4 视频 PoC 备选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不是“最新模型”的替代证明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时长、画质和速度需实测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1E492-74AC-444D-BD4B-9F5693AF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81650"/>
            <a:ext cx="1099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F4A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F4A45"/>
                </a:solidFill>
                <a:latin typeface="Arial Unicode MS"/>
                <a:ea typeface="Arial Unicode MS"/>
                <a:cs typeface="Arial Unicode MS"/>
              </a:rPr>
              <a:t>若“最新视频模型”是硬性目标，应单独租赁其官方支持的 GPU 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81498-2B05-4A20-8C61-94EABB22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来源：Lightricks LTX-2.5 / LTX-2；Sand AI MAGI-2-preview；Z.ai CogVideoX-2b 官方模型卡</a:t>
            </a:r>
          </a:p>
        </p:txBody>
      </p:sp>
    </p:spTree>
    <p:extLst>
      <p:ext uri="{BB962C8B-B14F-4D97-AF65-F5344CB8AC3E}">
        <p14:creationId xmlns:p14="http://schemas.microsoft.com/office/powerpoint/2010/main" val="15996107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A38E7-7E15-4811-AD51-110F13E5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F4957-3E56-48FB-A9F1-22A132E1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3.1  适配判断的完整逻辑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3E0DD-88A7-49FB-A271-6D3543E0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结论必须绑定：权重版本 × 软件栈 × 硬件拓扑 × 工作负载 × 质量要求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3EA7F-CF6D-4797-8765-8C3342DE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E3BA4-7781-4552-96B2-37BA322D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2B98C-FFCC-4B39-8D8D-ED1038D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09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BE7EF-C150-4CB6-A06F-0351B3D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模型文件完整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架构可识别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B4F9C-06D2-400C-8177-A34B04EA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精度与全部算子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支持目标芯片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36A45-7CB4-44DB-A54B-61ED034A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逐卡峰值满足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分片与通信可行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F3362-1B1A-46AE-B5C8-E58157E6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190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主机资源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与输入输出完整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4325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9600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4875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7EBFC-D03C-4480-86DC-D73B62C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86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以上条件全部通过（AND）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8E44A-08FE-4848-B137-DC1A7146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静态合格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允许进入实机验证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B04DC-96E7-489E-A3A6-09BFE292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真实权重生成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质量与负载测试通过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D672B-EB83-4675-A1A7-566A4DE9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8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限定配置下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已验证可部署</a:t>
            </a:r>
          </a:p>
        </p:txBody>
      </p:sp>
      <p:cxnSp>
        <p:nvCxnSpPr>
          <p:cNvPr id="3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29050" y="46101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591425" y="46101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F19E3-3F31-4686-929F-A82794AA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1001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任一条件失败：当前方案不通过。缺少证据：标为待验证。修改精度或硬件后重新检查。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5D634-6D03-4750-B7DB-AA5F2791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逻辑为本项目验收方法；“能下载”“能加载”“能生成”“满足生产负载”分别留证据</a:t>
            </a:r>
          </a:p>
        </p:txBody>
      </p:sp>
    </p:spTree>
    <p:extLst>
      <p:ext uri="{BB962C8B-B14F-4D97-AF65-F5344CB8AC3E}">
        <p14:creationId xmlns:p14="http://schemas.microsoft.com/office/powerpoint/2010/main" val="20919158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81495-B641-4759-B434-210DFCC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DBD0D-B95C-425C-9788-E08776C6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3.2  条件、证据与失败处理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D25E1-DDAF-434E-A107-B71478AE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每一项都必须回答“用什么证明通过”，不以模型名称相近代替兼容性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F47C6-2FF3-4507-86FF-6108A57D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577C2-ABDE-4F0F-AEA2-60E0CCB3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FA78A-3C1A-43F8-BC1C-9E0D91D4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10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4050"/>
                <a:gridCol w="4810125"/>
                <a:gridCol w="43148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通过证据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不通过时的动作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权重与架构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repo / SHA 完整；架构有实现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补齐文件；选择支持该架构的版本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 kernel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逐模块 dtype / quant 格式匹配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 SM / NPU 实现或回退可运行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换后端或转换权重；重新验证数值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逐卡内存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 + 缓存 + 工作区峰值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每个 rank 均低于可用显存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缩减负载 / 改量化 / 增卡后重算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并行与通信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 / EP / 分层合法；映射明确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设备拓扑、跨机通信测试通过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改分片；补齐互联；拒绝套用 A3 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主机与输出链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RAM / 磁盘满足加载与卸载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tokenizer / VAE / 解码等组件齐全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补资源或组件；生成完整目标输出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质量与服务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样本回归与目标负载测试达标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定位并重测；未达标不作为生产交付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BB232-4643-46C1-862B-570BCFF7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证据固定到实际版本：模型 revision、容器 digest、框架 commit、驱动与 CANN / CUDA 版本</a:t>
            </a:r>
          </a:p>
        </p:txBody>
      </p:sp>
    </p:spTree>
    <p:extLst>
      <p:ext uri="{BB962C8B-B14F-4D97-AF65-F5344CB8AC3E}">
        <p14:creationId xmlns:p14="http://schemas.microsoft.com/office/powerpoint/2010/main" val="1458357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A4F50-385A-4248-9F42-77A2F2B3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DEF73-F427-4481-B222-FD03A050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3.3  显存与精度的计算边界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EC086-CA20-49CF-AA61-0423864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模型适配使用逐卡运行峰值；总显存和平均分配只能做第一轮筛选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2A173-B41B-40B2-B649-0D0917DA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BAAC7-95F9-41BF-936C-A9FE0D1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BCE68-6E06-44DF-B3DA-CCA50064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11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B0BFE-B725-4FFD-9834-020B866A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991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每个 rank 的峰值 = 权重 + KV / 状态 + 激活 / 工作区 + 通信 / 图缓存 + 余量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3019425"/>
          <a:ext xmlns:a="http://schemas.openxmlformats.org/drawingml/2006/main" cx="110490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86010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计算环节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具体做法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读取实际张量 dtype 与量化配置；按实际分片归属求和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加入未量化模块、scale / zero-point、复制的 embedding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缓存与运行开销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按上下文、并发、图像尺寸或视频帧数估算，再实测峰值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GDN / MLA 等按实现计算，不直接套通用 KV 公式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精度匹配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“INT4 权重 + FP16 激活”与“FP4 + FP8”是不同路径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硬件、框架、打包格式、kernel 必须同时匹配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ED3F4-28B8-4C95-B221-FA6288C7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963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示例：DeepSeek-V4-Pro 理想全 4bit ≈ 800GB ＜ 双机 1,024GB</a:t>
            </a:r>
          </a:p>
          <a:p xmlns:a="http://schemas.openxmlformats.org/drawingml/2006/main">
            <a:pPr algn="l">
              <a:def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但官方 W4A8 仍要求至少 4 A2，因此不能由这个不等式推出双机可部署。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109D5-BCCA-43E4-B117-C02F00A8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参数量 × bit / 8 仅为权重粗估，采用十进制 GB。来源：DeepSeek 官方模型卡及 Ascend 专用部署教程</a:t>
            </a:r>
          </a:p>
        </p:txBody>
      </p:sp>
    </p:spTree>
    <p:extLst>
      <p:ext uri="{BB962C8B-B14F-4D97-AF65-F5344CB8AC3E}">
        <p14:creationId xmlns:p14="http://schemas.microsoft.com/office/powerpoint/2010/main" val="9087107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93549-F846-4F90-9CD0-82F8A69A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8A67E-7109-4D94-9BB9-CA5F81FA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3.4  Hugging Face 到完整输出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CE46D-E526-48B9-BC14-9182EF4A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每一步产生可保存的交付物；成功加载后仍需验证真实输出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D323-3FF3-4CC1-B52D-8C0F46C5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CD3C0-A49D-4782-A406-6981AE9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7F844-6E2D-416A-91AC-BFB8F98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12 / 14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eafd3677e4f48"/>
          <a:stretch xmlns:a="http://schemas.openxmlformats.org/drawingml/2006/main"/>
        </p:blipFill>
        <p:spPr>
          <a:xfrm xmlns:a="http://schemas.openxmlformats.org/drawingml/2006/main">
            <a:off x="575204" y="1971675"/>
            <a:ext cx="5317067" cy="2990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E721A-0994-48C6-A09F-CAAE4A6A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30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官方模型页：模型身份与文件入口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C58F4-149D-4C08-92BC-B92BE9F1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76595-1458-46B4-9DBE-C9467A2B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2405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锁定与下载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8C8CD-D82F-4038-ADB0-0A89727F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6695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保存 repo / SHA；完整 snapshot 与索引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C1692-A146-4992-AF9E-84D8BAC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95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9A68A-98B7-41EB-A033-99449790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9557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静态审核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8F693-E9B3-4C99-B296-C21194FD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38475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精度、kernel、内存、拓扑条件逐项过关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5033C-2C70-4E28-A750-AE836BF8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466E0-D8D8-445C-A106-9B0E33B0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6710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固定环境并启动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DD4E1-8442-41E7-9A00-252F6C62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100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镜像 digest、依赖锁、设备映射与命令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603CA-A7C6-4A51-BE54-C1158DD1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38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45BEF-FB95-4C03-8D50-04D05CD3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3862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真实样本生成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06556-8C1D-4D9F-8F8E-2848F64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581525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文本 / 检测框 / 可播放视频；检查有限值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A4DDC-5B33-414A-A66C-F34EEFE3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0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1AD97-BA2E-490C-9A00-7B2F16B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1015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回归与负载验收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EB064-78E2-4390-80D6-DD17F57C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5305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质量基线、逐卡峰值、延迟及稳定性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2D1B0-5B13-462D-9828-CD2A3A43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截图：Qwen3.8-27B 官方 Hugging Face 仓库。下载与执行示例、证据模板见配套大纲</a:t>
            </a:r>
          </a:p>
        </p:txBody>
      </p:sp>
    </p:spTree>
    <p:extLst>
      <p:ext uri="{BB962C8B-B14F-4D97-AF65-F5344CB8AC3E}">
        <p14:creationId xmlns:p14="http://schemas.microsoft.com/office/powerpoint/2010/main" val="1888860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F95BB-1E01-4AF1-BBD0-F199A42C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0D602-7EED-452A-B7E5-64D7F7D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3.5  三个实例的推导结果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D42E1-233C-42E4-9580-4E02D753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同一套逻辑可以得到通过、待验证或不通过，而非统一给出“能跑”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938A0-FE5A-4D2A-9936-C08AC26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A24A2-3B82-4334-B17B-145B41F0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6DE46-EAB2-49DD-B1F9-12BAE155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13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90725"/>
                <a:gridCol w="2905125"/>
                <a:gridCol w="3114675"/>
                <a:gridCol w="30384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判断条件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YOLO26s / T4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 / 8 T4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V4-Pro W4A8 / 2 A2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 / 框架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官方权重与 TensorRT 路径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官方权重与 Transformers 实现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 Ascend 专用量化路径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 / kernel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T4 TensorRT10 测试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/ eager / GDN 回退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完整数值与 SM75 待测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W4A8 不等于原生 FP4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按官方 Ascend 算子配套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 / 拓扑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单卡官方路径有依据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目标输入 / batch 复验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56GB 权重有容量空间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逐卡分层与峰值待实测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未满足参考至少 4 A2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理想 800GB 不是运行峰值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推导结论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官方同硬件可部署路径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交付机器仍需验收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 PoC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不能标“已确认可部署”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当前配方不通过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增至参考硬件或另找证明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B9A1F-6CB4-4553-8818-7E7EC78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91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完整证明 = 固定配置的证据清单 + 可复现启动 + 正确输出 + 目标负载达标。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D9D61-7C35-453A-A038-68FA1415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来源：Ultralytics YOLO26；Transformers qwen3_5；vLLM-Ascend DeepSeek-V4-Pro。未进行本项目实机测试</a:t>
            </a:r>
          </a:p>
        </p:txBody>
      </p:sp>
    </p:spTree>
    <p:extLst>
      <p:ext uri="{BB962C8B-B14F-4D97-AF65-F5344CB8AC3E}">
        <p14:creationId xmlns:p14="http://schemas.microsoft.com/office/powerpoint/2010/main" val="3766964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FE348-C5C4-4B85-B0C1-E9ECD2B8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11980-BF37-4436-B36B-8FE22CE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3.6  最终验收与资料依据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F7088-F3C0-46A9-8129-7E4F846A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交付结论应写成“某版本模型，在某配置和负载下通过”，保留复现实验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2A2FF-5B09-4EAF-9AEF-9AB1D439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7E9DF-659D-4F8D-ABCD-1C027AC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73651-38AC-4BF3-8A11-BD1FB30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14 / 14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4743450"/>
                <a:gridCol w="44672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必须交付的结果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 / 质量指标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文本生成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真实请求与完整回答；输入 / 输出 Token 计数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TTFT、TPOT、吞吐、错误率、质量回归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检测框 / 类别 / 置信度；固定评估集结果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端到端延迟、FPS、mAP / 召回率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可播放文件；帧数 / 尺寸 / FPS 与随机种子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秒 / 视频、峰值显存、黑帧与画质检查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A4C0D-C7E3-4454-BC63-0F1D7C32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14800"/>
            <a:ext cx="1092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共同证据包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77D7F-6828-4811-AC31-EEEED324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91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硬件与拓扑清单 · 权重 SHA · 环境版本 · 启动脚本 · 原始日志 · 每卡峰值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固定负载测试与重启恢复；持续测试建议至少 1 小时，阈值由业务确认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8A837-FD91-4928-ABF4-AAFBD2FC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b9102ac6e58468f"/>
              </a:rPr>
              <a:t>昇腾配方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E0ED0-D4DE-479E-A6FF-659EC9EA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96dd417428b04705"/>
              </a:rPr>
              <a:t>Flash-Next 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5111E-A211-400D-ABA2-2C270EA1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9d6bf850e694566"/>
              </a:rPr>
              <a:t>YOLO / T4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892D8-E961-4420-B04D-0A8CB7BC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77fea3aadab4373"/>
              </a:rPr>
              <a:t>视频模型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D9067-4BF5-4A28-82BD-8189E23C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997d7c2b6be43cd"/>
              </a:rPr>
              <a:t>模型下载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2E0FE-2DEC-40B2-9F61-65B12C54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公开资料核验日期：2026-09-14。所有来源按页置于演讲者备注；本报告不包含租赁机实际 benchmark</a:t>
            </a:r>
          </a:p>
        </p:txBody>
      </p:sp>
    </p:spTree>
    <p:extLst>
      <p:ext uri="{BB962C8B-B14F-4D97-AF65-F5344CB8AC3E}">
        <p14:creationId xmlns:p14="http://schemas.microsoft.com/office/powerpoint/2010/main" val="911146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2026-09-14T11:07:47.1220000Z</dcterms:created>
  <dcterms:modified xsi:type="dcterms:W3CDTF">2026-09-14T11:07:47.1220000Z</dcterms:modified>
</coreProperties>
</file>