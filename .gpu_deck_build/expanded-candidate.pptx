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372aa9b70e4bd9" /><Relationship Type="http://schemas.openxmlformats.org/officeDocument/2006/relationships/extended-properties" Target="/docProps/app.xml" Id="R72aaabf200564915" /><Relationship Type="http://schemas.openxmlformats.org/officeDocument/2006/relationships/officeDocument" Target="/ppt/presentation.xml" Id="R35818d5ca2c7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ba07fbc9d4f6c"/>
  </p:sldMasterIdLst>
  <p:notesMasterIdLst>
    <p:notesMasterId xmlns:r="http://schemas.openxmlformats.org/officeDocument/2006/relationships" r:id="Rd0b85611170347a9"/>
  </p:notesMasterIdLst>
  <p:sldIdLst>
    <p:sldId xmlns:r="http://schemas.openxmlformats.org/officeDocument/2006/relationships" id="256" r:id="R7e4b24540fe64a1c"/>
    <p:sldId xmlns:r="http://schemas.openxmlformats.org/officeDocument/2006/relationships" id="257" r:id="R54e8d7ca723e4012"/>
    <p:sldId xmlns:r="http://schemas.openxmlformats.org/officeDocument/2006/relationships" id="258" r:id="Reb3e246c93674b8a"/>
    <p:sldId xmlns:r="http://schemas.openxmlformats.org/officeDocument/2006/relationships" id="259" r:id="Rdae6651942364ce4"/>
    <p:sldId xmlns:r="http://schemas.openxmlformats.org/officeDocument/2006/relationships" id="260" r:id="R5152bac17cc84a6f"/>
    <p:sldId xmlns:r="http://schemas.openxmlformats.org/officeDocument/2006/relationships" id="261" r:id="R377e12dd61a94830"/>
    <p:sldId xmlns:r="http://schemas.openxmlformats.org/officeDocument/2006/relationships" id="262" r:id="R50d7d705c47b4875"/>
    <p:sldId xmlns:r="http://schemas.openxmlformats.org/officeDocument/2006/relationships" id="263" r:id="Rb40d142dbb424313"/>
    <p:sldId xmlns:r="http://schemas.openxmlformats.org/officeDocument/2006/relationships" id="264" r:id="R793fbda4d2284d3e"/>
    <p:sldId xmlns:r="http://schemas.openxmlformats.org/officeDocument/2006/relationships" id="265" r:id="R9228ad7a541c4069"/>
    <p:sldId xmlns:r="http://schemas.openxmlformats.org/officeDocument/2006/relationships" id="266" r:id="R161d7e17bbb147ee"/>
    <p:sldId xmlns:r="http://schemas.openxmlformats.org/officeDocument/2006/relationships" id="267" r:id="Rff4297da927e4df2"/>
    <p:sldId xmlns:r="http://schemas.openxmlformats.org/officeDocument/2006/relationships" id="268" r:id="Rfc6c7dfe770346ad"/>
    <p:sldId xmlns:r="http://schemas.openxmlformats.org/officeDocument/2006/relationships" id="269" r:id="R171e756f1ab740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5ee5e80731472f" /><Relationship Type="http://schemas.openxmlformats.org/officeDocument/2006/relationships/slideMaster" Target="/ppt/slideMasters/slideMaster1.xml" Id="Rcb0ba07fbc9d4f6c" /><Relationship Type="http://schemas.openxmlformats.org/officeDocument/2006/relationships/notesMaster" Target="/ppt/notesMasters/notesMaster1.xml" Id="Rd0b85611170347a9" /><Relationship Type="http://schemas.openxmlformats.org/officeDocument/2006/relationships/presProps" Target="/ppt/presProps.xml" Id="Re2ff038192db4682" /><Relationship Type="http://schemas.openxmlformats.org/officeDocument/2006/relationships/tableStyles" Target="/ppt/tableStyles.xml" Id="R3dbb761985ad4980" /><Relationship Type="http://schemas.openxmlformats.org/officeDocument/2006/relationships/slide" Target="/ppt/slides/slide1.xml" Id="R7e4b24540fe64a1c" /><Relationship Type="http://schemas.openxmlformats.org/officeDocument/2006/relationships/slide" Target="/ppt/slides/slide2.xml" Id="R54e8d7ca723e4012" /><Relationship Type="http://schemas.openxmlformats.org/officeDocument/2006/relationships/slide" Target="/ppt/slides/slide3.xml" Id="Reb3e246c93674b8a" /><Relationship Type="http://schemas.openxmlformats.org/officeDocument/2006/relationships/slide" Target="/ppt/slides/slide4.xml" Id="Rdae6651942364ce4" /><Relationship Type="http://schemas.openxmlformats.org/officeDocument/2006/relationships/slide" Target="/ppt/slides/slide5.xml" Id="R5152bac17cc84a6f" /><Relationship Type="http://schemas.openxmlformats.org/officeDocument/2006/relationships/slide" Target="/ppt/slides/slide6.xml" Id="R377e12dd61a94830" /><Relationship Type="http://schemas.openxmlformats.org/officeDocument/2006/relationships/slide" Target="/ppt/slides/slide7.xml" Id="R50d7d705c47b4875" /><Relationship Type="http://schemas.openxmlformats.org/officeDocument/2006/relationships/slide" Target="/ppt/slides/slide8.xml" Id="Rb40d142dbb424313" /><Relationship Type="http://schemas.openxmlformats.org/officeDocument/2006/relationships/slide" Target="/ppt/slides/slide9.xml" Id="R793fbda4d2284d3e" /><Relationship Type="http://schemas.openxmlformats.org/officeDocument/2006/relationships/slide" Target="/ppt/slides/slide10.xml" Id="R9228ad7a541c4069" /><Relationship Type="http://schemas.openxmlformats.org/officeDocument/2006/relationships/slide" Target="/ppt/slides/slide11.xml" Id="R161d7e17bbb147ee" /><Relationship Type="http://schemas.openxmlformats.org/officeDocument/2006/relationships/slide" Target="/ppt/slides/slide12.xml" Id="Rff4297da927e4df2" /><Relationship Type="http://schemas.openxmlformats.org/officeDocument/2006/relationships/slide" Target="/ppt/slides/slide13.xml" Id="Rfc6c7dfe770346ad" /><Relationship Type="http://schemas.openxmlformats.org/officeDocument/2006/relationships/slide" Target="/ppt/slides/slide14.xml" Id="R171e756f1ab740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a451edbd5e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988d9ce524fdd" /><Relationship Type="http://schemas.openxmlformats.org/officeDocument/2006/relationships/notesMaster" Target="/ppt/notesMasters/notesMaster1.xml" Id="R96f1e01a4169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c9a15510e4b0f" /><Relationship Type="http://schemas.openxmlformats.org/officeDocument/2006/relationships/notesMaster" Target="/ppt/notesMasters/notesMaster1.xml" Id="R906ab03fde58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77e96ff1ad4241" /><Relationship Type="http://schemas.openxmlformats.org/officeDocument/2006/relationships/notesMaster" Target="/ppt/notesMasters/notesMaster1.xml" Id="R6a11d1cccdb646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699f92c164aea" /><Relationship Type="http://schemas.openxmlformats.org/officeDocument/2006/relationships/notesMaster" Target="/ppt/notesMasters/notesMaster1.xml" Id="R3d7478d3508948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79fe06bc0849f5" /><Relationship Type="http://schemas.openxmlformats.org/officeDocument/2006/relationships/notesMaster" Target="/ppt/notesMasters/notesMaster1.xml" Id="R3485f616aab747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291dc76a394db2" /><Relationship Type="http://schemas.openxmlformats.org/officeDocument/2006/relationships/notesMaster" Target="/ppt/notesMasters/notesMaster1.xml" Id="Rc1503113246c43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66ab0b4c049ec" /><Relationship Type="http://schemas.openxmlformats.org/officeDocument/2006/relationships/notesMaster" Target="/ppt/notesMasters/notesMaster1.xml" Id="R233fea20e94744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e4ce97793d4a92" /><Relationship Type="http://schemas.openxmlformats.org/officeDocument/2006/relationships/notesMaster" Target="/ppt/notesMasters/notesMaster1.xml" Id="Ra45bb43d069a42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57306cdf044e58" /><Relationship Type="http://schemas.openxmlformats.org/officeDocument/2006/relationships/notesMaster" Target="/ppt/notesMasters/notesMaster1.xml" Id="Rd9a5809419034a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b43a84673647a2" /><Relationship Type="http://schemas.openxmlformats.org/officeDocument/2006/relationships/notesMaster" Target="/ppt/notesMasters/notesMaster1.xml" Id="R44a62ff374864c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deb0153b0f49a7" /><Relationship Type="http://schemas.openxmlformats.org/officeDocument/2006/relationships/notesMaster" Target="/ppt/notesMasters/notesMaster1.xml" Id="R5bc33d48c11840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fb5657e72041d4" /><Relationship Type="http://schemas.openxmlformats.org/officeDocument/2006/relationships/notesMaster" Target="/ppt/notesMasters/notesMaster1.xml" Id="Rf90dbbffbff744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b776b73ea04b27" /><Relationship Type="http://schemas.openxmlformats.org/officeDocument/2006/relationships/notesMaster" Target="/ppt/notesMasters/notesMaster1.xml" Id="R9788c580a99442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cb22f4a9e44483" /><Relationship Type="http://schemas.openxmlformats.org/officeDocument/2006/relationships/notesMaster" Target="/ppt/notesMasters/notesMaster1.xml" Id="Rc0442896164443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全篇仅三大部分：第2–4页硬件配置清单；第5–8页模型适配结论；第9–14页判断模型适配方法论。910B按64GB/卡假设，必须向供应商确认。本报告为公开资料与源码核验，没有租赁设备实测。封面图片为NVIDIA T4官方参考图。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台8卡。总服务器6–8台，NPU16张，GPU32–48张。910B按64GB/卡，单机512GB、双机1024GB；T4单机128GB、全池512–768GB。不能把全部T4的容量视为单模型统一显存。逻辑接入可复用已有主机，不要求新增GPU；检测和视频生成的输出不是LLM正文Token，应分别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清单要同时覆盖CPU、主板、ECC DIMM、全部加速卡、板卡内互联/PCIe riser、系统盘及RAID、模型盘、网卡、BMC、机箱、导轨、电源、风扇和电源线。双机910B总RAM2–4TB、本地NVMe可用16TB起；4–6台T4总RAM1–3TB、本地NVMe可用16–24TB起。磁盘按原始权重+转换权重+下载缓存+输出+日志累加；不是显存不足的自动补救。CPU体系结构必须匹配容器。T4为被动散热卡，不能只把卡插入缺少整机风道的主机。8卡PCIe通道与NUMA分布须交付拓扑，不承诺每卡独享CPU直连x16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求所有硬件都新购：交换机、镜像仓库、监控与存储可复用但必须写清资源配额。200GE是配套A2参考拓扑，最终以租赁整机实际NPU端口为准，不能只配一条高速业务网线代替NPU互联。若16条光链路，两端共32只匹配模块与16条光纤；AOC为另一方案，不重复计模块。最终交付包括设备健康、8卡可见、ECC/错误检查、拓扑、通信测试、模型文件权限、监控日志、服务启动与重启恢复。电源按厂家整机最大功耗及机房冗余规划，不把PSU铭牌相加当实际功耗。模型镜像不能混用：GLM/DeepSeek配方vLLM-Ascend v0.23.0；Qwen Flash-Next FlagOS使用另一套定制SGLang环境。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次补充GLM5.3低精度、GLM5.3Flash、DeepSeekV4Flash和MiniMaxM3，保留V4Pro与QwenFlashNext原候选。三个绿色项表示官方框架提供匹配A2硬件的部署路径，不表示本项目实测。GLM5.3Flash的Prerequisites括号64GB×16容易误读，5.2明确2台每台8卡，启动脚本也映射0..7并全局DP2本机TP8且启用EP，应按16卡总数理解。DeepSeekV4Flash和MiniMaxM3单机W8A8配方可用于每台一个模型服务，但不能由此认为所有模型可以同时驻留。T4的Qwen27与YOLO结论见第7页，视频见第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gf: https://docs.vllm.ai/projects/ascend/en/latest/tutorials/models/GLM5.3-Flash.html</a:t>
            </a:r>
          </a:p>
          <a:p xmlns:a="http://schemas.openxmlformats.org/drawingml/2006/main">
            <a:r>
              <a:t>df: https://docs.vllm.ai/projects/ascend/en/latest/tutorials/models/DeepSeek-V4-Flash.html</a:t>
            </a:r>
          </a:p>
          <a:p xmlns:a="http://schemas.openxmlformats.org/drawingml/2006/main">
            <a:r>
              <a:t>mm: https://docs.vllm.ai/projects/ascend/en/latest/tutorials/models/MiniMax-M3.html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GLM5.3低精度仍然纳入调研，W4理想权重约376.5GB只属于容量下界，不证明有Ascend W4权重及kernel；当前找到的是W8A8C8参考4A2。GLM5.3Flash公开约320B总参数/18B激活，低精度来源Eco-Tech/GLM-5.3-Flash-w8a8，A2镜像quay.io/ascend/vllm-ascend:glm-5.3-flash。A2配方每机8设备、DP2/TP8、EP，不能当两份完全独立模型解释，MTP使用eager草稿。DeepSeekV4Flash的W8A8-mtp官方链接Eco-Tech量化仓库，A2传统MTP镜像v0.23.0；0731 DSpark用DeepSeekV4-flash-0731专用A2镜像、至少v0.25.0，教程同时出现nightly字样，优先固定专用镜像digest，禁止混搭权重和旧镜像。MiniMaxM3官方模型卡约428B/23B激活；vLLM-Ascend专用教程v0.27.1明确单A2 W8A8可部署，但示例A3拓扑不可原样照抄，应核实A2的TP/EP与权重配置。W8约428GB只是粗估，文本编码/视觉/缓存与峰值另计。部署适配文档不是每种上下文、并发、模态均保证。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gf: https://docs.vllm.ai/projects/ascend/en/latest/tutorials/models/GLM5.3-Flash.html</a:t>
            </a:r>
          </a:p>
          <a:p xmlns:a="http://schemas.openxmlformats.org/drawingml/2006/main">
            <a:r>
              <a:t>gfm: https://huggingface.co/zai-org/GLM-5.3-Flash</a:t>
            </a:r>
          </a:p>
          <a:p xmlns:a="http://schemas.openxmlformats.org/drawingml/2006/main">
            <a:r>
              <a:t>df: https://docs.vllm.ai/projects/ascend/en/latest/tutorials/models/DeepSeek-V4-Flash.html</a:t>
            </a:r>
          </a:p>
          <a:p xmlns:a="http://schemas.openxmlformats.org/drawingml/2006/main">
            <a:r>
              <a:t>mm: https://docs.vllm.ai/projects/ascend/en/latest/tutorials/models/MiniMax-M3.html</a:t>
            </a:r>
          </a:p>
          <a:p xmlns:a="http://schemas.openxmlformats.org/drawingml/2006/main">
            <a:r>
              <a:t>mmm: https://huggingface.co/MiniMaxAI/MiniMax-M3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4为SM75，缺原生BF16/FP8执行能力；不能照搬新GPU专用FlashAttention/FP8路径。Transformers源码有torch_chunk_gated_delta_rule与torch_recurrent_gated_delta_rule回退，包括关键A_log等float32计算；这提供候选实现，不代替完整T4数值测试。先锁定包含该实现的commit，用FP16、eager attention、不启用可选融合kernel、batch1输入512–1024和输出128测试。检查hf_device_map与每卡峰值，不允许无记录的CPU/disk卸载。YOLO26官方模型页提供T4 TensorRT10检测性能；本报告不把其速度当实际业务速度。最新Ultralytics导出接口可使用quantize=16，目标机导出并锁定依赖版本。INT8另做校准及mAP/召回率回归。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trt: https://docs.ultralytics.com/integrations/tensorrt/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用户要求视频重点转为Wan与HunyuanVideo。Wan2.1-1.3B官方8.19GB和4090速度不可套T4，Diffusers示例默认为BF16，T4无原生BF16/FP8，需评估FP16或必要模块FP32，并检查NaN/黑帧；VAE官方建议FP32。T5等文本编码器可CPU运行或分阶段卸载。普通SDPA数学回退可以避免强制Ampere专用FlashAttention，但可能提高显存和时延，不能沿用原优化配置的内存数字。Wan2.2-5B官方24GB指720P指定卸载命令，存在FSDP+Ulysses多卡实现，不能说完全不支持多卡，但没有T4完整实证。HunyuanVideo1.5的generate.py只接受bf16/fp32，直接加fp16会报错；官方Diffusers默认BF16，低内存14GB不是T4数值/算子证据。可研究Diffusers、普通注意力、分块卸载并关闭专用稀疏/FP8优化，FP32方案还需重算峰值。旧版LTX/MAGI/CogVideo研究留在配套历史说明，本页不以旧模型替代指定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wan: https://github.com/Wan-Video/Wan2.1</a:t>
            </a:r>
          </a:p>
          <a:p xmlns:a="http://schemas.openxmlformats.org/drawingml/2006/main">
            <a:r>
              <a:t>wan2: https://github.com/Wan-Video/Wan2.2</a:t>
            </a:r>
          </a:p>
          <a:p xmlns:a="http://schemas.openxmlformats.org/drawingml/2006/main">
            <a:r>
              <a:t>wand: https://huggingface.co/docs/diffusers/main/en/api/pipelines/wan</a:t>
            </a:r>
          </a:p>
          <a:p xmlns:a="http://schemas.openxmlformats.org/drawingml/2006/main">
            <a:r>
              <a:t>hy: https://github.com/Tencent-Hunyuan/HunyuanVideo-1.5</a:t>
            </a:r>
          </a:p>
          <a:p xmlns:a="http://schemas.openxmlformats.org/drawingml/2006/main">
            <a:r>
              <a:t>hycode: https://github.com/Tencent-Hunyuan/HunyuanVideo-1.5/blob/main/generate.py</a:t>
            </a:r>
          </a:p>
          <a:p xmlns:a="http://schemas.openxmlformats.org/drawingml/2006/main">
            <a:r>
              <a:t>hyd: https://huggingface.co/docs/diffusers/main/en/api/pipelines/hunyuan_video15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集合：A权重与配置完整可获取，B架构与所有必需模块被框架正确识别，C每个算子的dtype/量化格式与芯片及运行库兼容且有实现或已验证回退，D每rank运行峰值小于实际可用显存，E并行切分及通信可行，F主机RAM/磁盘/IO足够且预处理后处理完整。静态资格=A∧B∧C∧D∧E∧F。部署验收=静态资格∧真实权重正确输出∧质量回归∧目标负载稳定运行。任何unknown不能按true处理。通过资料条件只能进入PoC，不能直接声称本机已验证。改量化、kernel、上下文、batch、节点数任一项，都需要重新检查受影响条件并重新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kernel清单至少覆盖attention、GDN/循环状态、MoE路由及GEMM、量化解码、归一化、通信、MTP/视觉/VAE等实际启用模块。量化名相同不代表pack格式、group size、scale dtype、对称性、激活精度或KV精度相同。先核对checkpoint quantization_config和框架后端，再查每种算子的设备实现。合法TP不仅看卡数，要检查头数、专家数、维度整除、复制模块及框架约束。支持多GPU不等于支持任意跨节点拓扑。CPU卸载须计主机内存和PCIe传输，并在目标延迟下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ltxcode: https://github.com/Lightricks/LTX-2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对每rank分别累计W_r+K_r+A_r+C_r+headroom，并与设备实测可用容量比较；特别关注rank0复制组件或视觉编码器集中导致的不均衡。常规GQA KV字节=2×层数×KV头数×head_dim×缓存字节×总缓存token，实际按分片和复制规则修正；该公式不直接适用于GDN、MLA、CSA。MoE激活49B是计算口径，不是只需驻留49B。压低上下文减少KV，但不解决权重布局或缺少kernel。FP16缩小指数范围可能溢出，BF16训练模型转FP16必须质量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quant: https://docs.vllm.ai/en/latest/features/quantization/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先解析模型main当前commit SHA，再snapshot_download指定revision SHA，归档config、索引、tokenizer、generation config、chat template及全部必要组件。记录下载文件清单/大小和校验信息，避免只下一个分片。若量化转换，记录源SHA、校准集、转换工具版本和产物配置。硬件冒烟测试与目标模型验证分开：设备正常并不证明目标架构正常。LLM输入512–1024、输出128、batch1起测，后按业务负载提升；YOLO从640 batch1；视频按官方支持的分辨率/帧数与低内存选项起测。首个Token不是最终交付，生成完整可解释结果并测质量后才进入持续负载。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不是新增模型推荐，而是展示同一判定链的不同结果。YOLO同硬件官方证据覆盖基本执行，生产服务质量和本机配置仍需验收。Qwen27的总容量算术和代码回退只是部分证据，缺失项必须保留待验证状态。DeepSeek双机未达到已公布配方的硬件要求，拒绝用纯权重下界宣称可用；如供应商提供更小配置实现，需要重新核对实际权重、精度、算子、上下文、并发和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最终证据包同时记录硬件设备ID/显存、CPU RAM磁盘、PCIe/NUMA/RDMA拓扑、驱动固件与运行库、镜像digest、框架commit、模型SHA、量化来源、启动参数、代表性输入输出、质量评估、每rank峰值与持续负载。建议至少1小时持续测试不等于覆盖长期可靠性。业务必须给出质量、延迟和并发阈值，未给定前仅报告实测不判定生产达标。完整参考见配套大纲，网页latest与main实施时重新核验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gf: https://docs.vllm.ai/projects/ascend/en/latest/tutorials/models/GLM5.3-Flash.html</a:t>
            </a:r>
          </a:p>
          <a:p xmlns:a="http://schemas.openxmlformats.org/drawingml/2006/main">
            <a:r>
              <a:t>gfm: https://huggingface.co/zai-org/GLM-5.3-Flash</a:t>
            </a:r>
          </a:p>
          <a:p xmlns:a="http://schemas.openxmlformats.org/drawingml/2006/main">
            <a:r>
              <a:t>df: https://docs.vllm.ai/projects/ascend/en/latest/tutorials/models/DeepSeek-V4-Flash.html</a:t>
            </a:r>
          </a:p>
          <a:p xmlns:a="http://schemas.openxmlformats.org/drawingml/2006/main">
            <a:r>
              <a:t>mm: https://docs.vllm.ai/projects/ascend/en/latest/tutorials/models/MiniMax-M3.html</a:t>
            </a:r>
          </a:p>
          <a:p xmlns:a="http://schemas.openxmlformats.org/drawingml/2006/main">
            <a:r>
              <a:t>mmm: https://huggingface.co/MiniMaxAI/MiniMax-M3</a:t>
            </a:r>
          </a:p>
          <a:p xmlns:a="http://schemas.openxmlformats.org/drawingml/2006/main">
            <a:r>
              <a:t>wan: https://github.com/Wan-Video/Wan2.1</a:t>
            </a:r>
          </a:p>
          <a:p xmlns:a="http://schemas.openxmlformats.org/drawingml/2006/main">
            <a:r>
              <a:t>wan2: https://github.com/Wan-Video/Wan2.2</a:t>
            </a:r>
          </a:p>
          <a:p xmlns:a="http://schemas.openxmlformats.org/drawingml/2006/main">
            <a:r>
              <a:t>wand: https://huggingface.co/docs/diffusers/main/en/api/pipelines/wan</a:t>
            </a:r>
          </a:p>
          <a:p xmlns:a="http://schemas.openxmlformats.org/drawingml/2006/main">
            <a:r>
              <a:t>hy: https://github.com/Tencent-Hunyuan/HunyuanVideo-1.5</a:t>
            </a:r>
          </a:p>
          <a:p xmlns:a="http://schemas.openxmlformats.org/drawingml/2006/main">
            <a:r>
              <a:t>hycode: https://github.com/Tencent-Hunyuan/HunyuanVideo-1.5/blob/main/generate.py</a:t>
            </a:r>
          </a:p>
          <a:p xmlns:a="http://schemas.openxmlformats.org/drawingml/2006/main">
            <a:r>
              <a:t>hyd: https://huggingface.co/docs/diffusers/main/en/api/pipelines/hunyuan_video15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trt: https://docs.ultralytics.com/integrations/tensorrt/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ltxcode: https://github.com/Lightricks/LTX-2</a:t>
            </a:r>
          </a:p>
          <a:p xmlns:a="http://schemas.openxmlformats.org/drawingml/2006/main">
            <a:r>
              <a:t>magi: https://huggingface.co/sand-ai/MAGI-2-preview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91cef10a04d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bcec1b6104c13" /><Relationship Type="http://schemas.openxmlformats.org/officeDocument/2006/relationships/slideLayout" Target="/ppt/slideLayouts/slideLayout1.xml" Id="Re5c12ced79b647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12ced79b647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3b75dbb174fbd" /><Relationship Type="http://schemas.openxmlformats.org/officeDocument/2006/relationships/image" Target="/ppt/media/image.jpeg" Id="R7d833c0eb8e44120" /><Relationship Type="http://schemas.openxmlformats.org/officeDocument/2006/relationships/notesSlide" Target="/ppt/notesSlides/notesSlide1.xml" Id="R104fe1ddb03e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add8fe3a847a2" /><Relationship Type="http://schemas.openxmlformats.org/officeDocument/2006/relationships/notesSlide" Target="/ppt/notesSlides/notesSlide2.xml" Id="Rbaa505681ccc4a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eade77a84bdd" /><Relationship Type="http://schemas.openxmlformats.org/officeDocument/2006/relationships/notesSlide" Target="/ppt/notesSlides/notesSlide3.xml" Id="Rfe568c2948de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e7ac230384977" /><Relationship Type="http://schemas.openxmlformats.org/officeDocument/2006/relationships/notesSlide" Target="/ppt/notesSlides/notesSlide4.xml" Id="R70f7aa1f424e47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2e526ad84eea" /><Relationship Type="http://schemas.openxmlformats.org/officeDocument/2006/relationships/notesSlide" Target="/ppt/notesSlides/notesSlide5.xml" Id="Rbf82b78aa5ed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3ea79629940ad" /><Relationship Type="http://schemas.openxmlformats.org/officeDocument/2006/relationships/notesSlide" Target="/ppt/notesSlides/notesSlide6.xml" Id="R8623737b4c7a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830fe64184344" /><Relationship Type="http://schemas.openxmlformats.org/officeDocument/2006/relationships/notesSlide" Target="/ppt/notesSlides/notesSlide7.xml" Id="R35f5916ed62d47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15acbe9d54e47" /><Relationship Type="http://schemas.openxmlformats.org/officeDocument/2006/relationships/notesSlide" Target="/ppt/notesSlides/notesSlide8.xml" Id="R6d5fe3848fc146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3c96c1b304686" /><Relationship Type="http://schemas.openxmlformats.org/officeDocument/2006/relationships/notesSlide" Target="/ppt/notesSlides/notesSlide9.xml" Id="R4f0da35359b445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43d36f1ef4e56" /><Relationship Type="http://schemas.openxmlformats.org/officeDocument/2006/relationships/notesSlide" Target="/ppt/notesSlides/notesSlide10.xml" Id="Recca5cf5f94147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2b48d254940ef" /><Relationship Type="http://schemas.openxmlformats.org/officeDocument/2006/relationships/notesSlide" Target="/ppt/notesSlides/notesSlide11.xml" Id="R06a7da1f37354e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7da9b16464b82" /><Relationship Type="http://schemas.openxmlformats.org/officeDocument/2006/relationships/image" Target="/ppt/media/image2.jpeg" Id="Rdcca3ed3eb114d31" /><Relationship Type="http://schemas.openxmlformats.org/officeDocument/2006/relationships/notesSlide" Target="/ppt/notesSlides/notesSlide12.xml" Id="Ra8f1de0d9dec4c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694a2d1fd438d" /><Relationship Type="http://schemas.openxmlformats.org/officeDocument/2006/relationships/notesSlide" Target="/ppt/notesSlides/notesSlide13.xml" Id="R36a96b5488b944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ed987afce4d0c" /><Relationship Type="http://schemas.openxmlformats.org/officeDocument/2006/relationships/hyperlink" Target="https://docs.vllm.ai/projects/ascend/en/latest/tutorials/models/GLM5.3-Flash.html" TargetMode="External" Id="R539ce92351254bc0" /><Relationship Type="http://schemas.openxmlformats.org/officeDocument/2006/relationships/hyperlink" Target="https://docs.vllm.ai/projects/ascend/en/latest/tutorials/models/MiniMax-M3.html" TargetMode="External" Id="Re7fc0d2b5cee4e3a" /><Relationship Type="http://schemas.openxmlformats.org/officeDocument/2006/relationships/hyperlink" Target="https://docs.ultralytics.com/models/yolo26/" TargetMode="External" Id="Rcb116879d2644f21" /><Relationship Type="http://schemas.openxmlformats.org/officeDocument/2006/relationships/hyperlink" Target="https://github.com/Wan-Video/Wan2.1" TargetMode="External" Id="R1660bbb37273439c" /><Relationship Type="http://schemas.openxmlformats.org/officeDocument/2006/relationships/hyperlink" Target="https://huggingface.co/docs/huggingface_hub/guides/cli" TargetMode="External" Id="Rbe08b462934b4ae2" /><Relationship Type="http://schemas.openxmlformats.org/officeDocument/2006/relationships/notesSlide" Target="/ppt/notesSlides/notesSlide14.xml" Id="R7fb879f5aff246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E12BE-F760-4C2A-8C40-A8764975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rPr>
              <a:t>GPU / NPU 租赁调研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EFAA3-1D7A-4193-A3B6-83F38D1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"/>
            <a:ext cx="1095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硬件配置与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模型部署可行性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3E7BB-3DFE-4E8F-B18F-B11DDFC8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rPr>
              <a:t>2 台 × 8 卡 910B    /    4–6 台 × 8 卡 T4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33c0eb8e44120"/>
          <a:stretch xmlns:a="http://schemas.openxmlformats.org/drawingml/2006/main"/>
        </p:blipFill>
        <p:spPr>
          <a:xfrm xmlns:a="http://schemas.openxmlformats.org/drawingml/2006/main">
            <a:off x="0" y="3781425"/>
            <a:ext cx="12192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A0332-CCBC-4E3A-BC29-6B96B7B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  硬件配置清单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9B6D1-D454-47BD-BEC5-D3D1DCA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  模型适配结论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602C3-2E8D-4A2C-9B2A-EB8196CF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  判断模型适配方法论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1DED3-F0C6-4901-A000-6C008D7E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rPr>
              <a:t>模型增补版  ·  2026.09.14  ·  结论按具体权重、软件栈与硬件条件限定</a:t>
            </a:r>
          </a:p>
        </p:txBody>
      </p:sp>
    </p:spTree>
    <p:extLst>
      <p:ext uri="{BB962C8B-B14F-4D97-AF65-F5344CB8AC3E}">
        <p14:creationId xmlns:p14="http://schemas.microsoft.com/office/powerpoint/2010/main" val="1253349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F030A-D1E1-4AB2-BDF0-7C34BB95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1BE7-2CEA-4559-8511-D1D2933B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1.1  硬件范围与资源池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8AB02-5A37-4132-935F-9B3AC9F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交付范围覆盖服务器、互联、存储、供电散热及管理接入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DB6A8-B905-4A0D-A6A5-43DE299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0FC95-6528-4973-985A-634B691C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536C-0EC9-4B15-ADB4-06B86383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F8F6A-19A3-44FE-BC74-B40D8A8E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统一接入与任务队列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文本 / 检测 / 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028CC-C404-4CAA-9E0D-25A3F56A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池：2 台 × 8 卡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64GB/卡待确认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A721A-A78E-45EA-B85A-3684EFBA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00525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池：4–6 台 × 8 卡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16GB/卡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571750"/>
            <a:ext cx="85725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14750" y="2571750"/>
            <a:ext cx="857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6A95D-8D1F-4191-A557-0DF28BCC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同构跨机互联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HCCL / RDMA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875E6-A33E-4902-AFE6-75314F28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00525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独立任务 / 多副本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优先单机分配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26003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62875" y="472440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8D11F-ADA4-4F08-A897-5728B437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0670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模型仓库 / 输出存储</a:t>
            </a:r>
          </a:p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管理网络 / BMC</a:t>
            </a:r>
          </a:p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机柜 / PDU / 散热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546FA-4997-4365-8D2C-407FE5FC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标称容量：910B 池 1,024GB；T4 每台 128GB。跨卡、跨机容量需要软件显式分片。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C15E4-2F01-4743-A8C6-D5113D8D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架构为本项目方案；硬件参考：Huawei Atlas 800I A2、NVIDIA T4。异构资源池分别运行模型实例</a:t>
            </a:r>
          </a:p>
        </p:txBody>
      </p:sp>
    </p:spTree>
    <p:extLst>
      <p:ext uri="{BB962C8B-B14F-4D97-AF65-F5344CB8AC3E}">
        <p14:creationId xmlns:p14="http://schemas.microsoft.com/office/powerpoint/2010/main" val="731702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82196-CE36-4086-9324-8919345F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7D331-7AA7-4C50-AD73-537EE7AE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1.2  单台服务器硬件清单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B66EA-63EB-48FA-AF4F-88A7D0D9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以下是完整租赁 BOM 的询价起点；主机配置为建议值，按最终模型修订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C0FBC-9FB2-437D-A85F-A8B8D941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1E80E-10D3-407D-9A9F-CBE0EE3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E43FB-E444-4471-8F62-4196ABC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4438650"/>
                <a:gridCol w="45053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硬件项目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910B：每台，合计 2 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T4：每台，合计 4–6 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加速卡与承载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64GB；配套板卡互联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16GB；足量 PCIe 插槽 / 转接板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ECC 内存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厂家配套 CPU；1–2TB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32–64 物理核；256–512GB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960GB SSD，RAID1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960GB SSD，RAID1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模型与缓存盘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 可用容量 8TB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 可用容量 4TB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网卡 / 管理口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NPU RDMA；业务口；BMC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双口 25GbE；独立 BMC 管理口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 / 电源 / 散热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完整机箱、导轨、冗余 PSU、风扇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 8 张被动散热卡的整机风道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664D6-8A67-427D-BFB2-26813D3D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容量均需以可用容量交付；系统盘 RAID1 不等于两块容量相加。参考：Huawei / NVIDIA；RAM、磁盘为项目建议</a:t>
            </a:r>
          </a:p>
        </p:txBody>
      </p:sp>
    </p:spTree>
    <p:extLst>
      <p:ext uri="{BB962C8B-B14F-4D97-AF65-F5344CB8AC3E}">
        <p14:creationId xmlns:p14="http://schemas.microsoft.com/office/powerpoint/2010/main" val="1960150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8A2F6-4B90-40DC-AD52-C7E7A367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4656A-58FD-4431-B073-87CFDE3C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1.3  集群配套与最终交付环境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00612-BD7D-4205-BD9A-64ECD833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租赁合同应包含可运行的软件环境与对应硬件，不只交付可登录的裸机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A9922-F256-4D02-9DFE-108CE03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C5B94-5E6D-48CB-B92C-E02B472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70BFF-CEAD-4E06-B136-407CF408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86868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配套硬件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接口 / 交付要求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互联网络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按整机 RDMA 端口配齐交换机、AOC 或光模块与光纤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若每台 8 × 200GE：共 16 条接入链路，交换容量同步核验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业务与管理网络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双口 25G 共 8–12 个接入口；BMC 共 6–8 个接入口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补齐上联、网线、IP、路由；已有设备可复用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共享存储与机房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模型镜像与输出存储、备份目标；容量按留存量计算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机柜空间、导轨、双路供电 / PDU、散热与远程控制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F4766-C0DA-4515-BCEA-EF93CCA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910B 交付栈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D743-3794-4D28-8AF1-4BED2F37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5324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Linux + 驱动 / 固件 + CANN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模型专用容器、HCCL / RDMA、设备权限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472F6-3C8E-43B0-8911-242FAD7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2912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T4 交付栈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4C2F9-2371-44CD-A0D2-34F8AA7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67275"/>
            <a:ext cx="5124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Linux + NVIDIA 驱动 + CUDA 容器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Transformers / TensorRT / Diffusers 按任务固定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F0D6F-F46E-4C1C-BD32-5B7C800C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每套环境记录镜像 digest、框架 commit、依赖锁文件和启动脚本；不同模型可使用不同容器</a:t>
            </a:r>
          </a:p>
        </p:txBody>
      </p:sp>
    </p:spTree>
    <p:extLst>
      <p:ext uri="{BB962C8B-B14F-4D97-AF65-F5344CB8AC3E}">
        <p14:creationId xmlns:p14="http://schemas.microsoft.com/office/powerpoint/2010/main" val="1593003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DCDC3-DC55-41B2-A3D0-7D872CCF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F099D-3D78-4AD2-8E19-34C65BF6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2.1  910B 模型适配结论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EA4B-CD15-43B1-A6DC-496C7679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范围：2 台 × 8 卡 × 64GB；“配方支持”仍须在交付机器复验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E9167-CE8E-46C2-9CB2-D96BBC14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4059E-67CF-4AA2-81E0-7CC978AE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9D413-BF53-478D-9ED0-4C838D4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2390775"/>
                <a:gridCol w="45434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 / 权重路径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本配置结论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关键依据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 · W8A8C8 / W4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双机仍未确认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 参考 4 A2；双机 W4 完整链路未证实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GLM-5.3-Flash · W8A8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有双机 A2 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8 卡；DP2 / TP8 + EP，专用镜像与算子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DeepSeek-V4-Flash · W8A8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有单机 A2 配方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每台可独立部署；MTP / DSpark 要匹配版本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MiniMax-M3 · W8A8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有单机 A2 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至少 8 × 64GB；专用 MSA 与量化后端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DeepSeek-V4-Pro · W4A8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不满足当前配方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官方仍要求至少 4 A2，保留原结论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拓扑仍待核验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有昇腾适配；缺双机 910B 同拓扑证明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BAC9-8E81-49EB-A8F1-321E1B8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依据：vLLM-Ascend 各模型专用教程与 FlagRelease；GLM-5.3 与 GLM-5.3-Flash 是不同架构 / 权重</a:t>
            </a:r>
          </a:p>
        </p:txBody>
      </p:sp>
    </p:spTree>
    <p:extLst>
      <p:ext uri="{BB962C8B-B14F-4D97-AF65-F5344CB8AC3E}">
        <p14:creationId xmlns:p14="http://schemas.microsoft.com/office/powerpoint/2010/main" val="996375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AF8FC-1423-489A-88F8-D1FCA25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F2EDE-543A-46A4-B2DD-72C04B7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2.2  910B 低精度部署条件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85CE-B4C1-432D-BAB6-CF2F4C4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量化权重、推理框架、专用算子和设备拓扑必须采用同一套配方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E65A5-E0FE-4580-883D-2B4404C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4DC4F-6B71-40F1-BFF2-5A0E42E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0C290-6AED-4B16-B395-486CB00D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62150"/>
          <a:ext xmlns:a="http://schemas.openxmlformats.org/drawingml/2006/main" cx="110490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429125"/>
                <a:gridCol w="4286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 / 框架与 kernel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双机使用方式与限制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W8A8C8；vLLM-Ascend 专用实现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不能把原始 FP8 当作 INT8 产物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753GB 只是 W8 权重粗估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 A2；W4 不能只算容量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GLM-5.3-Flash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W8A8；glm-5.3-flash 镜像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混合注意力 / mHC / MoE 专用算子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节点 DP2 / TP8 + EP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须配 HCCL；MTP 草稿使用 eager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DeepSeek-V4-Flash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W8A8-mtp；v0.23.0 配方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DSA / 混合 KV / MoE 昇腾算子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8 卡可用，两台可分服务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0731 DSpark 用专用镜像 ≥0.25.0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MiniMax-M3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W8A8；文档基于 v0.27.1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MSA / MoE / Ascend 量化实现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单台至少 8 × 64GB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不能改用 950DT 的 MXFP8 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4E429-F381-4860-8ACA-C0365D5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建议验证次序：DeepSeek-V4-Flash / MiniMax-M3 单机 → GLM-5.3-Flash 双机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F3309-B6AF-4DA2-9A65-4A42BD9D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来源：vLLM-Ascend 专用教程。不同模型分别固定镜像 digest；主机驱动 / CANN 兼容性逐一核对</a:t>
            </a:r>
          </a:p>
        </p:txBody>
      </p:sp>
    </p:spTree>
    <p:extLst>
      <p:ext uri="{BB962C8B-B14F-4D97-AF65-F5344CB8AC3E}">
        <p14:creationId xmlns:p14="http://schemas.microsoft.com/office/powerpoint/2010/main" val="2098418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F7884-73A3-43C8-B348-3FA7413D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8EABB-A33A-4DA3-B490-62C5D7E6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2.3  T4：27B 文本推理与 YOLO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BE967-A533-432F-BEC2-41E8701F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同一台 8 卡服务器按任务切分；模型层分配与多副本是不同方式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2A4CB-1CE9-417C-9160-2A94684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685E8-F2CD-4AAD-BD71-0D21EC8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83113-EA36-437E-A036-19121A5C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D8D15-4C9A-4716-88FF-63EEC9E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535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Qwen3.8-27B：单机 8 卡 PoC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2A087-69F1-40A6-9D53-880D7157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5353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FP16 权重约 56GB，先用短输入、并发 1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Transformers + Accelerate 分配模型层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attention 用 eager，GDN 用 PyTorch 回退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4634A-3F9C-4FF7-B547-3C28B60E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仍需通过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568B8-C0E4-4A86-9F11-DE63AEDA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53244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FP16 无溢出；全部算子支持 SM75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逐卡峰值、生成质量及实际速度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“device_map”分层不是高效张量并行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E6D41-2A9C-4891-9448-ED02E0B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71675"/>
            <a:ext cx="510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YOLO26：官方 T4 路径可采用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DE566-FE45-4A6C-9937-A337DDA3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81275"/>
            <a:ext cx="22288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视频帧 / 图片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解码与预处理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75ECF-BE10-46F8-B941-9E5C4E8A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81275"/>
            <a:ext cx="22764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/ TensorRT 10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YOLO26s FP16</a:t>
            </a:r>
          </a:p>
        </p:txBody>
      </p:sp>
      <p:cxnSp>
        <p:nvCxnSpPr>
          <p:cNvPr id="3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82050" y="29956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EBE36-B46B-4589-91AE-2566DCF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95725"/>
            <a:ext cx="50387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在目标 T4 导出 engine，640 输入起测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按单卡实例扩展，检测不需要 8 卡 TP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INT8 另需代表性校准集和质量回归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8BEB7-0600-42F4-AD13-62811D0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5038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官方同硬件测试 ≠ 本机交付已验收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3A853-C52B-409C-8DD2-8598D28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来源：Qwen 官方模型卡、Transformers qwen3_5 源码；Ultralytics YOLO26 与 TensorRT 集成文档</a:t>
            </a:r>
          </a:p>
        </p:txBody>
      </p:sp>
    </p:spTree>
    <p:extLst>
      <p:ext uri="{BB962C8B-B14F-4D97-AF65-F5344CB8AC3E}">
        <p14:creationId xmlns:p14="http://schemas.microsoft.com/office/powerpoint/2010/main" val="183074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76B76-0CC2-48AA-9E65-633A8CAD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BEB15-64FC-4B3B-83C9-88165F6B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2.4  T4 视频生成：Wan 与 HunyuanVideo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032C3-8046-4C40-A7E9-CD171958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明确到版本和任务；低显存宣传值不能直接作为 T4 的部署证明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21B1B-0F0C-45F1-A279-955AC85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B19C7-5303-4C71-9A59-EE70FC6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7757-76E9-4BCB-8AA5-0DECFA7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71775"/>
                <a:gridCol w="4933950"/>
                <a:gridCol w="33432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容量与精度 / kernel 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480P 文生视频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官方低显存参考 8.19GB；不是 T4 实测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Diffusers 路径，CPU 卸载 / SDPA 回退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VAE 保留 FP32；DiT 的 FP16 数值需测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优先做 T4 视频 PoC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先短视频、单卡独立任务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不承诺官方 4090 的速度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Wan2.2-TI2V-5B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720P 文 / 图生视频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官方单卡卸载配方仍需至少 24GB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多卡 FSDP / Ulysses 有实现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但未证明 8 × T4 的完整执行链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 T4 不满足该配方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多卡 / 量化列为专项验证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不能把 128GB 加总当证明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HunyuanVideo-1.5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8.3B 文 / 图生视频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官方卸载门槛 14GB；不是 T4 保证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原生脚本仅 BF16 / FP32，无 FP16 选项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FA / SSTA / FP8 路径需另核 SM75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列入候选，暂不承诺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评估 Diffusers 普通注意力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精度、峰值与画质均需实测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FE67D-B396-4AD2-BA57-D99CECCE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991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4–6 台 T4 优先扩展独立视频任务；单个视频使用多卡，需专门验证并行收益。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46E5-4804-4AF9-B594-62F4ACED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来源：Wan2.1 / Wan2.2、HunyuanVideo-1.5 官方仓库及 Diffusers 文档；均未在本项目 T4 实测</a:t>
            </a:r>
          </a:p>
        </p:txBody>
      </p:sp>
    </p:spTree>
    <p:extLst>
      <p:ext uri="{BB962C8B-B14F-4D97-AF65-F5344CB8AC3E}">
        <p14:creationId xmlns:p14="http://schemas.microsoft.com/office/powerpoint/2010/main" val="1220750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6508D-3131-45F1-B368-65C7DE98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36D69-980D-4C3C-B062-8ECB6EE9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3.1  适配判断的完整逻辑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C8BE2-2556-4BB7-9D5D-032497FD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结论必须绑定：权重版本 × 软件栈 × 硬件拓扑 × 工作负载 × 质量要求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3BB96-5030-410F-A130-BAA375AB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78D70-804D-4EBB-999D-F1DEFC09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3575F-6E3F-4E7E-BD31-71804743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F28DF-B34D-486E-99B2-80C9AFBA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模型文件完整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架构可识别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42F14-D940-4F68-BC57-4970D026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精度与全部算子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支持目标芯片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AAA8F-FA58-4D26-B057-F6D12801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逐卡峰值满足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分片与通信可行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5F331-DFC8-44BE-B9E3-7AF1687D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190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主机资源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与输入输出完整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4875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8F2D4-C500-4567-99A5-210794EB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86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以上条件全部通过（AND）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91DA3-90D3-44D4-B8B2-27F55CDF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静态合格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允许进入实机验证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61622-5296-45E8-9B82-B0506DEA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真实权重生成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质量与负载测试通过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5A6E5-C504-4C4D-AA02-13B31DD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8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限定配置下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已验证可部署</a:t>
            </a:r>
          </a:p>
        </p:txBody>
      </p:sp>
      <p:cxnSp>
        <p:nvCxnSpPr>
          <p:cNvPr id="3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29050" y="46101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91425" y="46101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23F94-A813-41A9-B807-6FC3503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0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任一条件失败：当前方案不通过。缺少证据：标为待验证。修改精度或硬件后重新检查。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684EC-96FF-4A88-8A2B-3C69F01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逻辑为本项目验收方法；“能下载”“能加载”“能生成”“满足生产负载”分别留证据</a:t>
            </a:r>
          </a:p>
        </p:txBody>
      </p:sp>
    </p:spTree>
    <p:extLst>
      <p:ext uri="{BB962C8B-B14F-4D97-AF65-F5344CB8AC3E}">
        <p14:creationId xmlns:p14="http://schemas.microsoft.com/office/powerpoint/2010/main" val="788104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738C8-B80D-4F36-A0F8-23043B4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BA1E0-3FEA-4B1A-889C-BFA8C9C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3.2  条件、证据与失败处理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E66C3-4CF9-4381-A613-7E1AA79E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每一项都必须回答“用什么证明通过”，不以模型名称相近代替兼容性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1351D-9FE8-4DAD-B707-F9506C01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67521-071B-4B7A-BDD5-075A7E07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901D8-69E9-46D8-85C5-5A5284F2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4050"/>
                <a:gridCol w="4810125"/>
                <a:gridCol w="43148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不通过时的动作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权重与架构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repo / SHA 完整；架构有实现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补齐文件；选择支持该架构的版本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逐模块 dtype / quant 格式匹配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 SM / NPU 实现或回退可运行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换后端或转换权重；重新验证数值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逐卡内存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 + 缓存 + 工作区峰值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每个 rank 均低于可用显存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缩减负载 / 改量化 / 增卡后重算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并行与通信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 / EP / 分层合法；映射明确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设备拓扑、跨机通信测试通过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改分片；补齐互联；拒绝套用 A3 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主机与输出链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RAM / 磁盘满足加载与卸载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tokenizer / VAE / 解码等组件齐全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补资源或组件；生成完整目标输出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质量与服务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样本回归与目标负载测试达标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定位并重测；未达标不作为生产交付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5D459-0264-41C8-A8C7-5F12DEF5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证据固定到实际版本：模型 revision、容器 digest、框架 commit、驱动与 CANN / CUDA 版本</a:t>
            </a:r>
          </a:p>
        </p:txBody>
      </p:sp>
    </p:spTree>
    <p:extLst>
      <p:ext uri="{BB962C8B-B14F-4D97-AF65-F5344CB8AC3E}">
        <p14:creationId xmlns:p14="http://schemas.microsoft.com/office/powerpoint/2010/main" val="798698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40688-1995-4BED-AA33-556B3054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B84F8-B76B-4E60-A277-DEFDC74C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3.3  显存与精度的计算边界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268B8-62B4-4479-B077-157A7B73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模型适配使用逐卡运行峰值；总显存和平均分配只能做第一轮筛选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C847E-4A60-496A-887C-B7D61797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153F1-053B-49DA-8884-6EA3FAAD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0FF92-35EC-4F90-8A82-795167C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D06D3-0825-4012-99F7-51DBB439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991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每个 rank 的峰值 = 权重 + KV / 状态 + 激活 / 工作区 + 通信 / 图缓存 + 余量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019425"/>
          <a:ext xmlns:a="http://schemas.openxmlformats.org/drawingml/2006/main" cx="110490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86010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计算环节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具体做法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读取实际张量 dtype 与量化配置；按实际分片归属求和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加入未量化模块、scale / zero-point、复制的 embedding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缓存与运行开销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按上下文、并发、图像尺寸或视频帧数估算，再实测峰值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GDN / MLA 等按实现计算，不直接套通用 KV 公式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精度匹配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“INT4 权重 + FP16 激活”与“FP4 + FP8”是不同路径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硬件、框架、打包格式、kernel 必须同时匹配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DF5CE-5E91-4BF3-809A-264988B0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963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示例：DeepSeek-V4-Pro 理想全 4bit ≈ 800GB ＜ 双机 1,024GB</a:t>
            </a:r>
          </a:p>
          <a:p xmlns:a="http://schemas.openxmlformats.org/drawingml/2006/main">
            <a:pPr algn="l">
              <a:def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但官方 W4A8 仍要求至少 4 A2，因此不能由这个不等式推出双机可部署。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64F8B-DD2F-4A2A-8A90-1A466D9C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参数量 × bit / 8 仅为权重粗估，采用十进制 GB。来源：DeepSeek 官方模型卡及 Ascend 专用部署教程</a:t>
            </a:r>
          </a:p>
        </p:txBody>
      </p:sp>
    </p:spTree>
    <p:extLst>
      <p:ext uri="{BB962C8B-B14F-4D97-AF65-F5344CB8AC3E}">
        <p14:creationId xmlns:p14="http://schemas.microsoft.com/office/powerpoint/2010/main" val="1466848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BFC76-B5BE-4692-8BE6-59FF9B7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B502-7815-476D-925B-BAC945B5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3.4  Hugging Face 到完整输出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BCE71-B24B-4621-AE66-648DC97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每一步产生可保存的交付物；成功加载后仍需验证真实输出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6FF01-0497-4360-B236-E1546A5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EB9E5-C53D-49D8-AA37-A3F6611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483A0-276C-4515-B3D8-6349DD8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a3ed3eb114d31"/>
          <a:stretch xmlns:a="http://schemas.openxmlformats.org/drawingml/2006/main"/>
        </p:blipFill>
        <p:spPr>
          <a:xfrm xmlns:a="http://schemas.openxmlformats.org/drawingml/2006/main">
            <a:off x="575204" y="1971675"/>
            <a:ext cx="5317067" cy="2990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3919E-AA3C-4BAB-991E-C46B126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30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官方模型页：模型身份与文件入口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3A4ED-4ACF-4652-9C0A-4ACD2CB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9FA90-C6FF-4FF9-A5E9-F216931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240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锁定与下载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929D5-05FD-40FE-BC74-06918CD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6695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保存 repo / SHA；完整 snapshot 与索引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2807A-1350-4FD2-B669-5202C4ED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E38D5-A80A-4A50-A8F5-CB823C4A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9557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静态审核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922E6-8BF9-4B78-AEAD-D57EE633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3847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精度、kernel、内存、拓扑条件逐项过关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84B75-377B-409C-AB4A-F072BE86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1543C-3526-4377-A986-76C1A6AA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6710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固定环境并启动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26FF6-1B6F-4732-B58E-8654AC3A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100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镜像 digest、依赖锁、设备映射与命令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49714-55D3-4CE2-B752-EC18C9D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38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6C366-E954-4FD5-8818-F0019882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3862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真实样本生成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A3CBA-4D5A-4611-985C-C30E4C1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58152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文本 / 检测框 / 可播放视频；检查有限值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42265-BEE6-4490-9126-CB4CEBB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41B5B-EA93-47B6-820D-93607D36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回归与负载验收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48991-0183-4003-B194-A319772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5305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质量基线、逐卡峰值、延迟及稳定性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A6A90-C25A-4373-9CD1-2EE0B5C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截图：Qwen3.8-27B 官方 Hugging Face 仓库。下载与执行示例、证据模板见配套大纲</a:t>
            </a:r>
          </a:p>
        </p:txBody>
      </p:sp>
    </p:spTree>
    <p:extLst>
      <p:ext uri="{BB962C8B-B14F-4D97-AF65-F5344CB8AC3E}">
        <p14:creationId xmlns:p14="http://schemas.microsoft.com/office/powerpoint/2010/main" val="824538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D0947-57B1-407F-BF2C-199A890E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C0679-0A72-4AAD-A8BB-80EB1A2A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3.5  三个实例的推导结果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38CEA-18FE-4FCA-B2E5-CE2F016C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同一套逻辑可以得到通过、待验证或不通过，而非统一给出“能跑”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FF3F-E898-411F-9308-0D90A55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5532E-BCFF-4BDA-AAE0-FD2FCEF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1DBC3-29B2-4EB0-9845-3A7FD572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90725"/>
                <a:gridCol w="2905125"/>
                <a:gridCol w="3114675"/>
                <a:gridCol w="30384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YOLO26s / T4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 / 8 T4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V4-Pro W4A8 / 2 A2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 / 框架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官方权重与 TensorRT 路径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官方权重与 Transformers 实现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 Ascend 专用量化路径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 /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T4 TensorRT10 测试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/ eager / GDN 回退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完整数值与 SM75 待测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 不等于原生 FP4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按官方 Ascend 算子配套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 / 拓扑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单卡官方路径有依据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目标输入 / batch 复验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56GB 权重有容量空间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逐卡分层与峰值待实测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未满足参考至少 4 A2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理想 800GB 不是运行峰值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推导结论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官方同硬件可部署路径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交付机器仍需验收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 PoC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不能标“已确认可部署”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当前配方不通过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增至参考硬件或另找证明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F104B-0913-4208-9028-9C0B21C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91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完整证明 = 固定配置的证据清单 + 可复现启动 + 正确输出 + 目标负载达标。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1C570-B1DC-46EE-8D78-E5D893C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来源：Ultralytics YOLO26；Transformers qwen3_5；vLLM-Ascend DeepSeek-V4-Pro。未进行本项目实机测试</a:t>
            </a:r>
          </a:p>
        </p:txBody>
      </p:sp>
    </p:spTree>
    <p:extLst>
      <p:ext uri="{BB962C8B-B14F-4D97-AF65-F5344CB8AC3E}">
        <p14:creationId xmlns:p14="http://schemas.microsoft.com/office/powerpoint/2010/main" val="787790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8461F-2E50-4353-8FDA-C5DC5B02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E7694-1F46-4C5D-ADE0-932BA13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3.6  最终验收与资料依据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5A415-1569-44E9-88ED-A0FD30C1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交付结论应写成“某版本模型，在某配置和负载下通过”，保留复现实验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DE35-EF7E-412B-BBAD-721DD9A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2B58E-3F6B-464D-88DB-572EC6DE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F5626-7100-44DA-AF24-4A75508A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4743450"/>
                <a:gridCol w="44672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必须交付的结果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 / 质量指标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文本生成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真实请求与完整回答；输入 / 输出 Token 计数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TTFT、TPOT、吞吐、错误率、质量回归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检测框 / 类别 / 置信度；固定评估集结果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端到端延迟、FPS、mAP / 召回率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可播放文件；帧数 / 尺寸 / FPS 与随机种子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秒 / 视频、峰值显存、黑帧与画质检查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C9014-B2DF-403D-A165-3E3F75B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14800"/>
            <a:ext cx="1092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共同证据包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2167B-0B5E-4CC4-B1A7-0FC7791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91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硬件与拓扑清单 · 权重 SHA · 环境版本 · 启动脚本 · 原始日志 · 每卡峰值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固定负载测试与重启恢复；持续测试建议至少 1 小时，阈值由业务确认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6A7F5-81CA-4CFE-A9A8-27FC29E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539ce92351254bc0"/>
              </a:rPr>
              <a:t>昇腾低精度配方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FE79F-E696-4876-9BBF-4C2571F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7fc0d2b5cee4e3a"/>
              </a:rPr>
              <a:t>MiniMax-M3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D3FD3-4755-43F7-89C4-D94E32B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b116879d2644f21"/>
              </a:rPr>
              <a:t>YOLO / T4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2CB27-0387-433A-B5B1-60C091F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660bbb37273439c"/>
              </a:rPr>
              <a:t>Wan / 视频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F009-D2FA-42A6-8EF2-041FE99A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e08b462934b4ae2"/>
              </a:rPr>
              <a:t>模型下载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48361-8178-419F-8313-D0983A65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公开资料核验日期：2026-09-14。所有来源按页置于演讲者备注；本报告不包含租赁机实际 benchmark</a:t>
            </a:r>
          </a:p>
        </p:txBody>
      </p:sp>
    </p:spTree>
    <p:extLst>
      <p:ext uri="{BB962C8B-B14F-4D97-AF65-F5344CB8AC3E}">
        <p14:creationId xmlns:p14="http://schemas.microsoft.com/office/powerpoint/2010/main" val="1201212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2026-09-14T11:53:45.1960000Z</dcterms:created>
  <dcterms:modified xsi:type="dcterms:W3CDTF">2026-09-14T11:53:45.1960000Z</dcterms:modified>
</coreProperties>
</file>