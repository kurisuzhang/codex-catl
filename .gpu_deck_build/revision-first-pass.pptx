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562ff68d8b4dca" /><Relationship Type="http://schemas.openxmlformats.org/officeDocument/2006/relationships/extended-properties" Target="/docProps/app.xml" Id="R4cc6f683669846a7" /><Relationship Type="http://schemas.openxmlformats.org/officeDocument/2006/relationships/officeDocument" Target="/ppt/presentation.xml" Id="Rf849dbbfddc8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fae86caef24020"/>
  </p:sldMasterIdLst>
  <p:notesMasterIdLst>
    <p:notesMasterId xmlns:r="http://schemas.openxmlformats.org/officeDocument/2006/relationships" r:id="Ra248f9de9444412c"/>
  </p:notesMasterIdLst>
  <p:sldIdLst>
    <p:sldId xmlns:r="http://schemas.openxmlformats.org/officeDocument/2006/relationships" id="256" r:id="R42a6a9b8cac04c0e"/>
    <p:sldId xmlns:r="http://schemas.openxmlformats.org/officeDocument/2006/relationships" id="257" r:id="R32829004d0f44674"/>
    <p:sldId xmlns:r="http://schemas.openxmlformats.org/officeDocument/2006/relationships" id="258" r:id="Rc1f013752b454ac1"/>
    <p:sldId xmlns:r="http://schemas.openxmlformats.org/officeDocument/2006/relationships" id="259" r:id="R81aac2e723364ab5"/>
    <p:sldId xmlns:r="http://schemas.openxmlformats.org/officeDocument/2006/relationships" id="260" r:id="Rf4f653f9afd94e1d"/>
    <p:sldId xmlns:r="http://schemas.openxmlformats.org/officeDocument/2006/relationships" id="261" r:id="R923412e52cf04845"/>
    <p:sldId xmlns:r="http://schemas.openxmlformats.org/officeDocument/2006/relationships" id="262" r:id="R7358e9e075ec4f85"/>
    <p:sldId xmlns:r="http://schemas.openxmlformats.org/officeDocument/2006/relationships" id="263" r:id="R9ab168e9463a4ccf"/>
    <p:sldId xmlns:r="http://schemas.openxmlformats.org/officeDocument/2006/relationships" id="264" r:id="Rc5f6ff435b714e5f"/>
    <p:sldId xmlns:r="http://schemas.openxmlformats.org/officeDocument/2006/relationships" id="265" r:id="Rc55216f932e54d26"/>
    <p:sldId xmlns:r="http://schemas.openxmlformats.org/officeDocument/2006/relationships" id="266" r:id="R77aa32799c224e49"/>
    <p:sldId xmlns:r="http://schemas.openxmlformats.org/officeDocument/2006/relationships" id="267" r:id="R0f28e20662a54249"/>
    <p:sldId xmlns:r="http://schemas.openxmlformats.org/officeDocument/2006/relationships" id="268" r:id="R969b08bfce9b41e4"/>
    <p:sldId xmlns:r="http://schemas.openxmlformats.org/officeDocument/2006/relationships" id="269" r:id="R4d3da55e6eba45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84f43cda545ef" /><Relationship Type="http://schemas.openxmlformats.org/officeDocument/2006/relationships/slideMaster" Target="/ppt/slideMasters/slideMaster1.xml" Id="R82fae86caef24020" /><Relationship Type="http://schemas.openxmlformats.org/officeDocument/2006/relationships/notesMaster" Target="/ppt/notesMasters/notesMaster1.xml" Id="Ra248f9de9444412c" /><Relationship Type="http://schemas.openxmlformats.org/officeDocument/2006/relationships/presProps" Target="/ppt/presProps.xml" Id="Rcd992a2bc2b54bb2" /><Relationship Type="http://schemas.openxmlformats.org/officeDocument/2006/relationships/tableStyles" Target="/ppt/tableStyles.xml" Id="Re8c6f03010684a4b" /><Relationship Type="http://schemas.openxmlformats.org/officeDocument/2006/relationships/slide" Target="/ppt/slides/slide1.xml" Id="R42a6a9b8cac04c0e" /><Relationship Type="http://schemas.openxmlformats.org/officeDocument/2006/relationships/slide" Target="/ppt/slides/slide2.xml" Id="R32829004d0f44674" /><Relationship Type="http://schemas.openxmlformats.org/officeDocument/2006/relationships/slide" Target="/ppt/slides/slide3.xml" Id="Rc1f013752b454ac1" /><Relationship Type="http://schemas.openxmlformats.org/officeDocument/2006/relationships/slide" Target="/ppt/slides/slide4.xml" Id="R81aac2e723364ab5" /><Relationship Type="http://schemas.openxmlformats.org/officeDocument/2006/relationships/slide" Target="/ppt/slides/slide5.xml" Id="Rf4f653f9afd94e1d" /><Relationship Type="http://schemas.openxmlformats.org/officeDocument/2006/relationships/slide" Target="/ppt/slides/slide6.xml" Id="R923412e52cf04845" /><Relationship Type="http://schemas.openxmlformats.org/officeDocument/2006/relationships/slide" Target="/ppt/slides/slide7.xml" Id="R7358e9e075ec4f85" /><Relationship Type="http://schemas.openxmlformats.org/officeDocument/2006/relationships/slide" Target="/ppt/slides/slide8.xml" Id="R9ab168e9463a4ccf" /><Relationship Type="http://schemas.openxmlformats.org/officeDocument/2006/relationships/slide" Target="/ppt/slides/slide9.xml" Id="Rc5f6ff435b714e5f" /><Relationship Type="http://schemas.openxmlformats.org/officeDocument/2006/relationships/slide" Target="/ppt/slides/slide10.xml" Id="Rc55216f932e54d26" /><Relationship Type="http://schemas.openxmlformats.org/officeDocument/2006/relationships/slide" Target="/ppt/slides/slide11.xml" Id="R77aa32799c224e49" /><Relationship Type="http://schemas.openxmlformats.org/officeDocument/2006/relationships/slide" Target="/ppt/slides/slide12.xml" Id="R0f28e20662a54249" /><Relationship Type="http://schemas.openxmlformats.org/officeDocument/2006/relationships/slide" Target="/ppt/slides/slide13.xml" Id="R969b08bfce9b41e4" /><Relationship Type="http://schemas.openxmlformats.org/officeDocument/2006/relationships/slide" Target="/ppt/slides/slide14.xml" Id="R4d3da55e6eba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6dfe1a766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1d91279634b27" /><Relationship Type="http://schemas.openxmlformats.org/officeDocument/2006/relationships/notesMaster" Target="/ppt/notesMasters/notesMaster1.xml" Id="R919af23d6ca440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b4b977dee4f25" /><Relationship Type="http://schemas.openxmlformats.org/officeDocument/2006/relationships/notesMaster" Target="/ppt/notesMasters/notesMaster1.xml" Id="Rbe602a06aa4d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83c8d9b044357" /><Relationship Type="http://schemas.openxmlformats.org/officeDocument/2006/relationships/notesMaster" Target="/ppt/notesMasters/notesMaster1.xml" Id="R4ec932534358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4dd3cc8a7b4ac0" /><Relationship Type="http://schemas.openxmlformats.org/officeDocument/2006/relationships/notesMaster" Target="/ppt/notesMasters/notesMaster1.xml" Id="R6588c9c9443a42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f04d10ad4d4d36" /><Relationship Type="http://schemas.openxmlformats.org/officeDocument/2006/relationships/notesMaster" Target="/ppt/notesMasters/notesMaster1.xml" Id="Ra1a6e795552141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2b1b3769154b5f" /><Relationship Type="http://schemas.openxmlformats.org/officeDocument/2006/relationships/notesMaster" Target="/ppt/notesMasters/notesMaster1.xml" Id="R7ce2c4c322df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832d56b534e45" /><Relationship Type="http://schemas.openxmlformats.org/officeDocument/2006/relationships/notesMaster" Target="/ppt/notesMasters/notesMaster1.xml" Id="R0ee6d30f053b45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7a66616fa4afd" /><Relationship Type="http://schemas.openxmlformats.org/officeDocument/2006/relationships/notesMaster" Target="/ppt/notesMasters/notesMaster1.xml" Id="Rfdcade3a4b3a4f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e867194687422f" /><Relationship Type="http://schemas.openxmlformats.org/officeDocument/2006/relationships/notesMaster" Target="/ppt/notesMasters/notesMaster1.xml" Id="R5fe8acd2e7ed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f5b8f1dce14d56" /><Relationship Type="http://schemas.openxmlformats.org/officeDocument/2006/relationships/notesMaster" Target="/ppt/notesMasters/notesMaster1.xml" Id="Rc3beabc3214544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5e0d07180a4f2d" /><Relationship Type="http://schemas.openxmlformats.org/officeDocument/2006/relationships/notesMaster" Target="/ppt/notesMasters/notesMaster1.xml" Id="R9d0a7a7fef404c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20443b48df407c" /><Relationship Type="http://schemas.openxmlformats.org/officeDocument/2006/relationships/notesMaster" Target="/ppt/notesMasters/notesMaster1.xml" Id="Raf714bf7ed6a4a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897780355e46cd" /><Relationship Type="http://schemas.openxmlformats.org/officeDocument/2006/relationships/notesMaster" Target="/ppt/notesMasters/notesMaster1.xml" Id="R8c4b1699e65345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94f2de043d42db" /><Relationship Type="http://schemas.openxmlformats.org/officeDocument/2006/relationships/notesMaster" Target="/ppt/notesMasters/notesMaster1.xml" Id="R4b340a7e2ec448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全篇仅三大部分：第2–4页硬件配置清单；第5–8页模型适配结论；第9–14页判断模型适配方法论。910B按64GB/卡假设，必须向供应商确认。本报告为公开资料与源码核验，没有租赁设备实测。封面图片为NVIDIA T4官方参考图。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台8卡。总服务器6–8台，NPU16张，GPU32–48张。910B按64GB/卡，单机512GB、双机1024GB；T4单机128GB、全池512–768GB。不能把全部T4的容量视为单模型统一显存。逻辑接入可复用已有主机，不要求新增GPU；检测和视频生成的输出不是LLM正文Token，应分别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清单要同时覆盖CPU、主板、ECC DIMM、全部加速卡、板卡内互联/PCIe riser、系统盘及RAID、模型盘、网卡、BMC、机箱、导轨、电源、风扇和电源线。双机910B总RAM2–4TB、本地NVMe可用16TB起；4–6台T4总RAM1–3TB、本地NVMe可用16–24TB起。磁盘按原始权重+转换权重+下载缓存+输出+日志累加；不是显存不足的自动补救。CPU体系结构必须匹配容器。T4为被动散热卡，不能只把卡插入缺少整机风道的主机。8卡PCIe通道与NUMA分布须交付拓扑，不承诺每卡独享CPU直连x16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求所有硬件都新购：交换机、镜像仓库、监控与存储可复用但必须写清资源配额。200GE是配套A2参考拓扑，最终以租赁整机实际NPU端口为准，不能只配一条高速业务网线代替NPU互联。若16条光链路，两端共32只匹配模块与16条光纤；AOC为另一方案，不重复计模块。最终交付包括设备健康、8卡可见、ECC/错误检查、拓扑、通信测试、模型文件权限、监控日志、服务启动与重启恢复。电源按厂家整机最大功耗及机房冗余规划，不把PSU铭牌相加当实际功耗。模型镜像不能混用：GLM/DeepSeek配方vLLM-Ascend v0.23.0；Qwen Flash-Next FlagOS使用另一套定制SGLang环境。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没有把资料检索等同于实机成功。双机910B的三个指定超大模型目前不能全部承诺。GLM参考配置不等于严格理论下限；DeepSeek教程明确至少4A2，是当前参考路径的硬要求。Flash-Next存在昇腾定制适配，但发布页单机16设备不能直接对应双机8卡910B。YOLO官方同类T4测试是最强硬件证据，交付机仍需复验。PoC表示有实施路径但尚未全部满足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magi: https://huggingface.co/sand-ai/MAGI-2-preview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权重估算以十进制GB计，不含量化元数据、未量化模块、缓存、工作区和通信。MoE激活参数不能替代驻留总参数。GLM量化从BF16源重新生成，不应把原始FP8权重当作Ascend W8A8C8。vLLM-Ascend配方基于v0.23.0，不能仅升级latest保证兼容。DeepSeek-V4-Pro的W4A8配方已是低精度，A3每台8×128GB与A2每台8×64GB不可互换。FlagRelease发布环境为openEuler22.03 SP4、CANN8.5、torch_npu2.8、SGLang0.5.11、FlagGems5.3.0；还替换qwen4及专用算子文件，映射davinci0..15且TP4 DP4。原始BF16权重仓库不表示所有运行算子都是BF16。该页未明确验证芯片为910B或双机拓扑，不以昇腾品牌名称推定兼容。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4为SM75，缺原生BF16/FP8执行能力；不能照搬新GPU专用FlashAttention/FP8路径。Transformers源码有torch_chunk_gated_delta_rule与torch_recurrent_gated_delta_rule回退，包括关键A_log等float32计算；这提供候选实现，不代替完整T4数值测试。先锁定包含该实现的commit，用FP16、eager attention、不启用可选融合kernel、batch1输入512–1024和输出128测试。检查hf_device_map与每卡峰值，不允许无记录的CPU/disk卸载。YOLO26官方模型页提供T4 TensorRT10检测性能；本报告不把其速度当实际业务速度。最新Ultralytics导出接口可使用quantize=16，目标机导出并锁定依赖版本。INT8另做校准及mAP/召回率回归。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trt: https://docs.ultralytics.com/integrations/tensorrt/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LTX-2.5包含22B transformer、Gemma4-12B文本编码器、视频/音频VAE及上采样器，不能只算22B权重。官方有PyTorch SDPA回退和多GPU方案，因此不能声称必须FlashAttention或完全无多卡支持；但其默认BF16及FP8量化并无完整T4实机证明。MAGI-2官方明确8张Hopper，并非8张任意NVIDIA GPU。CogVideoX-2b官方模型卡推荐FP16，提到torchao/quanto量化使T4可运行，但显存表在A100/H100测得，不能把表中4GB直接当T4保证。选备选时按锁定Diffusers版本验证FP16与INT8后端、CPU卸载、VAE分块；不要使用FP8路径。视频验收需检查完整视频、帧数、分辨率、NaN/黑帧、生成耗时、画质，不用文本Token吞吐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ltxcode: https://github.com/Lightricks/LTX-2</a:t>
            </a:r>
          </a:p>
          <a:p xmlns:a="http://schemas.openxmlformats.org/drawingml/2006/main">
            <a:r>
              <a:t>magi: https://huggingface.co/sand-ai/MAGI-2-preview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集合：A权重与配置完整可获取，B架构与所有必需模块被框架正确识别，C每个算子的dtype/量化格式与芯片及运行库兼容且有实现或已验证回退，D每rank运行峰值小于实际可用显存，E并行切分及通信可行，F主机RAM/磁盘/IO足够且预处理后处理完整。静态资格=A∧B∧C∧D∧E∧F。部署验收=静态资格∧真实权重正确输出∧质量回归∧目标负载稳定运行。任何unknown不能按true处理。通过资料条件只能进入PoC，不能直接声称本机已验证。改量化、kernel、上下文、batch、节点数任一项，都需要重新检查受影响条件并重新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kernel清单至少覆盖attention、GDN/循环状态、MoE路由及GEMM、量化解码、归一化、通信、MTP/视觉/VAE等实际启用模块。量化名相同不代表pack格式、group size、scale dtype、对称性、激活精度或KV精度相同。先核对checkpoint quantization_config和框架后端，再查每种算子的设备实现。合法TP不仅看卡数，要检查头数、专家数、维度整除、复制模块及框架约束。支持多GPU不等于支持任意跨节点拓扑。CPU卸载须计主机内存和PCIe传输，并在目标延迟下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ltxcode: https://github.com/Lightricks/LTX-2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对每rank分别累计W_r+K_r+A_r+C_r+headroom，并与设备实测可用容量比较；特别关注rank0复制组件或视觉编码器集中导致的不均衡。常规GQA KV字节=2×层数×KV头数×head_dim×缓存字节×总缓存token，实际按分片和复制规则修正；该公式不直接适用于GDN、MLA、CSA。MoE激活49B是计算口径，不是只需驻留49B。压低上下文减少KV，但不解决权重布局或缺少kernel。FP16缩小指数范围可能溢出，BF16训练模型转FP16必须质量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quant: https://docs.vllm.ai/en/latest/features/quantization/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先解析模型main当前commit SHA，再snapshot_download指定revision SHA，归档config、索引、tokenizer、generation config、chat template及全部必要组件。记录下载文件清单/大小和校验信息，避免只下一个分片。若量化转换，记录源SHA、校准集、转换工具版本和产物配置。硬件冒烟测试与目标模型验证分开：设备正常并不证明目标架构正常。LLM输入512–1024、输出128、batch1起测，后按业务负载提升；YOLO从640 batch1；视频按官方支持的分辨率/帧数与低内存选项起测。首个Token不是最终交付，生成完整可解释结果并测质量后才进入持续负载。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不是新增模型推荐，而是展示同一判定链的不同结果。YOLO同硬件官方证据覆盖基本执行，生产服务质量和本机配置仍需验收。Qwen27的总容量算术和代码回退只是部分证据，缺失项必须保留待验证状态。DeepSeek双机未达到已公布配方的硬件要求，拒绝用纯权重下界宣称可用；如供应商提供更小配置实现，需要重新核对实际权重、精度、算子、上下文、并发和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最终证据包同时记录硬件设备ID/显存、CPU RAM磁盘、PCIe/NUMA/RDMA拓扑、驱动固件与运行库、镜像digest、框架commit、模型SHA、量化来源、启动参数、代表性输入输出、质量评估、每rank峰值与持续负载。建议至少1小时持续测试不等于覆盖长期可靠性。业务必须给出质量、延迟和并发阈值，未给定前仅报告实测不判定生产达标。完整参考见配套大纲，网页latest与main实施时重新核验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https://huggingface.co/deepseek-ai/DeepSeek-V4-Pro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https://docs.vllm.ai/projects/ascend/en/latest/tutorials/models/DeepSeek-V4-Pro.html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flag: https://huggingface.co/FlagRelease/Qwen3.8-Flash-Next-BF16-ascend-FlagOS</a:t>
            </a:r>
          </a:p>
          <a:p xmlns:a="http://schemas.openxmlformats.org/drawingml/2006/main">
            <a:r>
              <a:t>qcode: https://raw.githubusercontent.com/huggingface/transformers/main/src/transformers/models/qwen3_5/modeling_qwen3_5.py</a:t>
            </a:r>
          </a:p>
          <a:p xmlns:a="http://schemas.openxmlformats.org/drawingml/2006/main">
            <a:r>
              <a:t>yolo: https://docs.ultralytics.com/models/yolo26/</a:t>
            </a:r>
          </a:p>
          <a:p xmlns:a="http://schemas.openxmlformats.org/drawingml/2006/main">
            <a:r>
              <a:t>trt: https://docs.ultralytics.com/integrations/tensorrt/</a:t>
            </a:r>
          </a:p>
          <a:p xmlns:a="http://schemas.openxmlformats.org/drawingml/2006/main">
            <a:r>
              <a:t>ltx: https://huggingface.co/Lightricks/LTX-2.5</a:t>
            </a:r>
          </a:p>
          <a:p xmlns:a="http://schemas.openxmlformats.org/drawingml/2006/main">
            <a:r>
              <a:t>ltxcode: https://github.com/Lightricks/LTX-2</a:t>
            </a:r>
          </a:p>
          <a:p xmlns:a="http://schemas.openxmlformats.org/drawingml/2006/main">
            <a:r>
              <a:t>magi: https://huggingface.co/sand-ai/MAGI-2-preview</a:t>
            </a:r>
          </a:p>
          <a:p xmlns:a="http://schemas.openxmlformats.org/drawingml/2006/main">
            <a:r>
              <a:t>cog: https://huggingface.co/zai-org/CogVideoX-2b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dedb53e6d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53fdcd5b5849d0" /><Relationship Type="http://schemas.openxmlformats.org/officeDocument/2006/relationships/slideLayout" Target="/ppt/slideLayouts/slideLayout1.xml" Id="Rbf2379e8831b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379e8831b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31fd3691a4670" /><Relationship Type="http://schemas.openxmlformats.org/officeDocument/2006/relationships/image" Target="/ppt/media/image.jpeg" Id="Rb1a68a49b6e545df" /><Relationship Type="http://schemas.openxmlformats.org/officeDocument/2006/relationships/notesSlide" Target="/ppt/notesSlides/notesSlide1.xml" Id="Ra84a8b98003447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b6634fc674a4d" /><Relationship Type="http://schemas.openxmlformats.org/officeDocument/2006/relationships/notesSlide" Target="/ppt/notesSlides/notesSlide2.xml" Id="Rc8bc4a7fb93946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f1b838f9a474d" /><Relationship Type="http://schemas.openxmlformats.org/officeDocument/2006/relationships/notesSlide" Target="/ppt/notesSlides/notesSlide3.xml" Id="R94a4365a76e142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01593d9d44b27" /><Relationship Type="http://schemas.openxmlformats.org/officeDocument/2006/relationships/notesSlide" Target="/ppt/notesSlides/notesSlide4.xml" Id="R5c854191268743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b62c61c094f79" /><Relationship Type="http://schemas.openxmlformats.org/officeDocument/2006/relationships/notesSlide" Target="/ppt/notesSlides/notesSlide5.xml" Id="Re8ad2a0e1293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57cf4c6ad4a16" /><Relationship Type="http://schemas.openxmlformats.org/officeDocument/2006/relationships/notesSlide" Target="/ppt/notesSlides/notesSlide6.xml" Id="Rac1aee0b3d5647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f2c1ce5f44f34" /><Relationship Type="http://schemas.openxmlformats.org/officeDocument/2006/relationships/notesSlide" Target="/ppt/notesSlides/notesSlide7.xml" Id="R90db257d04bd40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a28e901124772" /><Relationship Type="http://schemas.openxmlformats.org/officeDocument/2006/relationships/notesSlide" Target="/ppt/notesSlides/notesSlide8.xml" Id="Rce020287c82943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4b4cafce6457f" /><Relationship Type="http://schemas.openxmlformats.org/officeDocument/2006/relationships/notesSlide" Target="/ppt/notesSlides/notesSlide9.xml" Id="R9a383185f56a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c48f6af004566" /><Relationship Type="http://schemas.openxmlformats.org/officeDocument/2006/relationships/notesSlide" Target="/ppt/notesSlides/notesSlide10.xml" Id="R87114d59671649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dff4b15324b23" /><Relationship Type="http://schemas.openxmlformats.org/officeDocument/2006/relationships/notesSlide" Target="/ppt/notesSlides/notesSlide11.xml" Id="R7e99c2e9370f40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6860e0a1c4b79" /><Relationship Type="http://schemas.openxmlformats.org/officeDocument/2006/relationships/image" Target="/ppt/media/image2.jpeg" Id="R3e3fc3fd48484abd" /><Relationship Type="http://schemas.openxmlformats.org/officeDocument/2006/relationships/notesSlide" Target="/ppt/notesSlides/notesSlide12.xml" Id="Rcbb4456cf5ce46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350727d4e45d7" /><Relationship Type="http://schemas.openxmlformats.org/officeDocument/2006/relationships/notesSlide" Target="/ppt/notesSlides/notesSlide13.xml" Id="Rb9ecb3365c8542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38bec3e324dcb" /><Relationship Type="http://schemas.openxmlformats.org/officeDocument/2006/relationships/hyperlink" Target="https://docs.vllm.ai/projects/ascend/en/latest/tutorials/models/DeepSeek-V4-Pro.html" TargetMode="External" Id="Rda7a4796a5684220" /><Relationship Type="http://schemas.openxmlformats.org/officeDocument/2006/relationships/hyperlink" Target="https://huggingface.co/FlagRelease/Qwen3.8-Flash-Next-BF16-ascend-FlagOS" TargetMode="External" Id="R0d9c8b86b45c42a3" /><Relationship Type="http://schemas.openxmlformats.org/officeDocument/2006/relationships/hyperlink" Target="https://docs.ultralytics.com/models/yolo26/" TargetMode="External" Id="R81c5047bcec944b8" /><Relationship Type="http://schemas.openxmlformats.org/officeDocument/2006/relationships/hyperlink" Target="https://huggingface.co/Lightricks/LTX-2.5" TargetMode="External" Id="Rb25eb29b49e84c46" /><Relationship Type="http://schemas.openxmlformats.org/officeDocument/2006/relationships/hyperlink" Target="https://huggingface.co/docs/huggingface_hub/guides/cli" TargetMode="External" Id="R71dffb5cb3984d82" /><Relationship Type="http://schemas.openxmlformats.org/officeDocument/2006/relationships/notesSlide" Target="/ppt/notesSlides/notesSlide14.xml" Id="R75c2a1d6aeba48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FD80C-95B2-4B6F-9C45-495A1AE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rPr>
              <a:t>GPU / NPU 租赁调研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48396-8568-43BE-A5B6-49107F52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"/>
            <a:ext cx="1095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硬件配置与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模型部署可行性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A56F3-2973-4221-99A3-2B1F1F6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rPr>
              <a:t>2 台 × 8 卡 910B    /    4–6 台 × 8 卡 T4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68a49b6e545df"/>
          <a:stretch xmlns:a="http://schemas.openxmlformats.org/drawingml/2006/main"/>
        </p:blipFill>
        <p:spPr>
          <a:xfrm xmlns:a="http://schemas.openxmlformats.org/drawingml/2006/main">
            <a:off x="0" y="3781425"/>
            <a:ext cx="12192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5A8F2-8502-461D-B142-26287F31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  硬件配置清单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B7388-5C7B-4178-A921-940F311B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  模型适配结论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72148-01F0-47F4-9D26-ED885CD2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81650"/>
            <a:ext cx="3743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  判断模型适配方法论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134CA-CC1A-452E-9212-13A5314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rPr>
              <a:t>调研修订版  ·  2026.09.14  ·  结论按具体权重、软件栈与硬件条件限定</a:t>
            </a:r>
          </a:p>
        </p:txBody>
      </p:sp>
    </p:spTree>
    <p:extLst>
      <p:ext uri="{BB962C8B-B14F-4D97-AF65-F5344CB8AC3E}">
        <p14:creationId xmlns:p14="http://schemas.microsoft.com/office/powerpoint/2010/main" val="1395779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60561-605D-4091-9809-BED4C2F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7A23A-294B-478C-81CA-61C00C7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1.1  硬件范围与资源池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5AAD-EEBD-4FC0-8596-F7707034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交付范围覆盖服务器、互联、存储、供电散热及管理接入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02E33-9B92-4B19-B96B-C3C7E37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6AB15-E013-43CD-AE00-E6EAA0D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8C31A-239C-47CE-B163-1D7C4AC4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F98BB-C91C-4F64-A393-7D93234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统一接入与任务队列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文本 / 检测 / 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3C48D-03D3-4443-BD2A-555A387F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池：2 台 × 8 卡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64GB/卡待确认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D050B-90A6-4A93-ACD3-EFE3061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00525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池：4–6 台 × 8 卡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16GB/卡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571750"/>
            <a:ext cx="85725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14750" y="2571750"/>
            <a:ext cx="857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C4E44-F549-463E-AE7F-15130F18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同构跨机互联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HCCL / RDMA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59633-4BF0-4F76-84E3-821092F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00525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独立任务 / 多副本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优先单机分配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26003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62875" y="472440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1DF7B-C272-42DA-861D-085153D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0670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模型仓库 / 输出存储</a:t>
            </a:r>
          </a:p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管理网络 / BMC</a:t>
            </a:r>
          </a:p>
          <a:p xmlns:a="http://schemas.openxmlformats.org/drawingml/2006/main">
            <a:pPr algn="l">
              <a:def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机柜 / PDU / 散热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410F0-3391-48B2-8C91-AC9C267D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标称容量：910B 池 1,024GB；T4 每台 128GB。跨卡、跨机容量需要软件显式分片。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96D60-19EE-4D50-A617-8C9495C9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架构为本项目方案；硬件参考：Huawei Atlas 800I A2、NVIDIA T4。异构资源池分别运行模型实例</a:t>
            </a:r>
          </a:p>
        </p:txBody>
      </p:sp>
    </p:spTree>
    <p:extLst>
      <p:ext uri="{BB962C8B-B14F-4D97-AF65-F5344CB8AC3E}">
        <p14:creationId xmlns:p14="http://schemas.microsoft.com/office/powerpoint/2010/main" val="495665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A493A-9F90-4545-A049-3C64353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33DC0-86DB-499A-8E92-7ED19DEF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1.2  单台服务器硬件清单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850C1-BBDD-4CC4-8D95-136DE0D7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以下是完整租赁 BOM 的询价起点；主机配置为建议值，按最终模型修订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42C1D-AA47-48E6-AEA5-363ED724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B12C5-565A-4C07-B9AE-0A1AB30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68514-C7BF-46BD-A44D-16BCB3D0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4438650"/>
                <a:gridCol w="45053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硬件项目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910B：每台，合计 2 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T4：每台，合计 4–6 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加速卡与承载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64GB；配套板卡互联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16GB；足量 PCIe 插槽 / 转接板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ECC 内存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厂家配套 CPU；1–2TB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32–64 物理核；256–512GB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960GB SSD，RAID1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960GB SSD，RAID1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模型与缓存盘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 可用容量 8TB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 可用容量 4TB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网卡 / 管理口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NPU RDMA；业务口；BMC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双口 25GbE；独立 BMC 管理口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 / 电源 / 散热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完整机箱、导轨、冗余 PSU、风扇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 8 张被动散热卡的整机风道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73122-C003-4865-9257-F9FB45E5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容量均需以可用容量交付；系统盘 RAID1 不等于两块容量相加。参考：Huawei / NVIDIA；RAM、磁盘为项目建议</a:t>
            </a:r>
          </a:p>
        </p:txBody>
      </p:sp>
    </p:spTree>
    <p:extLst>
      <p:ext uri="{BB962C8B-B14F-4D97-AF65-F5344CB8AC3E}">
        <p14:creationId xmlns:p14="http://schemas.microsoft.com/office/powerpoint/2010/main" val="1478383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6AB57-77D5-4DD3-A3D1-795AD4C1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第一部分  /  硬件配置清单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5B63-403B-4431-A380-DB77393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1.3  集群配套与最终交付环境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4ED13-02CF-40A5-9873-8BAEAF3C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租赁合同应包含可运行的软件环境与对应硬件，不只交付可登录的裸机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2DC94-2C84-4C3F-9D54-8B627E51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0558D-7E92-4B2C-BED0-9096515E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A4987-C7CE-4D4C-B283-3A0722E0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86868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配套硬件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接口 / 交付要求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互联网络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按整机 RDMA 端口配齐交换机、AOC 或光模块与光纤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若每台 8 × 200GE：共 16 条接入链路，交换容量同步核验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业务与管理网络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双口 25G 共 8–12 个接入口；BMC 共 6–8 个接入口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补齐上联、网线、IP、路由；已有设备可复用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共享存储与机房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模型镜像与输出存储、备份目标；容量按留存量计算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机柜空间、导轨、双路供电 / PDU、散热与远程控制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790F-9C8A-4A35-8A1B-C7FC94AC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910B 交付栈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D09DE-56AC-4910-A0CF-3079CC2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5324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Linux + 驱动 / 固件 + CANN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模型专用容器、HCCL / RDMA、设备权限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F8423-4236-4603-8289-F5D6E9B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2912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T4 交付栈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33C8D-4AAE-4B2A-9293-02748E01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67275"/>
            <a:ext cx="5124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Linux + NVIDIA 驱动 + CUDA 容器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Transformers / TensorRT / Diffusers 按任务固定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1F253-5DBF-4390-83BA-F26013AC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每套环境记录镜像 digest、框架 commit、依赖锁文件和启动脚本；不同模型可使用不同容器</a:t>
            </a:r>
          </a:p>
        </p:txBody>
      </p:sp>
    </p:spTree>
    <p:extLst>
      <p:ext uri="{BB962C8B-B14F-4D97-AF65-F5344CB8AC3E}">
        <p14:creationId xmlns:p14="http://schemas.microsoft.com/office/powerpoint/2010/main" val="1050902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78398-42E2-4BE9-947D-C16A957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26BA1-DAF5-4408-9950-8999051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2.1  模型适配结论总表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C7D76-6429-42B8-AA00-39B390B8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“官方已验证”“可进入验证”“当前原版不适配”采用不同证据标准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83510-7653-4831-93C4-93B1289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462EE-392F-4414-A0C4-0862130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1F366-970C-4E75-84FE-25104897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725"/>
                <a:gridCol w="2181225"/>
                <a:gridCol w="4972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 / 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决定结论的证据或缺口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 910B · GLM-5.3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双机未确认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 官方参考 4 台 A2；双机需新验证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 910B · DeepSeek-V4-Pro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不满足官方配方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W4A8 已要求至少 4 台 A2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双机 910B · Qwen3.8-Flash-Next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有适配，拓扑待核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FlagOS 有昇腾实现；未证明双机 8 卡 910B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Qwen3.8-27B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可进入 PoC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+ PyTorch 回退；数值与逐卡峰值待测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YOLO26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T4 已验证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官方提供 T4 TensorRT 10 检测测试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LTX-2.5 / MAGI-2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不作生产承诺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前者缺 T4 完整证据；后者要求 Hopper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54D6F-34CD-496B-9AB7-46A31AE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范围：910B 按 64GB/卡；均未在本项目租赁机实测。Qwen 云端 Flash 对应的公开权重为 Flash-Next</a:t>
            </a:r>
          </a:p>
        </p:txBody>
      </p:sp>
    </p:spTree>
    <p:extLst>
      <p:ext uri="{BB962C8B-B14F-4D97-AF65-F5344CB8AC3E}">
        <p14:creationId xmlns:p14="http://schemas.microsoft.com/office/powerpoint/2010/main" val="1876474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7E585-BA42-43B3-9EE8-50D4CBA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68135-BF3C-4500-B091-B0442E7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2.2  双机 910B：精度、框架与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F1047-0D91-4FCC-A38B-E98BD7A0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量化必须有对应权重格式和执行实现；更低比特不自动等于可部署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36A45-A510-420C-AD2C-9D7A7EF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1E59F-D7A9-45F5-A738-46942157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F2F0B-E1C2-4474-899A-30F95DA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05075"/>
                <a:gridCol w="4438650"/>
                <a:gridCol w="41052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已查到的执行路径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8 卡 910B 的判断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753B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约 1,506GB，双机装不下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W8A8C8；vLLM-Ascend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官方参考 4 A2，标为实验性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 理想权重约 753GB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容量可能，但运行余量 / 拓扑待证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未找到双机 W4 完整配方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DeepSeek-V4-Pro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1.6T / 激活 49B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原权重 FP4 / FP8 不等于 INT4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专用 W4A8 + 对应算子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官方要求至少 4 A2 或 2 A3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理想全 4bit 已约 800GB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且另有非量化模块与运行开销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A2 不满足该配方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完整约 180B 起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仓库 + 定制 SGLang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FlagGems / CANN / NPU GMM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示例运行时 MoE 启用 W8A16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粗估约 360GB 起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示例单机 16 设备，TP4 / DP4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缺双机 910B 同拓扑验证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1EB3F-242C-498B-A581-367EF5BA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双机方案可先做 Flash-Next 验证；GLM 与 DeepSeek 需供应商提供同配置运行证据。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562B5-73BA-4595-9BC4-85CC82B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来源：官方模型卡、vLLM-Ascend GLM5.3 / DeepSeek-V4-Pro 教程、FlagRelease 昇腾适配卡</a:t>
            </a:r>
          </a:p>
        </p:txBody>
      </p:sp>
    </p:spTree>
    <p:extLst>
      <p:ext uri="{BB962C8B-B14F-4D97-AF65-F5344CB8AC3E}">
        <p14:creationId xmlns:p14="http://schemas.microsoft.com/office/powerpoint/2010/main" val="831594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9AD3A-B7B3-4242-9760-1E80196C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D7286-21B2-41EF-96FD-9C7DFED9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2.3  T4：27B 文本推理与 YOLO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C1636-424F-4ECF-B2C1-0D6CA7A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同一台 8 卡服务器按任务切分；模型层分配与多副本是不同方式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F8388-B191-4F0E-A2AB-CC186B5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DE419-F817-441C-933A-DD3F5897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87142-84BD-4FC1-9988-1FE61D0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D05E5-EB1E-4C40-A25B-AEE85AE0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535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Qwen3.8-27B：单机 8 卡 PoC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E3970-CF75-47D5-8696-9F361C7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5353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FP16 权重约 56GB，先用短输入、并发 1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Transformers + Accelerate 分配模型层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attention 用 eager，GDN 用 PyTorch 回退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10886-3B76-4EE0-8D17-F96A53D9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仍需通过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E674F-85E8-4D6C-8DF5-07F0F71F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53244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FP16 无溢出；全部算子支持 SM75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逐卡峰值、生成质量及实际速度</a:t>
            </a:r>
          </a:p>
          <a:p xmlns:a="http://schemas.openxmlformats.org/drawingml/2006/main">
            <a:pPr algn="l">
              <a:def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“device_map”分层不是高效张量并行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9D600-99CD-43F8-BCC8-136C52C9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71675"/>
            <a:ext cx="510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YOLO26：官方 T4 路径可采用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0C7CD-21BD-41AD-9619-7AFFA99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81275"/>
            <a:ext cx="22288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视频帧 / 图片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解码与预处理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F02ED-A7E5-4C32-964D-D355A047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81275"/>
            <a:ext cx="22764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/ TensorRT 10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YOLO26s FP16</a:t>
            </a:r>
          </a:p>
        </p:txBody>
      </p:sp>
      <p:cxnSp>
        <p:nvCxnSpPr>
          <p:cNvPr id="3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82050" y="29956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72743-5E84-4EEB-ACD0-8E20A75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95725"/>
            <a:ext cx="50387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在目标 T4 导出 engine，640 输入起测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按单卡实例扩展，检测不需要 8 卡 TP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INT8 另需代表性校准集和质量回归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E73DB-2A6D-44BE-84E6-2DF14B93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5038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官方同硬件测试 ≠ 本机交付已验收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FC8C1-21EE-4A07-BD92-3C18F4C0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来源：Qwen 官方模型卡、Transformers qwen3_5 源码；Ultralytics YOLO26 与 TensorRT 集成文档</a:t>
            </a:r>
          </a:p>
        </p:txBody>
      </p:sp>
    </p:spTree>
    <p:extLst>
      <p:ext uri="{BB962C8B-B14F-4D97-AF65-F5344CB8AC3E}">
        <p14:creationId xmlns:p14="http://schemas.microsoft.com/office/powerpoint/2010/main" val="1178938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68473-FE20-4138-B4CC-8CC54614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第二部分  /  模型适配结论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CA140-41BE-493A-A692-0FF97BB2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2.4  T4 与最新开源视频模型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748AB-DFEB-4BFF-BC0B-1840D6E7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截至调研日，以已公开权重的 LTX-2.5、MAGI-2-preview 为近期代表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503D7-E0F5-4F5D-ABE4-B7210B8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A436D-B5E7-4141-92D9-D307AC2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B1911-F208-433F-ADF5-87F562E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4762500"/>
                <a:gridCol w="38385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官方执行条件 / 障碍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决策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LTX-2.5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22B 视频模型 + 12B 文本编码器等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主路径，低显存路径含 FP8 / 卸载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 SDPA 回退，但没有完整 T4 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不作为首批交付承诺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卸载只缓解容量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转换仍需算子与质量验证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MAGI-2-preview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114B MoE，激活 6B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官方要求 8 张 NVIDIA Hopper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 MagiAttention / MagiCompiler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当前原版路径不适配 T4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 T4 数量不能满足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Hopper 专用执行要求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CogVideoX-2B</a:t>
                      </a:r>
                    </a:p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较旧的备选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官方推荐 FP16；Diffusers 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模型卡提到量化可在 Colab T4 运行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卸载 + VAE 切片 / 分块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可作为 T4 视频 PoC 备选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不是“最新模型”的替代证明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时长、画质和速度需实测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AECB2-7A0C-4337-9DC1-B4C4DD40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81650"/>
            <a:ext cx="1099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F4A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F4A45"/>
                </a:solidFill>
                <a:latin typeface="Arial Unicode MS"/>
                <a:ea typeface="Arial Unicode MS"/>
                <a:cs typeface="Arial Unicode MS"/>
              </a:rPr>
              <a:t>若“最新视频模型”是硬性目标，应单独租赁其官方支持的 GPU 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7EB74-634D-46A8-9853-8920DC7B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来源：Lightricks LTX-2.5 / LTX-2；Sand AI MAGI-2-preview；Z.ai CogVideoX-2b 官方模型卡</a:t>
            </a:r>
          </a:p>
        </p:txBody>
      </p:sp>
    </p:spTree>
    <p:extLst>
      <p:ext uri="{BB962C8B-B14F-4D97-AF65-F5344CB8AC3E}">
        <p14:creationId xmlns:p14="http://schemas.microsoft.com/office/powerpoint/2010/main" val="1565522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6BE2E-F170-4709-9021-6A8CF63F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7E4C-D8AD-486C-A89F-5F2C9A0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3.1  适配判断的完整逻辑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5F94E-45BA-4203-9796-CA1B3CAE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结论必须绑定：权重版本 × 软件栈 × 硬件拓扑 × 工作负载 × 质量要求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2CF4B-49DD-4062-92AA-E2695C7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B619-4675-4823-9168-FD512B96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3D44C-9034-4E09-8DDC-D6834D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71E5E-DAEE-4D6B-9C86-70ED301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模型文件完整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架构可识别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7F07D-BCED-4EF0-911D-15D8572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精度与全部算子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支持目标芯片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DEE7-D19A-4812-9DF2-C1901692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571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逐卡峰值满足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分片与通信可行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10195-BA72-4C17-848C-19D630DE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190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主机资源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与输入输出完整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48750" y="25384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6AC43-5D23-4107-BBD0-2DE4A77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86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以上条件全部通过（AND）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721E6-C8D9-4D45-A299-2BDEBFC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静态合格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允许进入实机验证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BD0F0-E851-4673-BAE9-95580D46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真实权重生成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质量与负载测试通过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19895-F17A-4B40-B64C-27035C11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14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8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限定配置下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已验证可部署</a:t>
            </a:r>
          </a:p>
        </p:txBody>
      </p:sp>
      <p:cxnSp>
        <p:nvCxnSpPr>
          <p:cNvPr id="3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29050" y="46101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91425" y="46101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DBB29-31CD-4D44-84A0-AB0BB2BC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0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任一条件失败：当前方案不通过。缺少证据：标为待验证。修改精度或硬件后重新检查。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91830-498A-473A-82A0-77269A12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逻辑为本项目验收方法；“能下载”“能加载”“能生成”“满足生产负载”分别留证据</a:t>
            </a:r>
          </a:p>
        </p:txBody>
      </p:sp>
    </p:spTree>
    <p:extLst>
      <p:ext uri="{BB962C8B-B14F-4D97-AF65-F5344CB8AC3E}">
        <p14:creationId xmlns:p14="http://schemas.microsoft.com/office/powerpoint/2010/main" val="1839255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064CA-6FF1-464F-9534-D5F7B80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7964B-1973-4F65-BCD8-C146C42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3.2  条件、证据与失败处理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CF8CD-3632-4CB1-A1F4-C3B11F6F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每一项都必须回答“用什么证明通过”，不以模型名称相近代替兼容性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C22E-93DA-411F-B565-46794E3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B23D0-29CA-4E52-AB62-C4E4228D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F4581-A491-4376-B0B7-DE4A82D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4050"/>
                <a:gridCol w="4810125"/>
                <a:gridCol w="43148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不通过时的动作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权重与架构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repo + SHA；分片索引齐全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config 架构对应框架实现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补齐文件；选择支持该架构的版本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逐模块 dtype / quant 格式匹配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 SM / NPU 实现或回退可运行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换后端或转换权重；重新验证数值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逐卡内存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 + 缓存 + 工作区峰值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每个 rank 均低于可用显存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缩减负载 / 改量化 / 增卡后重算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并行与通信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 / EP / 分层合法；映射明确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设备拓扑、跨机通信测试通过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改分片；补齐互联；拒绝套用 A3 配方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主机与输出链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RAM / 磁盘满足加载与卸载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tokenizer / VAE / 解码等组件齐全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补资源或组件；生成完整目标输出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质量与服务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固定样本回归；目标负载持续测试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错误率、延迟、质量达成约定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定位并重测；未达标不作为生产交付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B3908-AE90-464D-96A5-4E62C39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证据固定到实际版本：模型 revision、容器 digest、框架 commit、驱动与 CANN / CUDA 版本</a:t>
            </a:r>
          </a:p>
        </p:txBody>
      </p:sp>
    </p:spTree>
    <p:extLst>
      <p:ext uri="{BB962C8B-B14F-4D97-AF65-F5344CB8AC3E}">
        <p14:creationId xmlns:p14="http://schemas.microsoft.com/office/powerpoint/2010/main" val="8957442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53C59-5A0C-4FAD-A7BF-1568C00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BCE75-4CE9-4755-BEE9-84CB087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3.3  显存与精度的计算边界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138BC-0BD8-4222-AD27-C7B38D62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模型适配使用逐卡运行峰值；总显存和平均分配只能做第一轮筛选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0C3D1-D6FF-417A-8D67-EBE9262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025FC-BB53-4B53-B765-136E549C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2BD07-FB8A-46DF-B521-09C43983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2A8D-811B-4F36-90BE-4B26497E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991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每个 rank 的峰值 = 权重 + KV / 状态 + 激活 / 工作区 + 通信 / 图缓存 + 余量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019425"/>
          <a:ext xmlns:a="http://schemas.openxmlformats.org/drawingml/2006/main" cx="110490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86010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计算环节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具体做法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读取实际张量 dtype 与量化配置；按实际分片归属求和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加入未量化模块、scale / zero-point、复制的 embedding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缓存与运行开销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按上下文、并发、图像尺寸或视频帧数估算，再实测峰值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GDN / MLA 等按实现计算，不直接套通用 KV 公式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精度匹配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“INT4 权重 + FP16 激活”与“FP4 + FP8”是不同路径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硬件、框架、打包格式、kernel 必须同时匹配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E03C6-BED6-45E0-8CD0-CB524583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963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示例：DeepSeek-V4-Pro 理想全 4bit ≈ 800GB ＜ 双机 1,024GB</a:t>
            </a:r>
          </a:p>
          <a:p xmlns:a="http://schemas.openxmlformats.org/drawingml/2006/main">
            <a:pPr algn="l">
              <a:def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但官方 W4A8 仍要求至少 4 A2，因此不能由这个不等式推出双机可部署。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34FE9-440E-4F39-94F4-EFA8009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参数量 × bit / 8 仅为权重粗估，采用十进制 GB。来源：DeepSeek 官方模型卡及 Ascend 专用部署教程</a:t>
            </a:r>
          </a:p>
        </p:txBody>
      </p:sp>
    </p:spTree>
    <p:extLst>
      <p:ext uri="{BB962C8B-B14F-4D97-AF65-F5344CB8AC3E}">
        <p14:creationId xmlns:p14="http://schemas.microsoft.com/office/powerpoint/2010/main" val="10230102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0E972-82DB-463D-BBE6-A1BB11E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042A0-E52D-45CF-9D58-DE843D00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3.4  Hugging Face 到完整输出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8A645-892B-4261-ACE0-6890857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每一步产生可保存的交付物；成功加载后仍需验证真实输出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4C50B-7622-4929-AD10-B568C7C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BEC1D-3602-48C6-BCAB-B28E26E8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65054-B75C-4CB8-833C-C2FD0A39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fc3fd48484abd"/>
          <a:stretch xmlns:a="http://schemas.openxmlformats.org/drawingml/2006/main"/>
        </p:blipFill>
        <p:spPr>
          <a:xfrm xmlns:a="http://schemas.openxmlformats.org/drawingml/2006/main">
            <a:off x="575204" y="1971675"/>
            <a:ext cx="5317067" cy="2990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9D8CE-2256-429B-AB93-9BBD3A7F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30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官方模型页：模型身份与文件入口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E9E77-8E24-4E34-A411-0CF6CCA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DFE0-FE97-447B-9A1D-3717088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240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锁定与下载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074F9-C7AF-4BC7-9908-3DCF8A8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6695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保存 repo / SHA；完整 snapshot 与索引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C73A3-CF8E-4CD5-A6D7-8418C4D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37BA3-A735-4951-8BF1-D4D446A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9557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静态审核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6D465-6A36-4B83-AF1B-125B37EC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3847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精度、kernel、内存、拓扑条件逐项过关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6C750-B273-42EC-8C28-27CA9996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603A7-36BD-4242-9B33-09B1DB11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6710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固定环境并启动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F149B-735F-474E-8D16-A201803C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100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镜像 digest、依赖锁、设备映射与命令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B2C0A-925A-44CA-84D8-5444F862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38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94702-F9C2-4BE5-A69C-E44CDBA7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3862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真实样本生成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08677-7D01-412A-90A6-C1083BB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581525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文本 / 检测框 / 可播放视频；检查有限值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B1853-0B89-4F85-8115-1596CD57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33041-34DB-44EE-959F-DC926A49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回归与负载验收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9DB46-EF46-45EF-BF19-5EF09414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5305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质量基线、逐卡峰值、延迟及稳定性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DCF05-FC50-4ADE-9201-16E79E52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截图：Qwen3.8-27B 官方 Hugging Face 仓库。下载与执行示例、证据模板见配套大纲</a:t>
            </a:r>
          </a:p>
        </p:txBody>
      </p:sp>
    </p:spTree>
    <p:extLst>
      <p:ext uri="{BB962C8B-B14F-4D97-AF65-F5344CB8AC3E}">
        <p14:creationId xmlns:p14="http://schemas.microsoft.com/office/powerpoint/2010/main" val="8180898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BA231-1346-4DB3-8A01-874F20EB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0363F-0718-42C0-B7E0-1E5D5EA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3.5  三个实例的推导结果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94BE1-0AB4-4CAD-8A8C-6A7E9AED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同一套逻辑可以得到通过、待验证或不通过，而非统一给出“能跑”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A3ED9-8850-4CE8-A360-98D409E8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7E888-F35C-48EB-A136-CF09379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2E64F-5A9D-4DA3-BA7A-9631B06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90725"/>
                <a:gridCol w="2905125"/>
                <a:gridCol w="3114675"/>
                <a:gridCol w="30384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YOLO26s / T4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 / 8 T4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V4-Pro W4A8 / 2 A2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 / 框架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官方权重与 TensorRT 路径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官方权重与 Transformers 实现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 Ascend 专用量化路径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 /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T4 TensorRT10 测试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/ eager / GDN 回退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完整数值与 SM75 待测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 不等于原生 FP4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按官方 Ascend 算子配套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 / 拓扑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单卡官方路径有依据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目标输入 / batch 复验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56GB 权重有容量空间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逐卡分层与峰值待实测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未满足参考至少 4 A2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理想 800GB 不是运行峰值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推导结论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官方同硬件可部署路径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交付机器仍需验收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 PoC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不能标“已确认可部署”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当前配方不通过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增至参考硬件或另找证明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0800C-1E16-4F2C-9671-9EA2106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91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完整证明 = 固定配置的证据清单 + 可复现启动 + 正确输出 + 目标负载达标。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2CF11-EB6D-479A-A6F7-40BB8F14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来源：Ultralytics YOLO26；Transformers qwen3_5；vLLM-Ascend DeepSeek-V4-Pro。未进行本项目实机测试</a:t>
            </a:r>
          </a:p>
        </p:txBody>
      </p:sp>
    </p:spTree>
    <p:extLst>
      <p:ext uri="{BB962C8B-B14F-4D97-AF65-F5344CB8AC3E}">
        <p14:creationId xmlns:p14="http://schemas.microsoft.com/office/powerpoint/2010/main" val="11823548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EA807-F8B7-4E86-97E9-C31BE2A6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第三部分  /  判断模型适配方法论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76D1-BA4E-4FA7-B143-F28048C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3.6  最终验收与资料依据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372B0-E5A7-4E5D-97F9-322D05B5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交付结论应写成“某版本模型，在某配置和负载下通过”，保留复现实验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065A5-8E03-40AD-BF0C-B32198E9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D9B01-7634-42A2-8BFD-23D4B5B3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95F23-BE65-4A08-B6FB-C368CCB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4743450"/>
                <a:gridCol w="446722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必须交付的结果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 / 质量指标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文本生成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真实请求与完整回答；输入 / 输出 Token 计数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TTFT、TPOT、吞吐、错误率、质量回归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检测框 / 类别 / 置信度；固定评估集结果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端到端延迟、FPS、mAP / 召回率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可播放文件；帧数 / 尺寸 / FPS 与随机种子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秒 / 视频、峰值显存、黑帧与画质检查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74CEB-CC06-424B-B219-808731A3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14800"/>
            <a:ext cx="1092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共同证据包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3DEAE-1B1F-4CE3-8AA6-E76AB997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91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硬件与拓扑清单 · 权重 SHA · 环境版本 · 启动脚本 · 原始日志 · 每卡峰值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固定负载测试与重启恢复；持续测试建议至少 1 小时，阈值由业务确认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18FEA-130E-4ABE-B049-6F80AF2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a7a4796a5684220"/>
              </a:rPr>
              <a:t>昇腾配方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DFC6-DB03-4FCF-B9B8-1BE5E43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d9c8b86b45c42a3"/>
              </a:rPr>
              <a:t>Flash-Next 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5F603-CD3B-4B7C-B986-0F14A83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1c5047bcec944b8"/>
              </a:rPr>
              <a:t>YOLO / T4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7A57E-AEE1-4A11-9B64-2A2F7DBF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25eb29b49e84c46"/>
              </a:rPr>
              <a:t>视频模型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9E5DE-6285-4D53-BC9C-2989EC41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5626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1dffb5cb3984d82"/>
              </a:rPr>
              <a:t>完整来源见大纲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E2326-7114-45D6-A24F-9A3B4D0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公开资料核验日期：2026-09-14。所有来源按页置于演讲者备注；本报告不包含租赁机实际 benchmark</a:t>
            </a:r>
          </a:p>
        </p:txBody>
      </p:sp>
    </p:spTree>
    <p:extLst>
      <p:ext uri="{BB962C8B-B14F-4D97-AF65-F5344CB8AC3E}">
        <p14:creationId xmlns:p14="http://schemas.microsoft.com/office/powerpoint/2010/main" val="238136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2026-09-14T11:03:18.1130000Z</dcterms:created>
  <dcterms:modified xsi:type="dcterms:W3CDTF">2026-09-14T11:03:18.1130000Z</dcterms:modified>
</coreProperties>
</file>