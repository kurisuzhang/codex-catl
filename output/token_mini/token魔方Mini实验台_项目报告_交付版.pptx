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33cecb6b74249" /><Relationship Type="http://schemas.openxmlformats.org/officeDocument/2006/relationships/extended-properties" Target="/docProps/app.xml" Id="Rac71301905a04034" /><Relationship Type="http://schemas.openxmlformats.org/officeDocument/2006/relationships/officeDocument" Target="/ppt/presentation.xml" Id="R1481a8a36f9d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5f635f0d3f4132"/>
  </p:sldMasterIdLst>
  <p:notesMasterIdLst>
    <p:notesMasterId xmlns:r="http://schemas.openxmlformats.org/officeDocument/2006/relationships" r:id="R5c615126dfcb4b53"/>
  </p:notesMasterIdLst>
  <p:sldIdLst>
    <p:sldId xmlns:r="http://schemas.openxmlformats.org/officeDocument/2006/relationships" id="256" r:id="R5eedc2afb22746ff"/>
    <p:sldId xmlns:r="http://schemas.openxmlformats.org/officeDocument/2006/relationships" id="257" r:id="R5c45439557ff446c"/>
    <p:sldId xmlns:r="http://schemas.openxmlformats.org/officeDocument/2006/relationships" id="258" r:id="R4ad27e5dd80a4b5d"/>
    <p:sldId xmlns:r="http://schemas.openxmlformats.org/officeDocument/2006/relationships" id="259" r:id="R9dd8f9a698af49bc"/>
    <p:sldId xmlns:r="http://schemas.openxmlformats.org/officeDocument/2006/relationships" id="260" r:id="Rb27c880b3dc04baf"/>
    <p:sldId xmlns:r="http://schemas.openxmlformats.org/officeDocument/2006/relationships" id="261" r:id="Ra795ce56fb274d6c"/>
    <p:sldId xmlns:r="http://schemas.openxmlformats.org/officeDocument/2006/relationships" id="262" r:id="R24847820e7a6441a"/>
    <p:sldId xmlns:r="http://schemas.openxmlformats.org/officeDocument/2006/relationships" id="263" r:id="R9603b611f4634c39"/>
    <p:sldId xmlns:r="http://schemas.openxmlformats.org/officeDocument/2006/relationships" id="264" r:id="Rb97be0a2961c469f"/>
    <p:sldId xmlns:r="http://schemas.openxmlformats.org/officeDocument/2006/relationships" id="265" r:id="Rb4f21dc913df47a8"/>
    <p:sldId xmlns:r="http://schemas.openxmlformats.org/officeDocument/2006/relationships" id="266" r:id="Rd211177cb6f74d13"/>
    <p:sldId xmlns:r="http://schemas.openxmlformats.org/officeDocument/2006/relationships" id="267" r:id="R98212f576b574e7d"/>
    <p:sldId xmlns:r="http://schemas.openxmlformats.org/officeDocument/2006/relationships" id="268" r:id="R659341e058cd4b73"/>
    <p:sldId xmlns:r="http://schemas.openxmlformats.org/officeDocument/2006/relationships" id="269" r:id="R1d5555c7584a4efa"/>
    <p:sldId xmlns:r="http://schemas.openxmlformats.org/officeDocument/2006/relationships" id="270" r:id="Rd9caa4eca9f342ec"/>
    <p:sldId xmlns:r="http://schemas.openxmlformats.org/officeDocument/2006/relationships" id="271" r:id="R15d86a13b5ee4c33"/>
    <p:sldId xmlns:r="http://schemas.openxmlformats.org/officeDocument/2006/relationships" id="272" r:id="R540bff0921254efc"/>
    <p:sldId xmlns:r="http://schemas.openxmlformats.org/officeDocument/2006/relationships" id="273" r:id="R20e0ac9c17294a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bf7ce597854ddf" /><Relationship Type="http://schemas.openxmlformats.org/officeDocument/2006/relationships/slideMaster" Target="/ppt/slideMasters/slideMaster1.xml" Id="Re95f635f0d3f4132" /><Relationship Type="http://schemas.openxmlformats.org/officeDocument/2006/relationships/notesMaster" Target="/ppt/notesMasters/notesMaster1.xml" Id="R5c615126dfcb4b53" /><Relationship Type="http://schemas.openxmlformats.org/officeDocument/2006/relationships/presProps" Target="/ppt/presProps.xml" Id="Rc428d94245de4fc7" /><Relationship Type="http://schemas.openxmlformats.org/officeDocument/2006/relationships/tableStyles" Target="/ppt/tableStyles.xml" Id="Rcc6eac48e10c479f" /><Relationship Type="http://schemas.openxmlformats.org/officeDocument/2006/relationships/slide" Target="/ppt/slides/slide1.xml" Id="R5eedc2afb22746ff" /><Relationship Type="http://schemas.openxmlformats.org/officeDocument/2006/relationships/slide" Target="/ppt/slides/slide2.xml" Id="R5c45439557ff446c" /><Relationship Type="http://schemas.openxmlformats.org/officeDocument/2006/relationships/slide" Target="/ppt/slides/slide3.xml" Id="R4ad27e5dd80a4b5d" /><Relationship Type="http://schemas.openxmlformats.org/officeDocument/2006/relationships/slide" Target="/ppt/slides/slide4.xml" Id="R9dd8f9a698af49bc" /><Relationship Type="http://schemas.openxmlformats.org/officeDocument/2006/relationships/slide" Target="/ppt/slides/slide5.xml" Id="Rb27c880b3dc04baf" /><Relationship Type="http://schemas.openxmlformats.org/officeDocument/2006/relationships/slide" Target="/ppt/slides/slide6.xml" Id="Ra795ce56fb274d6c" /><Relationship Type="http://schemas.openxmlformats.org/officeDocument/2006/relationships/slide" Target="/ppt/slides/slide7.xml" Id="R24847820e7a6441a" /><Relationship Type="http://schemas.openxmlformats.org/officeDocument/2006/relationships/slide" Target="/ppt/slides/slide8.xml" Id="R9603b611f4634c39" /><Relationship Type="http://schemas.openxmlformats.org/officeDocument/2006/relationships/slide" Target="/ppt/slides/slide9.xml" Id="Rb97be0a2961c469f" /><Relationship Type="http://schemas.openxmlformats.org/officeDocument/2006/relationships/slide" Target="/ppt/slides/slide10.xml" Id="Rb4f21dc913df47a8" /><Relationship Type="http://schemas.openxmlformats.org/officeDocument/2006/relationships/slide" Target="/ppt/slides/slide11.xml" Id="Rd211177cb6f74d13" /><Relationship Type="http://schemas.openxmlformats.org/officeDocument/2006/relationships/slide" Target="/ppt/slides/slide12.xml" Id="R98212f576b574e7d" /><Relationship Type="http://schemas.openxmlformats.org/officeDocument/2006/relationships/slide" Target="/ppt/slides/slide13.xml" Id="R659341e058cd4b73" /><Relationship Type="http://schemas.openxmlformats.org/officeDocument/2006/relationships/slide" Target="/ppt/slides/slide14.xml" Id="R1d5555c7584a4efa" /><Relationship Type="http://schemas.openxmlformats.org/officeDocument/2006/relationships/slide" Target="/ppt/slides/slide15.xml" Id="Rd9caa4eca9f342ec" /><Relationship Type="http://schemas.openxmlformats.org/officeDocument/2006/relationships/slide" Target="/ppt/slides/slide16.xml" Id="R15d86a13b5ee4c33" /><Relationship Type="http://schemas.openxmlformats.org/officeDocument/2006/relationships/slide" Target="/ppt/slides/slide17.xml" Id="R540bff0921254efc" /><Relationship Type="http://schemas.openxmlformats.org/officeDocument/2006/relationships/slide" Target="/ppt/slides/slide18.xml" Id="R20e0ac9c17294a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446ef273fb42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1c88cd03f94afd" /><Relationship Type="http://schemas.openxmlformats.org/officeDocument/2006/relationships/notesMaster" Target="/ppt/notesMasters/notesMaster1.xml" Id="R20713b690e704c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c74c75e3964145" /><Relationship Type="http://schemas.openxmlformats.org/officeDocument/2006/relationships/notesMaster" Target="/ppt/notesMasters/notesMaster1.xml" Id="Ra28bf376415b4d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a3d0cb7ee14cfb" /><Relationship Type="http://schemas.openxmlformats.org/officeDocument/2006/relationships/notesMaster" Target="/ppt/notesMasters/notesMaster1.xml" Id="R53d3c47fea1348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799035b4a44f17" /><Relationship Type="http://schemas.openxmlformats.org/officeDocument/2006/relationships/notesMaster" Target="/ppt/notesMasters/notesMaster1.xml" Id="Rc28eea38c50048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963e5cd1e42c4" /><Relationship Type="http://schemas.openxmlformats.org/officeDocument/2006/relationships/notesMaster" Target="/ppt/notesMasters/notesMaster1.xml" Id="Rfff2521b228348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c8b9cbda5b47a4" /><Relationship Type="http://schemas.openxmlformats.org/officeDocument/2006/relationships/notesMaster" Target="/ppt/notesMasters/notesMaster1.xml" Id="Rea0bbeb8f05747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5280a1499c4acc" /><Relationship Type="http://schemas.openxmlformats.org/officeDocument/2006/relationships/notesMaster" Target="/ppt/notesMasters/notesMaster1.xml" Id="R480ceb1359064d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2942d044d545a3" /><Relationship Type="http://schemas.openxmlformats.org/officeDocument/2006/relationships/notesMaster" Target="/ppt/notesMasters/notesMaster1.xml" Id="R978ec9f7de7e4c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0b891ed18a483a" /><Relationship Type="http://schemas.openxmlformats.org/officeDocument/2006/relationships/notesMaster" Target="/ppt/notesMasters/notesMaster1.xml" Id="R0e0b17a5e10542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e265b191a74d86" /><Relationship Type="http://schemas.openxmlformats.org/officeDocument/2006/relationships/notesMaster" Target="/ppt/notesMasters/notesMaster1.xml" Id="R0d4034525c5241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c6809073d34c76" /><Relationship Type="http://schemas.openxmlformats.org/officeDocument/2006/relationships/notesMaster" Target="/ppt/notesMasters/notesMaster1.xml" Id="R65fa70fa9dc848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5234064bd94e3f" /><Relationship Type="http://schemas.openxmlformats.org/officeDocument/2006/relationships/notesMaster" Target="/ppt/notesMasters/notesMaster1.xml" Id="R5c77b690b6994d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d3ae6a7e994ceb" /><Relationship Type="http://schemas.openxmlformats.org/officeDocument/2006/relationships/notesMaster" Target="/ppt/notesMasters/notesMaster1.xml" Id="Rad94d3e3f9444e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ef2ab8989a43fe" /><Relationship Type="http://schemas.openxmlformats.org/officeDocument/2006/relationships/notesMaster" Target="/ppt/notesMasters/notesMaster1.xml" Id="R2799e7581a9440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47a14e9bb040ef" /><Relationship Type="http://schemas.openxmlformats.org/officeDocument/2006/relationships/notesMaster" Target="/ppt/notesMasters/notesMaster1.xml" Id="Rbd86ec3ab1464b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8265c187f14a91" /><Relationship Type="http://schemas.openxmlformats.org/officeDocument/2006/relationships/notesMaster" Target="/ppt/notesMasters/notesMaster1.xml" Id="R9b3405b1ef604c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e0a58c7c864e19" /><Relationship Type="http://schemas.openxmlformats.org/officeDocument/2006/relationships/notesMaster" Target="/ppt/notesMasters/notesMaster1.xml" Id="R31ecc9afb11244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4d3878a5bd450d" /><Relationship Type="http://schemas.openxmlformats.org/officeDocument/2006/relationships/notesMaster" Target="/ppt/notesMasters/notesMaster1.xml" Id="Re3cf70c32f4e42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内部立项与跨部门评审。依据已确认的执行文档v1.5制作，保留11个主题，合计18页。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优先建议Qwen3-8B作为910B文本联调候选，具体平台采购规格尚未确认。YOLO和Wan独立PoC，不阻塞首个文本计量案例。技术验证完成不代表商业闭环完成。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图为资源布置示意，不代表U位尺寸。通算服务器仅列配置类别，不画进两新柜。910B整机单台超过5kW为用户输入，因此两台不可装入同一10kW机柜。卡数计算2×8=16，6×8=48。T4多卡显存不是天然连续显存。RoCE交换机拟放A柜，图上不占服务器槽，功率另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均为相应整机/设备的设计负载峰值，不能用GPU板卡功耗代替整机，不能将冗余PSU铭牌额定值简单相加。P机柜可用由机房在回路、PDU、故障供电及制冷条件下确认，不自动等于标称10kW。A柜网络负载含RoCE交换机，B柜按实际驻留设备计。覆盖14台整机及网络设备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色为业务网，青色为910B高速计算网，灰色为BMC带外管理。业务网覆盖图示910B与通算，T4业务接入以文字说明。可选存储独立网按模型分发需要启用。跨柜共用同一交换机无新增交换跳数。单RoCE交换机无交换机级冗余。验收：接口与模块兼容、实际距离/光纤/波长/FEC/光功率；16端口速率与映射、MTU/IP、按厂家方案配置PFC/ECN；光误码和丢包检查，再做双机HCCL带宽与实际并行任务。不得仅凭ping。T4不自动接入昇腾HCCL通信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roce: https://e.huawei.com/cn/products/computing/ascend/atlas-800t-a2</a:t>
            </a:r>
          </a:p>
          <a:p xmlns:a="http://schemas.openxmlformats.org/drawingml/2006/main">
            <a:r>
              <a:t>optics: https://e.huawei.com/cn/products/dcn-modules/200g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列为候选替代路径，不要求全部组件同时安装。T4支持FP16及经核验的INT4/INT8路径；BF16/FP8原生能力不能按新卡假定。CUDA专用kernel无法直接搬到Ascend。固定OS/CPU架构、驱动、固件、CUDA或CANN、框架、引擎和镜像digest，按选定release支持矩阵验收。当前文档快照只是研究来源，不宣称latest镜像已在本机验证。vLLM不作为YOLO或Wan统一引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gpu: https://docs.vllm.ai/en/latest/getting_started/installation/gpu/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trt: https://nvidia.github.io/TensorRT-LLM/reference/support-matrix.html</a:t>
            </a:r>
          </a:p>
          <a:p xmlns:a="http://schemas.openxmlformats.org/drawingml/2006/main">
            <a:r>
              <a:t>install: https://docs.vllm.ai/projects/ascend/en/main/getting_started/installation.html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逻辑架构，未声称全部功能属于MASS或已部署。管理/配置、请求、计量三个职责分开。计量字段：tenant_id、request_id、attempt_id、event_id、model/version、tokenizer版本、开始结束时间、状态、input/output/cache_hit/cache_miss、规则版本、原始证据引用。缓存量按双方计费规则核对，框架缓存块计数不得直接当计费Token。YOLO与Wan使用task_id和图片/视频任务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固定候选ID：Qwen/Qwen3-8B；deepseek-ai/DeepSeek-R1-Distill-Qwen-32B；zai-org/GLM-4.5-Air。权重revision/hash、目标引擎release与镜像digest待设备验证阶段冻结，不能把研究候选称为已验收配置。Qwen3-Dense在当前A2/A3矩阵支持；DeepSeek Distill标为experimental。GLM-4.5-Air主干总参数106B、激活12B，仓库张量统计约110B，容量以实际权重字节与加载策略为准，不能按激活参数估算。优先单机支持的并行配置，只有容量或性能需要时再双机HCCL。备选完整DeepSeek-R1/V3.2须另算量化/双机容量，当前不承诺。所有模型均未本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asc: https://docs.vllm.ai/projects/ascend/en/latest/user_guide/support_matrix/supported_models.html</a:t>
            </a:r>
          </a:p>
          <a:p xmlns:a="http://schemas.openxmlformats.org/drawingml/2006/main">
            <a:r>
              <a:t>qwen: https://huggingface.co/Qwen/Qwen3-8B</a:t>
            </a:r>
          </a:p>
          <a:p xmlns:a="http://schemas.openxmlformats.org/drawingml/2006/main">
            <a:r>
              <a:t>ds: https://huggingface.co/deepseek-ai/DeepSeek-R1-Distill-Qwen-32B</a:t>
            </a:r>
          </a:p>
          <a:p xmlns:a="http://schemas.openxmlformats.org/drawingml/2006/main">
            <a:r>
              <a:t>glm: https://huggingface.co/zai-org/GLM-4.5-Air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完整ID：Qwen/Qwen2.5-7B-Instruct-AWQ，Ultralytics YOLO26n，Wan-AI/Wan2.1-T2V-1.3B。7B AWQ先验证单卡容量与SM75 kernel，不保证任意上下文/并发。量化只降低字节数，不减少参数量。可增加同系列14B量化作为备选，需重新核验。YOLO官方表有T4/TensorRT列，不搬用其速度作为本台结果；模型/软件许可及商用供给方式待核。Wan仓库低显存参考约8.19GB，非T4完整兼容证据，需检验FP16数值、注意力后端和卸载开销；不搬用4090速度。各任务固定独立镜像，不默认TP8。48卡在任务之间按卡时分配，不重复满额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  <a:p xmlns:a="http://schemas.openxmlformats.org/drawingml/2006/main">
            <a:r>
              <a:t>awq: https://huggingface.co/Qwen/Qwen2.5-7B-Instruct-AWQ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yolo: https://docs.ultralytics.com/models/yolo26</a:t>
            </a:r>
          </a:p>
          <a:p xmlns:a="http://schemas.openxmlformats.org/drawingml/2006/main">
            <a:r>
              <a:t>wan: 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操作记录包含nvidia-smi或npu-smi设备识别、每台8卡、PCIe/NUMA与网络，版本与镜像digest，模型文件hash与许可证。服务配置固定max_model_len、精度、量化、TP/PP/副本及CPU/内存限制。文本验证流式chunk边界、模板、截断、超时和输入输出计数。YOLO额外核验预/后处理、类别和坐标；Wan异步队列、任务状态、生成参数及结果文件交付。单模型成功不能外推所有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完整压测脚本模板（未执行）：</a:t>
            </a:r>
          </a:p>
          <a:p xmlns:a="http://schemas.openxmlformats.org/drawingml/2006/main">
            <a:r>
              <a:t>#!/usr/bin/env bash</a:t>
            </a:r>
          </a:p>
          <a:p xmlns:a="http://schemas.openxmlformats.org/drawingml/2006/main">
            <a:r>
              <a:t># Text-service benchmark template; not executed against any service during PPT creation.</a:t>
            </a:r>
          </a:p>
          <a:p xmlns:a="http://schemas.openxmlformats.org/drawingml/2006/main">
            <a:r>
              <a:t># CLI reference: vLLM 0.27.0. Pin the client and verify --help before use.</a:t>
            </a:r>
          </a:p>
          <a:p xmlns:a="http://schemas.openxmlformats.org/drawingml/2006/main">
            <a:r>
              <a:t>set -euo pipefail</a:t>
            </a:r>
          </a:p>
          <a:p xmlns:a="http://schemas.openxmlformats.org/drawingml/2006/main">
            <a:r>
              <a:t>: "${MODEL:?Set MODEL to the deployed service model ID}"</a:t>
            </a:r>
          </a:p>
          <a:p xmlns:a="http://schemas.openxmlformats.org/drawingml/2006/main">
            <a:r>
              <a:t>: "${TOKENIZER:?Set TOKENIZER to the matching local tokenizer path or ID}"</a:t>
            </a:r>
          </a:p>
          <a:p xmlns:a="http://schemas.openxmlformats.org/drawingml/2006/main">
            <a:r>
              <a:t>BENCH_URL="${BENCH_URL:-http://127.0.0.1:8000}"</a:t>
            </a:r>
          </a:p>
          <a:p xmlns:a="http://schemas.openxmlformats.org/drawingml/2006/main">
            <a:r>
              <a:t>BENCH_DIR="${BENCH_DIR:-./benchmark-results-$(date +%Y%m%d-%H%M%S)}"</a:t>
            </a:r>
          </a:p>
          <a:p xmlns:a="http://schemas.openxmlformats.org/drawingml/2006/main">
            <a:r>
              <a:t>BENCH_PROMPTS="${BENCH_PROMPTS:-500}"</a:t>
            </a:r>
          </a:p>
          <a:p xmlns:a="http://schemas.openxmlformats.org/drawingml/2006/main">
            <a:r>
              <a:t>mkdir -p "$BENCH_DIR"</a:t>
            </a:r>
          </a:p>
          <a:p xmlns:a="http://schemas.openxmlformats.org/drawingml/2006/main">
            <a:r>
              <a:t>vllm --version &gt; "$BENCH_DIR/client-version.txt"</a:t>
            </a:r>
          </a:p>
          <a:p xmlns:a="http://schemas.openxmlformats.org/drawingml/2006/main">
            <a:r>
              <a:t>vllm bench serve --help &gt; "$BENCH_DIR/client-help.txt"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Initial exploration only. Small-sample P99 is not a stable SLA estimate.</a:t>
            </a:r>
          </a:p>
          <a:p xmlns:a="http://schemas.openxmlformats.org/drawingml/2006/main">
            <a:r>
              <a:t># No cache-hit claim: repeat-prefix workloads and server usage evidence are separate.</a:t>
            </a:r>
          </a:p>
          <a:p xmlns:a="http://schemas.openxmlformats.org/drawingml/2006/main">
            <a:r>
              <a:t>for lengths in '256 128' '1024 128' '256 512' '1024 512'; do</a:t>
            </a:r>
          </a:p>
          <a:p xmlns:a="http://schemas.openxmlformats.org/drawingml/2006/main">
            <a:r>
              <a:t>  read -r input_len output_len &lt;&lt;&lt; "$lengths"</a:t>
            </a:r>
          </a:p>
          <a:p xmlns:a="http://schemas.openxmlformats.org/drawingml/2006/main">
            <a:r>
              <a:t>  for concurrency in 1 2 4 8 16 32; do</a:t>
            </a:r>
          </a:p>
          <a:p xmlns:a="http://schemas.openxmlformats.org/drawingml/2006/main">
            <a:r>
              <a:t>    for repeat in 1 2 3; do</a:t>
            </a:r>
          </a:p>
          <a:p xmlns:a="http://schemas.openxmlformats.org/drawingml/2006/main">
            <a:r>
              <a:t>      vllm bench serve \</a:t>
            </a:r>
          </a:p>
          <a:p xmlns:a="http://schemas.openxmlformats.org/drawingml/2006/main">
            <a:r>
              <a:t>        --backend openai --endpoint /v1/completions \</a:t>
            </a:r>
          </a:p>
          <a:p xmlns:a="http://schemas.openxmlformats.org/drawingml/2006/main">
            <a:r>
              <a:t>        --base-url "$BENCH_URL" --model "$MODEL" --tokenizer "$TOKENIZER" \</a:t>
            </a:r>
          </a:p>
          <a:p xmlns:a="http://schemas.openxmlformats.org/drawingml/2006/main">
            <a:r>
              <a:t>        --dataset-name random --input-len "$input_len" --output-len "$output_len" \</a:t>
            </a:r>
          </a:p>
          <a:p xmlns:a="http://schemas.openxmlformats.org/drawingml/2006/main">
            <a:r>
              <a:t>        --num-prompts "$BENCH_PROMPTS" --num-warmups 20 \</a:t>
            </a:r>
          </a:p>
          <a:p xmlns:a="http://schemas.openxmlformats.org/drawingml/2006/main">
            <a:r>
              <a:t>        --max-concurrency "$concurrency" --request-rate inf \</a:t>
            </a:r>
          </a:p>
          <a:p xmlns:a="http://schemas.openxmlformats.org/drawingml/2006/main">
            <a:r>
              <a:t>        --percentile-metrics ttft,tpot,itl,e2el --metric-percentiles 50,95,99 \</a:t>
            </a:r>
          </a:p>
          <a:p xmlns:a="http://schemas.openxmlformats.org/drawingml/2006/main">
            <a:r>
              <a:t>        --save-result --save-detailed --result-dir "$BENCH_DIR" \</a:t>
            </a:r>
          </a:p>
          <a:p xmlns:a="http://schemas.openxmlformats.org/drawingml/2006/main">
            <a:r>
              <a:t>        --result-filename "in${input_len}-out${output_len}-c${concurrency}-r${repeat}.json"</a:t>
            </a:r>
          </a:p>
          <a:p xmlns:a="http://schemas.openxmlformats.org/drawingml/2006/main">
            <a:r>
              <a:t>    done</a:t>
            </a:r>
          </a:p>
          <a:p xmlns:a="http://schemas.openxmlformats.org/drawingml/2006/main">
            <a:r>
              <a:t>  done</a:t>
            </a:r>
          </a:p>
          <a:p xmlns:a="http://schemas.openxmlformats.org/drawingml/2006/main">
            <a:r>
              <a:t>done</a:t>
            </a:r>
          </a:p>
          <a:p xmlns:a="http://schemas.openxmlformats.org/drawingml/2006/main">
            <a:r>
              <a:t># Run a separate arrival-rate experiment by replacing inf with chosen rates.</a:t>
            </a:r>
          </a:p>
          <a:p xmlns:a="http://schemas.openxmlformats.org/drawingml/2006/main">
            <a:r>
              <a:t># Preserve actual arrival rate, errors, duration, sample counts and server telemetry.</a:t>
            </a:r>
          </a:p>
          <a:p xmlns:a="http://schemas.openxmlformats.org/drawingml/2006/main">
            <a:r>
              <a:t># For authenticated/chat-only endpoints, adapt the backend, endpoint, template and</a:t>
            </a:r>
          </a:p>
          <a:p xmlns:a="http://schemas.openxmlformats.org/drawingml/2006/main">
            <a:r>
              <a:t># authentication using the installed client's help before running this script.</a:t>
            </a:r>
          </a:p>
          <a:p xmlns:a="http://schemas.openxmlformats.org/drawingml/2006/main">
            <a:r>
              <a:t># request_goodput is requests/s. Aggregate qualified input/output/cache tokens</a:t>
            </a:r>
          </a:p>
          <a:p xmlns:a="http://schemas.openxmlformats.org/drawingml/2006/main">
            <a:r>
              <a:t># separately, using the same request set and time window, before revenue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官方参数依据：https://docs.vllm.ai/en/v0.27.0/cli/bench/serve/</a:t>
            </a:r>
          </a:p>
          <a:p xmlns:a="http://schemas.openxmlformats.org/drawingml/2006/main">
            <a:r>
              <a:t>查询日期：2026-09-16。缓存命中另用重复前缀工作负载并核对服务端实际计数。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TPOT仅用于输出Token数≥2的样本，stream chunk不等于Token。统计所有请求错误与超时，分位数记录样本量。合格Token/s采用事先约定的合格请求集合，质量门槛不能仅靠客户端耗时替代。输入总数=命中+未命中（按约定计费边界）。client request_goodput为满足SLO请求数/秒，不能直接代入Token公式；输出吞吐是实际输出Token/秒。单卡吞吐不线性外推48卡，分别实测资源池和MASS入口。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metrics: https://docs.vllm.ai/en/latest/api/vllm/benchmarks/serve/</a:t>
            </a:r>
          </a:p>
          <a:p xmlns:a="http://schemas.openxmlformats.org/drawingml/2006/main">
            <a:r>
              <a:t>bench: https://docs.vllm.ai/en/v0.27.0/cli/bench/serve/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原公式完整保留：Decode集群月价值=Decode TGS×30×24×3600×Decode GPU总卡数×Decode单价/1000000×产出率。Prefill非命中与cache各用相应TGS、GPU总卡数、单价及计费产出率。910B资源卡为NPU，N泛指该资源池实际参与卡数。若直接使用集群Token/s则不再乘N。Mini基线Prefill/Decode混合部署，三类产能来自同一工作负载，不相加独立压测峰值。缓存TGS为可计费逻辑命中Token速率，不代表实际执行完整Prefill。η仅反映未在测量中体现的可用性/需求/可计费损失，避免重复打折。市场价格适用deepseek-flash(DeepSeek-V4.1-Flash)，高峰UTC工作日01:00–04:00及06:00–10:00，其余非高峰。公开API美元零售价不是本项目平台采购价，且与首选Qwen3-8B及蒸馏模型不同，不可直接估收入。YOLO按图片/任务，Wan按视频任务或合同单位另算。实际结算=双方认可用量×约定采购价±调整，实际回款以银行凭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price: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令R0是同一模型组合、同币种税口径、固定卡时与负载下以基准采购价计算的月收入，若三类单价同比例乘k且成本不变，则盈亏k*=C/R0；R0=0时无此边界。若收入uRfull、成本F+uV，则u*=F/(Rfull−V)，仅当Rfull&gt;V且u*≤1才存在该区间的盈亏可能。缓存比例改变会影响计费价格和产能，不可只改一个数就声称真实利润。月电量=实测平均kW×小时，机柜10kW不是持续负载。CAPEX与折旧不得同月重复全额计成本。实际T4卡时在文本/检测/视频间分配，总和不超过48张×可用时间。利润、应收与回款分别记录；共享CPU机柜已有资源按项目分摊，避免重复新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商务讨论清单，并非已签协议或法律意见。首批用同一请求样本比对Tokenizer、推理返回usage、接入记录及平台账单。需约定失败/取消/重试/部分输出及缓存口径，不能由技术默认免费或收费。检测/视频分别约定规格、质量、任务单位及价格。合同还需价格变更、税费、付款账户、争议处理和开票要求，以双方最终文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条款由商务/法务/财务评审。单交换机故障可能影响双机并行服务，同一资源池内独立单机服务的影响依赖网络与路由。合同约定故障责任归属、供应方与平台侧原因判定、不可用统计、维护排除项、赔付上限、退出与余额清算。数据最小留存及安全职责按实际数据和适用制度审查，不假定客户数据可任意留存或用于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以角色为泳道、阶段为列。公司制度未提供，不虚构审批姓名或时限。重要交接：技术产能报告传商务财务形成报价；商务法务确认条款后技术按配额发布；技术给出用量明细、商务获取平台对账确认、财务形成结算及发票、商务财务跟踪到账。真实商业闭环需要实际交易与凭证；模拟账单仅作为计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报告不声称设备已上架、模型已部署、压测已通过、合同已签或款项已到账。与第2页三项评审目标对应：确定首轮范围；明确资源资料及责任；设置试供给门槛。扩容依据需要实际质量、产能、订单与全成本经济性，不以峰值吞吐或能输出文本为充分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c4ee81c794e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ea858244724e0b" /><Relationship Type="http://schemas.openxmlformats.org/officeDocument/2006/relationships/slideLayout" Target="/ppt/slideLayouts/slideLayout1.xml" Id="R8a3208cd4003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3208cd4003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f26633f2f4703" /><Relationship Type="http://schemas.openxmlformats.org/officeDocument/2006/relationships/notesSlide" Target="/ppt/notesSlides/notesSlide1.xml" Id="R2365a2813f634a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c57a0c2604c0e" /><Relationship Type="http://schemas.openxmlformats.org/officeDocument/2006/relationships/notesSlide" Target="/ppt/notesSlides/notesSlide2.xml" Id="R061ab82bbb4549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2c70bb7384900" /><Relationship Type="http://schemas.openxmlformats.org/officeDocument/2006/relationships/notesSlide" Target="/ppt/notesSlides/notesSlide3.xml" Id="R55dc4472095f46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884c0210746ef" /><Relationship Type="http://schemas.openxmlformats.org/officeDocument/2006/relationships/notesSlide" Target="/ppt/notesSlides/notesSlide4.xml" Id="R03bf7dc3ef824d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1ea9b854645f7" /><Relationship Type="http://schemas.openxmlformats.org/officeDocument/2006/relationships/notesSlide" Target="/ppt/notesSlides/notesSlide5.xml" Id="R340881adf14d41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d8c215f644c50" /><Relationship Type="http://schemas.openxmlformats.org/officeDocument/2006/relationships/notesSlide" Target="/ppt/notesSlides/notesSlide6.xml" Id="Rd05331ac48ea40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a36d16d354e47" /><Relationship Type="http://schemas.openxmlformats.org/officeDocument/2006/relationships/notesSlide" Target="/ppt/notesSlides/notesSlide7.xml" Id="Ra563305465b44c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04f544f884dd9" /><Relationship Type="http://schemas.openxmlformats.org/officeDocument/2006/relationships/notesSlide" Target="/ppt/notesSlides/notesSlide8.xml" Id="R2fa57fb899f448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15139b971461f" /><Relationship Type="http://schemas.openxmlformats.org/officeDocument/2006/relationships/notesSlide" Target="/ppt/notesSlides/notesSlide9.xml" Id="Rb8421384a10e48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6fb8134d441ba" /><Relationship Type="http://schemas.openxmlformats.org/officeDocument/2006/relationships/notesSlide" Target="/ppt/notesSlides/notesSlide10.xml" Id="Rc64e9edc83c941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b80c4f3894d90" /><Relationship Type="http://schemas.openxmlformats.org/officeDocument/2006/relationships/notesSlide" Target="/ppt/notesSlides/notesSlide11.xml" Id="Re5db0b632f4842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459457afd40ae" /><Relationship Type="http://schemas.openxmlformats.org/officeDocument/2006/relationships/notesSlide" Target="/ppt/notesSlides/notesSlide12.xml" Id="Rb1577b938f3a47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624ba416c49c6" /><Relationship Type="http://schemas.openxmlformats.org/officeDocument/2006/relationships/notesSlide" Target="/ppt/notesSlides/notesSlide13.xml" Id="Rfa5523fe973049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400e0d9e6422e" /><Relationship Type="http://schemas.openxmlformats.org/officeDocument/2006/relationships/notesSlide" Target="/ppt/notesSlides/notesSlide14.xml" Id="R2b44285d034841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bee66dfd94b34" /><Relationship Type="http://schemas.openxmlformats.org/officeDocument/2006/relationships/notesSlide" Target="/ppt/notesSlides/notesSlide15.xml" Id="R003c9715aeb24c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9cb809c764a0c" /><Relationship Type="http://schemas.openxmlformats.org/officeDocument/2006/relationships/notesSlide" Target="/ppt/notesSlides/notesSlide16.xml" Id="R94190b05f21c44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89254fac24a47" /><Relationship Type="http://schemas.openxmlformats.org/officeDocument/2006/relationships/notesSlide" Target="/ppt/notesSlides/notesSlide17.xml" Id="Rd0d88f0fe66848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2d63989c9467f" /><Relationship Type="http://schemas.openxmlformats.org/officeDocument/2006/relationships/notesSlide" Target="/ppt/notesSlides/notesSlide18.xml" Id="R47377169010641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A52B9-A0D2-4A0F-AC8A-3ABCD1A7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40B35-06DA-41B6-AD2F-DB924EC6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782B6-6B5E-418C-A752-D8B2A18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2651D-E131-4AE3-A1AC-29E13F22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8E9DF-F86C-41F0-96C3-64C44E26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193514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48120-E2B3-4734-96A8-84549E2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验证范围与评审目标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6C7A1-64D4-473A-B92F-3AF14D9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首轮用一个文本服务贯通生产、计量与平台对账，再验证真实结算回款。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5DA40-80AB-41F7-8914-2AFB34D5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F28A8-8CB2-4B4D-8058-8A7D70A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59D57-802D-4B4D-B2AD-0E5004CC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0530A-E664-4B37-A457-D9E9F89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F4491-270D-4050-99DA-E2B7D1CD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082DF-12F9-4E99-BB51-74D4FB0C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5048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硬件设备与功率边界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网络拓扑与跨柜 RoCE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软件架构与 MASS 接入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模型适配与部署验收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9D59B-0503-435D-8F83-DC32274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43200"/>
            <a:ext cx="5162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性能测算与可售产能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Token 收益与盈亏边界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商业协议与结算证据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公司流程与回款验收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BAEA0-5B44-4B3E-A73A-DA80429C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06661-104F-40C0-B3C6-20110576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本次评审形成：首轮服务范围、必补资源资料、平台试供给通过条件。</a:t>
            </a:r>
          </a:p>
        </p:txBody>
      </p:sp>
    </p:spTree>
    <p:extLst>
      <p:ext uri="{BB962C8B-B14F-4D97-AF65-F5344CB8AC3E}">
        <p14:creationId xmlns:p14="http://schemas.microsoft.com/office/powerpoint/2010/main" val="1765328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B60DC-7E95-4A60-9D97-C6490160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两台 910B 分柜，形成两个独立算力资源池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89AF9-CC5F-4EDC-B3A6-DE27BA29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 14 台服务器：16 张 910B NPU、48 张 T4 GPU及 6 台通算服务器。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F8D42-1C8E-4A54-B36D-575F52BB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025B0-5733-4BF8-8B0E-A00F6558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3727E-582D-480D-B169-67296ABD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8E621-E111-4A30-8406-F7F041C3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C5428-2362-407C-BDEB-F223D70D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 /  10 kW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FC78A-A4E6-42CC-A977-40D6F232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1FDFB-5D12-4DFA-9D51-87566624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6C6C8-41C6-46DF-A6E8-80311200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CCC65-AB9D-4D1A-B65A-7B6EC549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D9C86-4FF5-49F9-BCB1-DF35D03B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AE411-C4B3-4B90-92BD-55E1489C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 /  10 kW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EB1C5-F471-4D17-95C5-4F8D4D4D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0666D-F475-41AE-8D21-AC2E952D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DCF98-44F7-48FA-83C2-23197864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972D8-D9C2-45F9-9DF1-99E364D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5762625" y="2009775"/>
          <a:ext xmlns:a="http://schemas.openxmlformats.org/drawingml/2006/main" cx="584835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038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数量与核心配置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× 8 张 NPU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子型号与显存待盘点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 × 8 张 GPU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 16GB GDDR6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通算服务器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台，已有机柜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内存 / 系统盘 / 数据盘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与光链路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台交换机，16 条链路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 200GE 光模块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E76D0-2EBD-45C4-A140-315B4A96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每柜 1 台 910B＋3 台八卡 T4 为拟议装载，须通过整机功率和安装核验。</a:t>
            </a:r>
          </a:p>
        </p:txBody>
      </p:sp>
    </p:spTree>
    <p:extLst>
      <p:ext uri="{BB962C8B-B14F-4D97-AF65-F5344CB8AC3E}">
        <p14:creationId xmlns:p14="http://schemas.microsoft.com/office/powerpoint/2010/main" val="1348679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5029F-FB60-4CC7-9112-5B6E85BE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混装能否上线，取决于逐柜整机峰值预算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35DA0-47C1-4EE5-BB9A-2A404F66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kW 是机柜容量等级。八卡 T4 的 CPU、风扇和电源损耗都要纳入。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E2A67-2A33-4B4E-8D15-D0F227C7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22A3E-AA3C-447F-9B7A-B4D21313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BACDA-A733-40EF-A4E6-C52701C1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D4974-D404-42F4-AC14-5C702274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P910B + 3 × PT4 + P网络 + P预留 ≤ P机柜可用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743575"/>
                <a:gridCol w="349567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配套类别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上线前必备项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核验重点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整机与存储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机箱、主板、CPU、内存、风扇、冗余电源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系统盘、模型/日志盘、按需磁盘控制器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八卡槽位、PCIe / Riser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峰值功耗与散热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网络与光纤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业务网卡、BMC 口、业务/管理交换机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交换机、32 个光模块、16 组光纤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端口、上联线缆、管理网线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速率、接口和距离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机柜与机房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导轨、PDU、电源线、接地、理线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持续容量、U 位、承重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冗余供电工况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 / 可选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台通算配套按现状盘点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可选共享存储、备份及存储网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复用边界、留存需求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不重复新增机柜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19781-87E3-410E-AAB4-8B26052E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上架门槛：设备/运维提供两柜功率表和配件差缺清单，超限则调整 T4 分布。</a:t>
            </a:r>
          </a:p>
        </p:txBody>
      </p:sp>
    </p:spTree>
    <p:extLst>
      <p:ext uri="{BB962C8B-B14F-4D97-AF65-F5344CB8AC3E}">
        <p14:creationId xmlns:p14="http://schemas.microsoft.com/office/powerpoint/2010/main" val="20712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6FA6ED-60B5-41D1-9AE7-884247B5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跨柜可共用一台 RoCE 交换机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13581-3700-47C7-B77E-08323D86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业务、带外管理与高速计算分网。柜体边界不增加交换跳数。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3B85A-F4E7-4E0F-B68B-5BE1C7D4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E0019-BF16-4FFD-92A4-F9E3B53D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8B49B-822E-4436-9617-7D3F9635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0CEDD-71BE-4B15-AF85-890933EE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目标平台 / 压测入口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0FE65-F286-43FB-92BD-22E6CFDA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71675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业务交换设备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67050" y="2233613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F9349-5129-4354-8724-ABA1672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3381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既有通算资源池 6 台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MASS 与接入服务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62750" y="2233613"/>
            <a:ext cx="1466850" cy="42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B8240-AD1D-422B-B7B4-4E2E7E7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57500"/>
            <a:ext cx="51720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C2204-65E1-4BEA-A599-A24677F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54006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061CE-E95D-48A9-ACA3-03CF1BD9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337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A 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8A7D9-FFCC-4B2A-B1FB-28B99244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337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B 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8C5E7-BBAE-40A9-8B39-F868831B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67E76-2A03-4B39-8D22-7A64164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RoCE 交换机 ×1</a:t>
            </a:r>
          </a:p>
          <a:p xmlns:a="http://schemas.openxmlformats.org/drawingml/2006/main">
            <a:pPr algn="ctr">
              <a:def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≥16 个 200GE 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C59E6-8484-4842-B8F0-A43816BB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381250" y="3752850"/>
            <a:ext cx="7239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7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5581650" y="37623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1510B-67FF-4ED7-9978-44006255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337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8A96E-E17F-4413-8634-C51CF6AE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8×200GE 跨柜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0C472-DC51-4940-9B7D-2AA4DDB7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×3，每台 8 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C2235-CB8B-410E-B898-BD874392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05325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×3，每台 8 卡</a:t>
            </a:r>
          </a:p>
        </p:txBody>
      </p:sp>
      <p:cxnSp>
        <p:nvCxnSpPr>
          <p:cNvPr id="57" name=""/>
          <p:cNvCxnSpPr>
            <a:stCxn xmlns:a="http://schemas.openxmlformats.org/drawingml/2006/main" id="7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590675" y="2495550"/>
            <a:ext cx="3743325" cy="923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7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334000" y="2495550"/>
            <a:ext cx="1914525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CB32A-D84A-4F06-A6CE-0CF3C325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14650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业务网同时接入全部 T4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D98F9-995A-4BD9-8033-83B3C88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3333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运维入口 / 管理交换设备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4E778-5C4C-4E6C-8506-E1CBBB9F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305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全部 14 台服务器 BMC＋交换设备管理口</a:t>
            </a:r>
          </a:p>
        </p:txBody>
      </p:sp>
      <p:cxnSp>
        <p:nvCxnSpPr>
          <p:cNvPr id="62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924300" y="54244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B89"/>
            </a:solidFill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93739-B98A-4DCA-B3F3-379E1AB4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6425"/>
            <a:ext cx="3333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rPr>
              <a:t>各资源池存储接口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5C4444-686C-483C-8E1F-56967C30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86425"/>
            <a:ext cx="7305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rPr>
              <a:t>可选存储网 / 共享存储与备份</a:t>
            </a:r>
          </a:p>
        </p:txBody>
      </p:sp>
      <p:cxnSp>
        <p:nvCxnSpPr>
          <p:cNvPr id="6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924300" y="58626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41C"/>
            </a:solidFill>
            <a:prstDash val="dash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33334-9E2A-475B-9484-9AC3F0DE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条光链路，双端 32 个模块</a:t>
            </a:r>
          </a:p>
        </p:txBody>
      </p:sp>
    </p:spTree>
    <p:extLst>
      <p:ext uri="{BB962C8B-B14F-4D97-AF65-F5344CB8AC3E}">
        <p14:creationId xmlns:p14="http://schemas.microsoft.com/office/powerpoint/2010/main" val="60683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5CCB8-8EB4-488D-B43D-D88E88B4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生态差异决定模型的部署路径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E5222-9315-4680-88DA-65518741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完整版本组合需要匹配驱动、运行时、模型算子和推理引擎。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2983A-DC72-4B58-BDD9-E723224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23F7E-31B1-4D92-A506-A016BA25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48BEC-BC65-4B65-B2BC-0267C96B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19625"/>
                <a:gridCol w="4619625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硬件与设备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驱动、容器设备支持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/ SM75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驱动、固件、容器设备映射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子型号待核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运行时与通信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CUDA、计算库、NCCL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CANN、算子库、HCCL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框架与模型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PyTorch、Transformers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量化权重及兼容 kernel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+ torch_npu 等适配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量化与算子工具链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任务与引擎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文本：兼容 vLLM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YOLO：ONNX / TensorRT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Wan：官方推理流程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国产文本：vLLM Ascend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或 MindIE 对应路径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按模型单独验证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2B243-328E-4754-A71D-A5398B1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先冻结可运行镜像再扩功能。T4 的 TensorRT 路径不能推导为 TensorRT-LLM 支持。</a:t>
            </a:r>
          </a:p>
        </p:txBody>
      </p:sp>
    </p:spTree>
    <p:extLst>
      <p:ext uri="{BB962C8B-B14F-4D97-AF65-F5344CB8AC3E}">
        <p14:creationId xmlns:p14="http://schemas.microsoft.com/office/powerpoint/2010/main" val="838222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A83FF-633F-4AAC-8488-10A29649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MASS 接入要保留从请求到用量的证据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54F56-44F5-48C8-8452-B8C38FE0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台既有通算承载逻辑组件，具体能力归属和逐台部署待平台文档确认。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2C6DE-7E33-4D14-8B88-8857A4E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5CCD2-FCC6-4C7D-9FA4-4029B457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D413F-1477-4FBF-AA71-B98AA1FC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7FB43-4941-47E6-966E-5017233A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11010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管理配置：模型登记、资源配额、版本发布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32335-E10C-4432-AC79-1BF9F97F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平台请求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租户 / 请求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A7F36-3205-48D8-8F0C-014D42F0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8475"/>
            <a:ext cx="2505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接入鉴权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模型路由 / 限流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4F023-81D6-46E9-967D-5FD12133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 / T4 推理服务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模型与版本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F6BE8-7C6C-4E9B-A0F0-F7339C12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服务结果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33675" y="3429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29300" y="34290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96400" y="3429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105525" y="2524125"/>
            <a:ext cx="1785938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667B89"/>
            </a:solidFill>
            <a:prstDash val="dash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6D792-9615-4C80-BD1C-8F244BAE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2514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原始用量事件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输入 / 输出 / 缓存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047A4-512A-4D11-ACA8-50EB4C42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720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去重与规则计算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保留原始记录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CE91E-1767-44C0-B39B-F06C5FAC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72000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账单明细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对账差异</a:t>
            </a:r>
          </a:p>
        </p:txBody>
      </p:sp>
      <p:cxnSp>
        <p:nvCxnSpPr>
          <p:cNvPr id="40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572000" y="3819525"/>
            <a:ext cx="331946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829300" y="496252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4962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D207B-1142-4279-A850-A53F8731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295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拟集成职责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MASS 已有能力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需逐项核对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FD9D0-2ED7-4E3F-9EED-E3EC7B4F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同一请求 ID 关联版本、状态、用量与账单。事件去重和重试计费分别处理。</a:t>
            </a:r>
          </a:p>
        </p:txBody>
      </p:sp>
    </p:spTree>
    <p:extLst>
      <p:ext uri="{BB962C8B-B14F-4D97-AF65-F5344CB8AC3E}">
        <p14:creationId xmlns:p14="http://schemas.microsoft.com/office/powerpoint/2010/main" val="1997645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A44D9-2056-4F9D-8395-F14AD145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先完成一个稠密模型，再扩国产候选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6133B-CD9F-4E63-BD13-FEAFEA1C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筛选顺序：许可与平台规格、引擎支持、逐卡容量、通信、质量与负载验证。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89C4D-B459-4E12-A469-B2A84234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8DF9B-3D9F-49C4-95F4-0753857F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EA3CD-0EA9-4237-B6DA-29711630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028825"/>
          <a:ext xmlns:a="http://schemas.openxmlformats.org/drawingml/2006/main" cx="110490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43300"/>
                <a:gridCol w="39814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本轮判断与证据边界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 / Qwen3-8B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或 FP16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短上下文、低并发起测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建议首个文本联调候选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A2/A3 家族支持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DeepSeek-R1-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Distill-Qwen-32B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位或适配量化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先核算权重＋KV＋工作区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进入条件性 PoC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蒸馏家族为实验性适配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zai-org / GLM-4.5-Air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位或匹配 W8A8 路径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 MoE 分片和通信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容量核验后再启动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家族支持不等于本台成功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AC97C-385D-4FF9-A503-1CB3484E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逐卡峰值 = 本卡权重＋KV Cache＋激活/工作区＋通信缓冲＋余量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92712-EEBB-4AFF-80FF-6A84085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张卡是资源总量。910B 显存未知，暂不承诺完整 DeepSeek 大模型的双机容量。</a:t>
            </a:r>
          </a:p>
        </p:txBody>
      </p:sp>
    </p:spTree>
    <p:extLst>
      <p:ext uri="{BB962C8B-B14F-4D97-AF65-F5344CB8AC3E}">
        <p14:creationId xmlns:p14="http://schemas.microsoft.com/office/powerpoint/2010/main" val="1763328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EAC87-07CC-4854-B8EA-7934739E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按三类任务部署，分别验证交付能力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EC616-B834-4D14-AB89-23C88028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台八卡服务器共 48 张 GPU。单卡 16GB，多副本和多卡并行按任务选择。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38E21-A577-4965-B130-63A3089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8020A-3FAA-43A7-B42A-AD144C24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6727A-B27B-4F94-BA35-3A93A9E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110490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667125"/>
                <a:gridCol w="39052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 / 首选候选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验收指标与判断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量化文本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Qwen2.5-7B-Instruct-AWQ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+ 兼容 AWQ kernel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激活，先单卡短上下文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质量、TTFT / TPOT、Token/s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 PoC，实机待验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ONNX / TensorRT 优化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mAP、召回率、端到端延迟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图片/帧吞吐，复验 T4 参考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Wan2.1-T2V-1.3B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官方流程与必要卸载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 dtype / attention 后端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质量、分辨率/帧数/步数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生成耗时、视频/小时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条件性 PoC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1BEA8-2919-4B1D-A188-3DF9A8CF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文本模型按总参数 &lt;20B 筛选。Wan 低显存参考不能证明 T4 的生成速度可交付。</a:t>
            </a:r>
          </a:p>
        </p:txBody>
      </p:sp>
    </p:spTree>
    <p:extLst>
      <p:ext uri="{BB962C8B-B14F-4D97-AF65-F5344CB8AC3E}">
        <p14:creationId xmlns:p14="http://schemas.microsoft.com/office/powerpoint/2010/main" val="16084163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6DC91-D8DA-4B17-86D1-58F1AC1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模型发布以阶段证据为门槛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F84F1-C997-43C9-96DA-FFEE4781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部署流程从设备验收开始，到可回退的服务版本结束。以下为待执行流程。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14E4B-6C06-4A58-B1FA-17D16543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EF51D-D005-44BB-83BE-35245965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1CF74-CF5C-49B9-9847-73AD24DD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F5E3B-9A1A-478B-BA93-2A44AAD7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设备与网络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E6A0A-69BB-475C-A827-90B10D37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资产与健康记录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功率 / 光链路 / HCCL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53CD4-27BE-4658-95FB-9BA3E4BF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C25DD-4F29-49AF-9CC4-1ACD86E8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环境与模型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2BBB7-0542-42A6-95F4-2CD2652C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镜像与权重校验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许可 / Tokenizer / 模板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38319-535B-447F-A6EF-23BE5DF5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D10CB-6B26-4FAE-ADF1-C7AA209F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服务启动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439FD-0015-4651-9A5E-B379B5DC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精度 / 上下文 / 并行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健康检查与启动日志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9163F-3305-4DF9-A6B7-2FD897F6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E2096-6592-4024-8FD2-B54968D7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正确性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FFE74-FE8B-4188-AD66-4A4B7D6E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中文 / 多轮 / 流式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质量集与异常请求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724AD-F9BF-4C1A-A6E6-3A07EBA6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8297F-83D7-47AC-A96F-84876EDD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05  MASS 与平台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AD7FA-91CB-4A4B-ADD2-01435C2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同批请求联调记录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38972-27D6-418B-841D-CDE18A27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D4D5B-38E7-4402-B720-6AFEE479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06  性能与发布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007C2-82C8-4EF2-9746-C0268EE6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稳定性 / 限流 / 恢复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配额、告警与回退版本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78C44-A96F-4354-9C63-63DCFE76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44904-9A9C-40BE-9B0C-564361BF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每阶段不通过即定位修复并回归。可发布产物是版本包、验收记录与回退配置。</a:t>
            </a:r>
          </a:p>
        </p:txBody>
      </p:sp>
    </p:spTree>
    <p:extLst>
      <p:ext uri="{BB962C8B-B14F-4D97-AF65-F5344CB8AC3E}">
        <p14:creationId xmlns:p14="http://schemas.microsoft.com/office/powerpoint/2010/main" val="14555345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68348-C1C5-46E9-A497-9C645416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压测同时扫描并发与请求到达率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88BE9-09EB-4BED-BF5B-23BD5131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先固定模型、任务规格和服务目标，再从单实例扩到资源池和平台入口。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4E50C-5D91-4D14-AAF7-6792F89D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15B64-F564-400C-AD2C-2948D8B7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381FC-96A0-4E4F-A255-B78ABA3A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97A51-0C50-4275-91C6-6BCF43E3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90725"/>
            <a:ext cx="274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并发初探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57AB6-E547-443C-AE5B-D4931790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1 / 2 / 4 / 8 / 16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03D13-D241-4AB6-BD6E-6E8856C4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2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四类输入输出组合，分别测试未命中与重复前缀。边界未出现时继续加压。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A624A-1FA7-4A00-9170-5247B2DB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5817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vllm bench serve --backend openai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--model &lt;服务模型&gt; --base-url &lt;地址&gt;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--max-concurrency 8 --request-rate inf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--save-result --save-detailed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FF122-BA42-4C92-8FFA-41C7A8B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86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执行与记录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82E0A-DADC-4ECE-A77E-049CB46B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00475"/>
            <a:ext cx="38385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预热后至少重复 3 次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记录样本数和测试窗口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保留实际到达率与错误率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检查客户端和接入层瓶颈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D3CE2-955B-4355-A252-81DB350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完整可复制脚本在备注及随附文件。示例参数是初探设定，正式阈值由平台需求确定。</a:t>
            </a:r>
          </a:p>
        </p:txBody>
      </p:sp>
    </p:spTree>
    <p:extLst>
      <p:ext uri="{BB962C8B-B14F-4D97-AF65-F5344CB8AC3E}">
        <p14:creationId xmlns:p14="http://schemas.microsoft.com/office/powerpoint/2010/main" val="1461807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F0AB-9535-48F0-9F54-921A1D40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可售产能来自满足质量与延迟条件的负载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9BDEF-2371-4C2E-97A2-D85E2D00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结果判读方法：在同一请求集合、同一统计窗口内汇总，当前没有实测结果。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2AB75-E7CA-4BC3-9B47-516E46B4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8A4C8-953E-4D81-BB64-E58B8864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4A693-7A1B-415A-BE80-E7D1AB03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85950"/>
                <a:gridCol w="4524375"/>
                <a:gridCol w="46386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计算或判读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对经营测算的影响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/ TPOT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TTFT：发出请求到首 Token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TPOT：(末到达时刻−首到达时刻)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÷ (输出 Token 数−1)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含排队与网络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纯 Prefill 耗时需服务端 trace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并发与吞吐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报告实际并发、到达率、成功率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输入/输出 Token 数 ÷ 窗口秒数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选择满足服务目标的稳定负载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避免只取无约束峰值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计费 Token/s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同一窗口分别汇总合格输出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未命中输入、命中输入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request_goodput 单位是请求/s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缓存块数需映射为计费 Token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 / Wan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检测质量＋图片/帧吞吐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视频质量＋任务数/小时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按任务规格单独计价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不套文本 Token 指标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F8266-C37F-49E8-AF99-FF128E18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产能交付表应绑定模型版本、卡数、任务规格、SLO、样本数和原始用量证据。</a:t>
            </a:r>
          </a:p>
        </p:txBody>
      </p:sp>
    </p:spTree>
    <p:extLst>
      <p:ext uri="{BB962C8B-B14F-4D97-AF65-F5344CB8AC3E}">
        <p14:creationId xmlns:p14="http://schemas.microsoft.com/office/powerpoint/2010/main" val="1521100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ADB8A-0367-4150-AE90-46B031BF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三类 Token 分别估值，采购价决定可结算收入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CE7C4-D2D2-4C91-92AB-16A088E1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以下为产能计算口径。S = 30×24×3600 = 2,592,000 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5D2FD-A23A-4D41-813F-18E37BBB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71DAA-0235-46BE-91D5-81DA11A8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DA4E0-34C1-49C9-8874-A5E473D9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43D12-6072-40F0-9FE3-5DDE6743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71675"/>
            <a:ext cx="110013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Decode 月价值 = TGSout × S × Nout × Pout ÷ 10⁶ × ηout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未命中 Prefill 月价值 = TGSunc × S × Nunc × Punc ÷ 10⁶ × ηunc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命中 Prefill 月价值 = TGScache × S × Ncache × Pcache ÷ 10⁶ × ηcache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3724275"/>
          <a:ext xmlns:a="http://schemas.openxmlformats.org/drawingml/2006/main" cx="11049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76900"/>
                <a:gridCol w="1638300"/>
                <a:gridCol w="2047875"/>
                <a:gridCol w="168592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公开市场参照（USD / 百万 Token）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高峰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1.20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非高峰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0.15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0.003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E7EB0-F086-4DDF-8ED0-2F24B2CF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价格查询：2026-09-16，仅作市场参照。该 API 与本台候选并非同一模型，不能代入报价。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99EFE-54FD-4A10-8A08-B7B6EE01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TGS 按单卡才乘卡数；混合部署三类速率共用同一负载，已含损耗时不再乘同一 η。</a:t>
            </a:r>
          </a:p>
        </p:txBody>
      </p:sp>
    </p:spTree>
    <p:extLst>
      <p:ext uri="{BB962C8B-B14F-4D97-AF65-F5344CB8AC3E}">
        <p14:creationId xmlns:p14="http://schemas.microsoft.com/office/powerpoint/2010/main" val="595983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25838-4610-4905-ABA4-D38E77B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是否值得供给，要同时看增量收支和全成本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2476E-8FD1-40D0-9C95-CC97B1B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缺少实测产能、采购价与成本，当前能够给出盈亏条件，不能给出确定利润。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CBA75-319D-4D65-8B1E-E3C4233B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B1777-3880-42EB-BAF3-90032EE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85786-D2A7-40AC-A4F0-2A41938F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1AEF2-CB2B-4955-91A6-C1D19F1F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月经营结果 = 文本收入＋检测收入＋视频收入−项目成本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2876550"/>
          <a:ext xmlns:a="http://schemas.openxmlformats.org/drawingml/2006/main" cx="110490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324475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决策视角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纳入成本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能回答的问题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按实际承担范围计入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已有设备试供给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增量成本＋折旧/租赁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既有通算和机柜的约定分摊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持续经营与后续扩容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是否具备经济性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3BF17-2729-489A-91B6-FEB7392A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盈亏边界：固定业务组合时，采购价系数 k* = 月成本 ÷ 基准月收入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FC413-6A3D-41CE-8E19-E3F16DD7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采购价、需求利用、缓存比例和卡时分配分别做敏感性分析，资源重分配后需重测产能。</a:t>
            </a:r>
          </a:p>
        </p:txBody>
      </p:sp>
    </p:spTree>
    <p:extLst>
      <p:ext uri="{BB962C8B-B14F-4D97-AF65-F5344CB8AC3E}">
        <p14:creationId xmlns:p14="http://schemas.microsoft.com/office/powerpoint/2010/main" val="17592233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2716D-4657-4895-9233-40EEAD44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计量约定决定一条请求能否成为账单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C084D-3AFB-4D14-89D4-3C977D8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拟议条款从平台接受的服务目录开始，连接双方认可的用量证据。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07AFD-C6C4-48B0-BC8F-7237DAA0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54697-ED05-4AA7-9618-6C6FE65F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23807-A0C0-4C68-A797-4C1241E4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3D41A-9991-4A4E-A2DD-D99DCB8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服务目录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 / 任务规格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0FE17-F911-4448-9EB7-1D335A26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请求或任务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统一关联 ID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0032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AF384-1D70-4EC6-9417-F579BB2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用量明细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计数与状态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5775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0E31E-B99E-466D-B65A-876CDD57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对账确认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差异与冲正</a:t>
            </a:r>
          </a:p>
        </p:txBody>
      </p: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1517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B91B6-24B0-43B7-B797-7A2CC2D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结算条目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单价与周期</a:t>
            </a:r>
          </a:p>
        </p:txBody>
      </p:sp>
      <p:cxnSp>
        <p:nvCxnSpPr>
          <p:cNvPr id="3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37260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graphicFrame>
        <p:nvGraphicFramePr>
          <p:cNvPr id="31" name="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110490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拟议处理方式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留存证据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输入、输出与缓存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Tokenizer 和缓存定义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三类单价、币种税费分别写明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规则版本、原始计数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平台与供应方明细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超时、重试、部分输出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逐类约定是否计费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重复事件去重，重试保留关联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attempt ID、状态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实际交付量与异常记录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对账差异与结算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确定权威依据、核验时限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冲正、补结算和账期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差异单、确认单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结算单与调整记录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A7F18-6499-4826-B873-58CA46A0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技术可运行仍需平台认可模型、区域、容量与质量规格，才具备采购前提。</a:t>
            </a:r>
          </a:p>
        </p:txBody>
      </p:sp>
    </p:spTree>
    <p:extLst>
      <p:ext uri="{BB962C8B-B14F-4D97-AF65-F5344CB8AC3E}">
        <p14:creationId xmlns:p14="http://schemas.microsoft.com/office/powerpoint/2010/main" val="19023265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6E5A0-63F9-402E-ABAA-DC93DC6F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服务承诺应受当前架构和实测能力约束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4CA0B-2EC0-449E-9AF9-CEE5CA97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拟议协议在可验收范围内确定服务窗口、维护、故障处理与责任。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BE350-8B04-4331-B908-B10EB144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70C50-38A4-4222-A8C6-2C154C11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CE01C-17CB-48F4-A4FE-73D805FA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800600"/>
                <a:gridCol w="38862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当前约束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需要约定的边界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验收与责任证据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一台 RoCE 交换机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无交换机级冗余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维护窗口、故障响应与赔付边界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故障演练与恢复记录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运维联系人和升级路径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性能尚未实测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绑定模型、精度、上下文与配额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以验收负载确定服务目标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双方验收报告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监控口径与限流记录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模型与版本会变化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变更审批、回归测试和回退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禁用不满足许可的供给方式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模型权利依据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版本清单与发布记录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数据、暂停与退出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用途、留存、权限和责任分工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余额清算、数据处理与开票回款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访问与删除记录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最终对账单及回款凭证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939BE-BD16-4C6C-9066-C121F537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SLA 数值和赔付条款留待验收及双方协商，现阶段不承诺未经验证的可用性。</a:t>
            </a:r>
          </a:p>
        </p:txBody>
      </p:sp>
    </p:spTree>
    <p:extLst>
      <p:ext uri="{BB962C8B-B14F-4D97-AF65-F5344CB8AC3E}">
        <p14:creationId xmlns:p14="http://schemas.microsoft.com/office/powerpoint/2010/main" val="12801586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BEE87-46AD-479F-AD91-0AC59AC6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公司交接以凭证推进，直至开票与回款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DC631-628D-4338-9583-C26E9BF0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建议流程：技术、商务和财务在每个阶段明确接收什么产物。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AF5F6-933D-4AF5-AED6-19E2E320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4BAF9-9798-43E2-9265-2EF6ED05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A485B-5EBE-4038-B99F-E66F741F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2943225"/>
                <a:gridCol w="2943225"/>
                <a:gridCol w="31908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责任角色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立项与准备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验收与试供给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月度经营与回款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资源与预算确认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首轮范围批准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试供给决策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经营复盘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后续资源决策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 / 运维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设备、网络和模型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版本与部署记录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质量/压测验收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接入、发布与回退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用量明细与告警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差异核验与复测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 / 法务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平台采购规格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模型与服务权利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报价和合同评审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双方验收确认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对账确认与争议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逾期跟进与变更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成本边界与预算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价格口径核对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报价及结算条款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账期和开票要求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结算、开票与收款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凭证归档和分摊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DBC33-1C97-409F-BE17-56CACFB2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同批请求贯通用量、对账确认、结算、发票与回款，才能宣称完成商业闭环。</a:t>
            </a:r>
          </a:p>
        </p:txBody>
      </p:sp>
    </p:spTree>
    <p:extLst>
      <p:ext uri="{BB962C8B-B14F-4D97-AF65-F5344CB8AC3E}">
        <p14:creationId xmlns:p14="http://schemas.microsoft.com/office/powerpoint/2010/main" val="7369513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73C2F-BCFB-40F3-832F-3D3D7CC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下一阶段以一个可复现服务完成验证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8D5F-AE5B-43D6-8FC0-7848E56D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当前已确认资源基线与分柜原则，模型、平台采购和实测证据仍需逐步补齐。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B7F63-758F-44EF-8CC9-671F832D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34801-80DE-4BED-B838-9F200D6C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68796-5CA7-406A-9696-1E513E6E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33900"/>
                <a:gridCol w="41338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评审事项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进入下一阶段的通过条件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下一项证据 / 责任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首轮服务范围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等具体版本完成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质量、负载与计量联调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显存/功率清单、版本包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设备运维与模型负责人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平台试供给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平台接受服务规格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性能目标、采购价和规则明确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接入验收、报价与协议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平台技术、商务、财务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商业闭环与扩容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同批真实用量完成结算回款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订单需求和经济性支持扩容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对账单、回款、经营复盘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商务、财务、项目负责人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A24E7-3FAB-4E42-BA41-305A9A64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当前决策建议：继续最小文本闭环验证。YOLO 与 Wan 保持独立 PoC。</a:t>
            </a:r>
          </a:p>
        </p:txBody>
      </p:sp>
    </p:spTree>
    <p:extLst>
      <p:ext uri="{BB962C8B-B14F-4D97-AF65-F5344CB8AC3E}">
        <p14:creationId xmlns:p14="http://schemas.microsoft.com/office/powerpoint/2010/main" val="957073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2026-09-16T04:39:36.3510000Z</dcterms:created>
  <dcterms:modified xsi:type="dcterms:W3CDTF">2026-09-16T04:39:36.3510000Z</dcterms:modified>
</coreProperties>
</file>