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55b40701314ddd" /><Relationship Type="http://schemas.openxmlformats.org/officeDocument/2006/relationships/extended-properties" Target="/docProps/app.xml" Id="R1953b9311e7d445a" /><Relationship Type="http://schemas.openxmlformats.org/officeDocument/2006/relationships/officeDocument" Target="/ppt/presentation.xml" Id="Ra25826b05b4549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4f066108db4513"/>
  </p:sldMasterIdLst>
  <p:notesMasterIdLst>
    <p:notesMasterId xmlns:r="http://schemas.openxmlformats.org/officeDocument/2006/relationships" r:id="Rff256545e40f47f4"/>
  </p:notesMasterIdLst>
  <p:sldIdLst>
    <p:sldId xmlns:r="http://schemas.openxmlformats.org/officeDocument/2006/relationships" id="256" r:id="R5f94871fc47f4ae7"/>
    <p:sldId xmlns:r="http://schemas.openxmlformats.org/officeDocument/2006/relationships" id="257" r:id="R89f6d725263040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d41c9eb1e949e8" /><Relationship Type="http://schemas.openxmlformats.org/officeDocument/2006/relationships/slideMaster" Target="/ppt/slideMasters/slideMaster1.xml" Id="R664f066108db4513" /><Relationship Type="http://schemas.openxmlformats.org/officeDocument/2006/relationships/notesMaster" Target="/ppt/notesMasters/notesMaster1.xml" Id="Rff256545e40f47f4" /><Relationship Type="http://schemas.openxmlformats.org/officeDocument/2006/relationships/presProps" Target="/ppt/presProps.xml" Id="Race40a6e35854c9e" /><Relationship Type="http://schemas.openxmlformats.org/officeDocument/2006/relationships/tableStyles" Target="/ppt/tableStyles.xml" Id="R385ac5ae27974494" /><Relationship Type="http://schemas.openxmlformats.org/officeDocument/2006/relationships/slide" Target="/ppt/slides/slide1.xml" Id="R5f94871fc47f4ae7" /><Relationship Type="http://schemas.openxmlformats.org/officeDocument/2006/relationships/slide" Target="/ppt/slides/slide2.xml" Id="R89f6d725263040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e44b762a364e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47a437a3354065" /><Relationship Type="http://schemas.openxmlformats.org/officeDocument/2006/relationships/notesMaster" Target="/ppt/notesMasters/notesMaster1.xml" Id="R96a2a6574d5b44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2ee27324bf4501" /><Relationship Type="http://schemas.openxmlformats.org/officeDocument/2006/relationships/notesMaster" Target="/ppt/notesMasters/notesMaster1.xml" Id="R2f82678027424e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项目适配方法。硬件支持、软件支持、容量和服务质量必须同时满足。权重量化位宽不等于所有计算都使用该精度，W4A8需要相应加载器、量化格式和kernel。不能看到T4支持INT8就认定任意4位或8位模型可用，也不能将BF16或FP8权重直接视为T4原生支持。冻结驱动/固件、CANN或CUDA、框架、引擎插件版本、镜像digest及模型revision。显存核算以实际文件和加载布局为准，MoE按全部权重而非激活参数，考虑复制与分片不均衡。短上下文低并发成功仅证明该规格，不能推断长上下文生产能力。910B每卡64GB仍是待核验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[1] DeepSeek-V4.1-Flash 部署指南</a:t>
            </a:r>
          </a:p>
          <a:p xmlns:a="http://schemas.openxmlformats.org/drawingml/2006/main">
            <a:r>
              <a:t>https://docs.vllm.ai/projects/ascend/en/latest/tutorials/models/DeepSeek-V4.1-Flash.html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GLM-5.3-Flash 部署指南</a:t>
            </a:r>
          </a:p>
          <a:p xmlns:a="http://schemas.openxmlformats.org/drawingml/2006/main">
            <a:r>
              <a:t>https://docs.vllm.ai/projects/ascend/en/latest/tutorials/models/GLM5.3-Flash.html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GLM-5.3 部署指南</a:t>
            </a:r>
          </a:p>
          <a:p xmlns:a="http://schemas.openxmlformats.org/drawingml/2006/main">
            <a:r>
              <a:t>https://docs.vllm.ai/projects/ascend/en/latest/tutorials/models/GLM5.3.html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MiniMax-M3 部署指南</a:t>
            </a:r>
          </a:p>
          <a:p xmlns:a="http://schemas.openxmlformats.org/drawingml/2006/main">
            <a:r>
              <a:t>https://docs.vllm.ai/projects/ascend/en/latest/tutorials/models/MiniMax-M3.html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Qwen3.8-27B 部署指南</a:t>
            </a:r>
          </a:p>
          <a:p xmlns:a="http://schemas.openxmlformats.org/drawingml/2006/main">
            <a:r>
              <a:t>https://docs.vllm.ai/projects/ascend/en/latest/tutorials/models/Qwen3.8-27B.html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[6] Kimi-K2.6 部署指南</a:t>
            </a:r>
          </a:p>
          <a:p xmlns:a="http://schemas.openxmlformats.org/drawingml/2006/main">
            <a:r>
              <a:t>https://docs.vllm.ai/projects/ascend/en/latest/tutorials/models/Kimi-K2.6.html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Qwen3.5 官方模型卡</a:t>
            </a:r>
          </a:p>
          <a:p xmlns:a="http://schemas.openxmlformats.org/drawingml/2006/main">
            <a:r>
              <a:t>https://huggingface.co/Qwen/Qwen3.5-9B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Hugging Face 单卡 T4 部署目录</a:t>
            </a:r>
          </a:p>
          <a:p xmlns:a="http://schemas.openxmlformats.org/drawingml/2006/main">
            <a:r>
              <a:t>https://endpoints.huggingface.co/catalog/collection/qwen?inferenceServer=llamacpp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YOLO26 官方文档</a:t>
            </a:r>
          </a:p>
          <a:p xmlns:a="http://schemas.openxmlformats.org/drawingml/2006/main">
            <a:r>
              <a:t>https://docs.ultralytics.com/models/yolo26/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Wan2.1 官方仓库</a:t>
            </a:r>
          </a:p>
          <a:p xmlns:a="http://schemas.openxmlformats.org/drawingml/2006/main">
            <a:r>
              <a:t>https://github.com/Wan-Video/Wan2.1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vLLM GPU 支持要求</a:t>
            </a:r>
          </a:p>
          <a:p xmlns:a="http://schemas.openxmlformats.org/drawingml/2006/main">
            <a:r>
              <a:t>https://docs.vllm.ai/en/latest/getting_started/installation/gpu/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Qwen3.5 官方小模型</a:t>
            </a:r>
          </a:p>
          <a:p xmlns:a="http://schemas.openxmlformats.org/drawingml/2006/main">
            <a:r>
              <a:t>https://huggingface.co/Qwen/Qwen3.5-4B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查询2026-09-16。表中为特定路径资料初筛，不是全部模型普查或实机通过清单。A2/64GB需确认实际910B硬件。GLM5.3-Flash指南第5.2节为2台各8×64GB TP8/DP2参考。Kimi双A2 W4A8使用16卡。DeepSeek与GLM5.3的四A2方案只能证明参考范围，尚未完成双机逐卡权重、缓存、工作区、复制开销与并行算子核验，不能认定双机不可部署或必需扩容。DeepSeek参考TP8/DP4/EP32；改16卡需重新验证。GLM5.3是实验支持。T4 Qwen9B路径来自HF Endpoints目录unsloth/Qwen3.5-9B-GGUF Q4_K_M，不能当作本项目实测。Qwen0.8/2/4B是待验证候选，模型格式、vision projector与kernel须匹配。Wan官方8.19GB为1.3B参考数据，不保证T4速度或显存峰值。T4不默认原生BF16/FP8支持。W8A8为8位权重和激活，W4A8为4位权重/8位激活，C8为8位KV缓存。每个模型分别测容量和质量，不能将全16卡同时分配给多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[1] DeepSeek-V4.1-Flash 部署指南</a:t>
            </a:r>
          </a:p>
          <a:p xmlns:a="http://schemas.openxmlformats.org/drawingml/2006/main">
            <a:r>
              <a:t>https://docs.vllm.ai/projects/ascend/en/latest/tutorials/models/DeepSeek-V4.1-Flash.html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GLM-5.3-Flash 部署指南</a:t>
            </a:r>
          </a:p>
          <a:p xmlns:a="http://schemas.openxmlformats.org/drawingml/2006/main">
            <a:r>
              <a:t>https://docs.vllm.ai/projects/ascend/en/latest/tutorials/models/GLM5.3-Flash.html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GLM-5.3 部署指南</a:t>
            </a:r>
          </a:p>
          <a:p xmlns:a="http://schemas.openxmlformats.org/drawingml/2006/main">
            <a:r>
              <a:t>https://docs.vllm.ai/projects/ascend/en/latest/tutorials/models/GLM5.3.html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MiniMax-M3 部署指南</a:t>
            </a:r>
          </a:p>
          <a:p xmlns:a="http://schemas.openxmlformats.org/drawingml/2006/main">
            <a:r>
              <a:t>https://docs.vllm.ai/projects/ascend/en/latest/tutorials/models/MiniMax-M3.html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Qwen3.8-27B 部署指南</a:t>
            </a:r>
          </a:p>
          <a:p xmlns:a="http://schemas.openxmlformats.org/drawingml/2006/main">
            <a:r>
              <a:t>https://docs.vllm.ai/projects/ascend/en/latest/tutorials/models/Qwen3.8-27B.html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[6] Kimi-K2.6 部署指南</a:t>
            </a:r>
          </a:p>
          <a:p xmlns:a="http://schemas.openxmlformats.org/drawingml/2006/main">
            <a:r>
              <a:t>https://docs.vllm.ai/projects/ascend/en/latest/tutorials/models/Kimi-K2.6.html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Qwen3.5 官方模型卡</a:t>
            </a:r>
          </a:p>
          <a:p xmlns:a="http://schemas.openxmlformats.org/drawingml/2006/main">
            <a:r>
              <a:t>https://huggingface.co/Qwen/Qwen3.5-9B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Hugging Face 单卡 T4 部署目录</a:t>
            </a:r>
          </a:p>
          <a:p xmlns:a="http://schemas.openxmlformats.org/drawingml/2006/main">
            <a:r>
              <a:t>https://endpoints.huggingface.co/catalog/collection/qwen?inferenceServer=llamacpp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YOLO26 官方文档</a:t>
            </a:r>
          </a:p>
          <a:p xmlns:a="http://schemas.openxmlformats.org/drawingml/2006/main">
            <a:r>
              <a:t>https://docs.ultralytics.com/models/yolo26/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Wan2.1 官方仓库</a:t>
            </a:r>
          </a:p>
          <a:p xmlns:a="http://schemas.openxmlformats.org/drawingml/2006/main">
            <a:r>
              <a:t>https://github.com/Wan-Video/Wan2.1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vLLM GPU 支持要求</a:t>
            </a:r>
          </a:p>
          <a:p xmlns:a="http://schemas.openxmlformats.org/drawingml/2006/main">
            <a:r>
              <a:t>https://docs.vllm.ai/en/latest/getting_started/installation/gpu/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Qwen3.5 官方小模型</a:t>
            </a:r>
          </a:p>
          <a:p xmlns:a="http://schemas.openxmlformats.org/drawingml/2006/main">
            <a:r>
              <a:t>https://huggingface.co/Qwen/Qwen3.5-4B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b28f7e041a4f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e8357f131347f5" /><Relationship Type="http://schemas.openxmlformats.org/officeDocument/2006/relationships/slideLayout" Target="/ppt/slideLayouts/slideLayout1.xml" Id="R4b47838c09e240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47838c09e240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6121a618a474f" /><Relationship Type="http://schemas.openxmlformats.org/officeDocument/2006/relationships/notesSlide" Target="/ppt/notesSlides/notesSlide1.xml" Id="R57f86d49845243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2978ba60e46f3" /><Relationship Type="http://schemas.openxmlformats.org/officeDocument/2006/relationships/notesSlide" Target="/ppt/notesSlides/notesSlide2.xml" Id="R158cbd75367140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414362-207C-4061-A7D3-FFBD272E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A4  模型适配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262F0-68C6-4060-A25C-93953520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适配方法论：逐关核验，最后用实机结果判定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F41B9-A86C-4EEF-A732-D52370DA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先固定模型版本、权重格式和服务目标：输入 / 输出长度、并发数，或图像 / 视频规格。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B366F-3525-4C2B-9149-8CE12852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9E4FF-906E-43F4-9531-CFD8ADCE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8EC44-3670-4452-ADFF-F7A2EC56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08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872D0-4C0A-42AB-8EB1-CA6A34AC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542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9090D-F9AA-4CE8-9B09-0DCC91D3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14525"/>
            <a:ext cx="1009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硬件支持这种精度吗？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DB3A67-42BA-4533-A75B-4BDF73E9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47900"/>
            <a:ext cx="1009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查卡型、单卡显存和官方精度能力，再核对驱动 / CANN / CUDA 配套。</a:t>
            </a:r>
          </a:p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 优先核验 FP16 / INT8 路径；4 位权重还需专用算子，不能只看“支持 INT8”。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2280A-BA4C-4F33-9FC0-BEA29864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24050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产物：卡型＋精度候选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8BE20-FB3F-4775-9DA9-0F59CA58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67025"/>
            <a:ext cx="542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D30DF-7FEA-40D2-9244-0984F5D5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67025"/>
            <a:ext cx="1009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推理引擎能运行这个模型吗？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43345B-6B8D-439E-8F8C-4DC54685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00400"/>
            <a:ext cx="1009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查具体模型结构、量化格式、注意力 / MoE 算子和多卡模式的版本支持。</a:t>
            </a:r>
          </a:p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例如：T4 的 Qwen3.5-9B 先查 llama.cpp 的 GGUF 路径；910B 查 Ascend 后端。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6D843-772D-42D1-9822-AE7A29B7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产物：可复现的软件组合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F5562-E005-431D-9283-3E38FB4A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9525"/>
            <a:ext cx="542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049DD-65FC-490C-9792-D01BFBAC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9525"/>
            <a:ext cx="1009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每张卡的显存够吗？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8E6AB6-D69B-4C8C-843D-1A9D8371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52900"/>
            <a:ext cx="1009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逐卡峰值＝权重分片＋复制权重＋KV 缓存＋工作区 / 通信缓冲＋预留空间。</a:t>
            </a:r>
          </a:p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例：9B × 2 字节 ≈18GB，仅 FP16 权重已超 T4 16GB，需量化或受支持的多卡方案。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B67DF3-06BD-4EA5-B53A-8E2CA792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29050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产物：卡数与负载上限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9908A1-F3A1-4E31-B725-AC002F83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72025"/>
            <a:ext cx="542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20782F-EF99-496A-8C03-70835DC0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72025"/>
            <a:ext cx="1009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部署效果达到要求吗？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14510B-AB9F-4D0D-BB7A-9EE87484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05400"/>
            <a:ext cx="1009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先加载并用固定样本检查输出质量，再增加上下文与并发，记录显存和响应时间。</a:t>
            </a:r>
          </a:p>
          <a:p xmlns:a="http://schemas.openxmlformats.org/drawingml/2006/main">
            <a:pPr algn="l">
              <a:def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双机验证 HCCL / RoCE；YOLO 测检测精度与延迟，Wan 测视频质量与生成耗时。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BDDC05-0021-49C9-B51C-5B431E23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81550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产物：测试记录与验收结论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62D865-0970-4EFC-BDE2-92A07BA0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1101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判定：四关通过才标“适配通过”；资料匹配标“候选”；缺少双机证据标“待验证”。</a:t>
            </a:r>
          </a:p>
        </p:txBody>
      </p:sp>
    </p:spTree>
    <p:extLst>
      <p:ext uri="{BB962C8B-B14F-4D97-AF65-F5344CB8AC3E}">
        <p14:creationId xmlns:p14="http://schemas.microsoft.com/office/powerpoint/2010/main" val="4420245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974E1-A116-49F1-B24C-AF69A2DC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A4  模型适配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B8856-012D-47DE-9F6F-23BCD3AE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现有设备的模型适配清单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FFBC7-0838-4D00-9B26-5B8E535E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910B：2 台 × 8 卡，暂按 64GB / 卡；T4：6 台 × 8 卡 × 16GB。以下均未完成实机验收。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FF520-518F-4BFE-AE8C-41101E37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FE617-1F8A-4EBD-AA74-0C1DA3ED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556C6-F0E5-400F-B19C-FAAA3280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09 / 18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924050"/>
          <a:ext xmlns:a="http://schemas.openxmlformats.org/drawingml/2006/main" cx="110490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3810000"/>
                <a:gridCol w="3857625"/>
              </a:tblGrid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 / 候选模型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精度与引擎路径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参考规模 / 当前判断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 Qwen3.8-27B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BF16 / W8A8，vLLM Ascend [5]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单台 A2 参考，优先验证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 MiniMax-M3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W8A8，vLLM Ascend [4]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单台 A2 参考，单机候选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 GLM-5.3-Flash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W8A8，vLLM Ascend [2]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双台 A2 参考，双机候选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 Kimi-K2.6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W4A8，vLLM Ascend [6]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双台 A2 参考，16 卡候选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 DeepSeek-V4.1-Flash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W8A8，vLLM Ascend [1]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B641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参考为四台 A2；双机显存 / 并行待验证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 GLM-5.3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W8A8C8，vLLM Ascend，实验支持 [3]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B641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参考为四台 A2；双机显存 / 并行待验证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 Qwen3.5-0.8B / 2B / 4B</a:t>
                      </a:r>
                    </a:p>
                  </a:txBody>
                  <a:tcPr marL="95250" marR="76200" marT="0" marB="0"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兼容的 FP16 / GGUF，llama.cpp [12]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单卡候选，逐型号验证算子与显存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 Qwen3.5-9B</a:t>
                      </a:r>
                    </a:p>
                  </a:txBody>
                  <a:tcPr marL="95250" marR="76200" marT="0" marB="0"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GGUF Q4_K_M，llama.cpp [8]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已有单 T4 目录参考，优先验证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 YOLO26n</a:t>
                      </a:r>
                    </a:p>
                  </a:txBody>
                  <a:tcPr marL="95250" marR="76200" marT="0" marB="0"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PyTorch 基线 / TensorRT [9]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8E9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 T4 基准，验证实际检测任务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 Wan2.1-T2V-1.3B</a:t>
                      </a:r>
                    </a:p>
                  </a:txBody>
                  <a:tcPr marL="95250" marR="76200" marT="0" marB="0"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独立视频管线，核验 FP16 后端 [10]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9B641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8.19GB 官方参考非 T4 实测，条件候选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928C5-147B-4808-A5ED-3D0246EC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1101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结论：先验证 Qwen3.8-27B、T4 的 Qwen3.5-9B 量化与 YOLO26n，再扩展候选。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1C44A-C006-44F2-9EA2-E8846A5E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101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四机参考不等于双机不可部署。模型独立评估，不代表可同时驻留。Qwen 按总参数 &lt;20B 筛选 T4 候选。</a:t>
            </a:r>
          </a:p>
        </p:txBody>
      </p:sp>
    </p:spTree>
    <p:extLst>
      <p:ext uri="{BB962C8B-B14F-4D97-AF65-F5344CB8AC3E}">
        <p14:creationId xmlns:p14="http://schemas.microsoft.com/office/powerpoint/2010/main" val="20564869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2026-09-16T07:38:12.3820000Z</dcterms:created>
  <dcterms:modified xsi:type="dcterms:W3CDTF">2026-09-16T07:38:12.3820000Z</dcterms:modified>
</coreProperties>
</file>