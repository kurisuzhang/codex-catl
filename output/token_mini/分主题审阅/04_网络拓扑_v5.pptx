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4273b4b11a4aa2" /><Relationship Type="http://schemas.openxmlformats.org/officeDocument/2006/relationships/extended-properties" Target="/docProps/app.xml" Id="Rf8d68d496a0f432e" /><Relationship Type="http://schemas.openxmlformats.org/officeDocument/2006/relationships/officeDocument" Target="/ppt/presentation.xml" Id="R0e42dd788c7c45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9d8a2a93c1468d"/>
  </p:sldMasterIdLst>
  <p:notesMasterIdLst>
    <p:notesMasterId xmlns:r="http://schemas.openxmlformats.org/officeDocument/2006/relationships" r:id="R558691565e554613"/>
  </p:notesMasterIdLst>
  <p:sldIdLst>
    <p:sldId xmlns:r="http://schemas.openxmlformats.org/officeDocument/2006/relationships" id="256" r:id="Ra74d20a3f48847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6ba20d190b4615" /><Relationship Type="http://schemas.openxmlformats.org/officeDocument/2006/relationships/slideMaster" Target="/ppt/slideMasters/slideMaster1.xml" Id="R259d8a2a93c1468d" /><Relationship Type="http://schemas.openxmlformats.org/officeDocument/2006/relationships/notesMaster" Target="/ppt/notesMasters/notesMaster1.xml" Id="R558691565e554613" /><Relationship Type="http://schemas.openxmlformats.org/officeDocument/2006/relationships/presProps" Target="/ppt/presProps.xml" Id="Rf3b12920505341ad" /><Relationship Type="http://schemas.openxmlformats.org/officeDocument/2006/relationships/tableStyles" Target="/ppt/tableStyles.xml" Id="R2338611b8b544ddb" /><Relationship Type="http://schemas.openxmlformats.org/officeDocument/2006/relationships/slide" Target="/ppt/slides/slide1.xml" Id="Ra74d20a3f48847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cc058138a44d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a769ff51124a68" /><Relationship Type="http://schemas.openxmlformats.org/officeDocument/2006/relationships/notesMaster" Target="/ppt/notesMasters/notesMaster1.xml" Id="R1ce3e311f3f94e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柜命名按最新反馈：A为6台通算既有机柜，B/C为两台910B及6台T4所在的两个10kW机柜。机柜B含910B-1、T4-1至3，机柜C含910B-2、T4-4至6。业务网和BMC网以交换设备到各代表节点的独立连线展示。通算2…5代表4台分别接入的服务器。存储网明确连接A、B、C三柜，分别代表通算、910B和T4节点按需接入，每柜一条汇总示意线不等于每柜只有一个物理网口，也不代表新增机柜交换机。存储网仍保留可选状态，具体接口、带宽、设备台数、冗余与存储协议待确认。共享存储设备位置未指定。RoCE交换机1台拟放B柜，两台910B各8条200GE链路，16条光链路双端共32个光模块，T4不接入此计算通信组。机柜C至B跨柜布线。单台RoCE交换机不具备交换机级冗余。入口、防火墙及接入交换设备为逻辑职责，复用及采购数量待核。按用户最新要求移除核心/业务汇聚层，边界防火墙直接连接业务接入交换设备。未完成实机连通测试。硬件主题既有机柜字母将在统一编号时与本页保持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0f1b0867864f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a7d8ffef5e44a2" /><Relationship Type="http://schemas.openxmlformats.org/officeDocument/2006/relationships/slideLayout" Target="/ppt/slideLayouts/slideLayout1.xml" Id="R34f708dad35047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f708dad35047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fcd76d63245ef" /><Relationship Type="http://schemas.openxmlformats.org/officeDocument/2006/relationships/notesSlide" Target="/ppt/notesSlides/notesSlide1.xml" Id="R2dc23aa1cfee45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B0A5144-D3FE-45E8-A647-7D6463D7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A2  网络拓扑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81053-7F10-4F6A-B59F-DBEFB397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跨柜 RoCE：两台 910B 共用一台交换机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B6825-9314-4610-A995-9F769132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已确认：1 台 RoCE 交换机、16 条 200GE 链路、双端 32 个光模块。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DBE79-1D7E-434F-B6E3-6682BA98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1312C-919D-4A37-B6BD-8A5001A3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FA334B-AF83-4406-A5A0-C5E5B5E6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05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EC50B-5C99-46A5-B6F2-4012271D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847850"/>
            <a:ext cx="3448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8F0F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目标平台 / Internet / 压测入口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E75D8-BE00-4651-9BC9-2D0B4ADF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76475"/>
            <a:ext cx="344805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1F5E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边界防火墙 / 访问控制（复用或补齐）</a:t>
            </a:r>
          </a:p>
        </p:txBody>
      </p:sp>
      <p:cxnSp>
        <p:nvCxnSpPr>
          <p:cNvPr id="151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19800" y="215265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C803E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C37B2-F0B0-4833-9B19-AA0A5A61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95525"/>
            <a:ext cx="2600325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运维入口 / 管理区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B3881-5B2C-4A20-912A-F59A731E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2981325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F2F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BMC 带外管理接入交换设备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A40FE-4BF0-476B-A83C-EF6E9791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43275"/>
            <a:ext cx="2990850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5E2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业务网接入交换设备</a:t>
            </a:r>
          </a:p>
        </p:txBody>
      </p:sp>
      <p:cxnSp>
        <p:nvCxnSpPr>
          <p:cNvPr id="15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881188" y="2600325"/>
            <a:ext cx="600075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156" name=""/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19800" y="2581275"/>
            <a:ext cx="212407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AB491A-69CD-48AF-A901-AB8B031E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813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交换设备</a:t>
            </a:r>
          </a:p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管理口接入带外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FF972-A2AB-484A-8544-A8240477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92405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628E3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3E4E9-F0BD-4AE3-81EA-CB5755CC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288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业务网：速率待盘点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78971-B4AD-4924-8CB2-0C2E57CF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00275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159CB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7724F1-0A81-4FDD-8E66-53C0C299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1050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BMC 网：速率待盘点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4BDD83-C02E-4DF3-9605-370E7C68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7650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77429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534502-900D-4730-80F4-8965F330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3812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RoCE：200GE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C9A92C-A4EC-4BFF-8977-FF1CCDA0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752725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317AB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07DDA0-0540-49BF-9812-D7E0BAD1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65747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存储网：可选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536FD0-2C12-4F7A-B451-0962774C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76700"/>
            <a:ext cx="2876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F226B6-DA12-425A-9FA5-D67591C3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76700"/>
            <a:ext cx="3848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217C29-ADF9-4427-9538-E0274AA2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76700"/>
            <a:ext cx="39719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0EB87B-8731-4B12-B190-B04B7ABB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2714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A · 通算 ×6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24CEEB-0DF8-4B9F-BBE7-FEB34E50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857750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B / 10 kW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06619E-4B65-4DAD-92DE-107BBE9D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857750"/>
            <a:ext cx="14954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C / 10 kW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8E36AB-6C62-4E15-87CE-76160412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2F929D-70AA-4B55-92E3-EB059780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74" name=""/>
          <p:cNvCxnSpPr>
            <a:stCxn xmlns:a="http://schemas.openxmlformats.org/drawingml/2006/main" id="11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847725" y="3676650"/>
            <a:ext cx="163353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175" name=""/>
          <p:cNvCxnSpPr>
            <a:stCxn xmlns:a="http://schemas.openxmlformats.org/drawingml/2006/main" id="12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 flipH="1">
            <a:off x="1019175" y="3676650"/>
            <a:ext cx="71247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57AF53-55A4-4F5A-8D85-15F17A01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78105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81E7D6-3C21-4594-A115-1D3A046E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B25A22-D399-4A4F-834F-0B72AC08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79" name=""/>
          <p:cNvCxnSpPr>
            <a:stCxn xmlns:a="http://schemas.openxmlformats.org/drawingml/2006/main" id="11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 flipH="1">
            <a:off x="1752600" y="3676650"/>
            <a:ext cx="7286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180" name=""/>
          <p:cNvCxnSpPr>
            <a:stCxn xmlns:a="http://schemas.openxmlformats.org/drawingml/2006/main" id="12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 flipH="1">
            <a:off x="1924050" y="3676650"/>
            <a:ext cx="621982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62544D-DC9E-4E39-AC74-C197EA80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67200"/>
            <a:ext cx="85725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2…5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39245C-FDDE-4879-9C82-E02DF229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EACB31-C502-4659-AB26-A4F47205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84" name=""/>
          <p:cNvCxnSpPr>
            <a:stCxn xmlns:a="http://schemas.openxmlformats.org/drawingml/2006/main" id="11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2481263" y="3676650"/>
            <a:ext cx="2524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185" name=""/>
          <p:cNvCxnSpPr>
            <a:stCxn xmlns:a="http://schemas.openxmlformats.org/drawingml/2006/main" id="12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 flipH="1">
            <a:off x="2905125" y="3676650"/>
            <a:ext cx="52387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E5A68E-5E6F-42A5-9941-A8B6CBD2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67200"/>
            <a:ext cx="78105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737B75-17AD-4BC5-A632-82549B19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DB3247-1C30-440C-9F82-A52A99F3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89" name=""/>
          <p:cNvCxnSpPr>
            <a:stCxn xmlns:a="http://schemas.openxmlformats.org/drawingml/2006/main" id="11" idx="2"/>
            <a:endCxn xmlns:a="http://schemas.openxmlformats.org/drawingml/2006/main" id="45" idx="0"/>
          </p:cNvCxnSpPr>
          <p:nvPr/>
        </p:nvCxnSpPr>
        <p:spPr>
          <a:xfrm xmlns:a="http://schemas.openxmlformats.org/drawingml/2006/main">
            <a:off x="2481263" y="3676650"/>
            <a:ext cx="14335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190" name=""/>
          <p:cNvCxnSpPr>
            <a:stCxn xmlns:a="http://schemas.openxmlformats.org/drawingml/2006/main" id="12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 flipH="1">
            <a:off x="4086225" y="3676650"/>
            <a:ext cx="40576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9A85AF-1B40-4ADA-989A-77A8D784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67200"/>
            <a:ext cx="12954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910B-1 / 8 卡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39A166-397E-46A3-9116-CA0FA686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00DEBB-95D8-4024-9A3D-E912C036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165F64-4D5D-4F30-AEAA-683CA863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1CF520-BAC9-4243-9DE4-AF1ED419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CC9C9B-39F2-43B3-9965-C38C18FF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9D13EF-E510-43B5-A052-F223F93D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395F11-63C4-433C-9498-A78A47A1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08D0AE-C8C1-41EA-AE27-523FB4FB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3651CE6-649C-48D0-84B1-096B5214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FC46FB1-5630-424E-AD87-75D353F6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02" name=""/>
          <p:cNvCxnSpPr>
            <a:stCxn xmlns:a="http://schemas.openxmlformats.org/drawingml/2006/main" id="11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2481263" y="3676650"/>
            <a:ext cx="28432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03" name=""/>
          <p:cNvCxnSpPr>
            <a:stCxn xmlns:a="http://schemas.openxmlformats.org/drawingml/2006/main" id="12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 flipH="1">
            <a:off x="5495925" y="3676650"/>
            <a:ext cx="26479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0DB2D6-AF42-498F-A201-E0276BF2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T4-1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6E7C3E3-6696-43DB-A0D0-419286F7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284F84F-9C21-4A61-8DF3-E8C17219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07" name=""/>
          <p:cNvCxnSpPr>
            <a:stCxn xmlns:a="http://schemas.openxmlformats.org/drawingml/2006/main" id="11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2481263" y="3676650"/>
            <a:ext cx="359568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08" name=""/>
          <p:cNvCxnSpPr>
            <a:stCxn xmlns:a="http://schemas.openxmlformats.org/drawingml/2006/main" id="12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 flipH="1">
            <a:off x="6248400" y="3676650"/>
            <a:ext cx="18954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67E5A9F-8B92-4C70-B250-182B0D7D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T4-2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BE63380-9EF3-4B3A-BC43-5E75D13E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192CF9B-CE01-435D-AE0B-D61E4F85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12" name=""/>
          <p:cNvCxnSpPr>
            <a:stCxn xmlns:a="http://schemas.openxmlformats.org/drawingml/2006/main" id="11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>
            <a:off x="2481263" y="3676650"/>
            <a:ext cx="43481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13" name=""/>
          <p:cNvCxnSpPr>
            <a:stCxn xmlns:a="http://schemas.openxmlformats.org/drawingml/2006/main" id="12" idx="2"/>
            <a:endCxn xmlns:a="http://schemas.openxmlformats.org/drawingml/2006/main" id="69" idx="0"/>
          </p:cNvCxnSpPr>
          <p:nvPr/>
        </p:nvCxnSpPr>
        <p:spPr>
          <a:xfrm xmlns:a="http://schemas.openxmlformats.org/drawingml/2006/main" flipH="1">
            <a:off x="7000875" y="3676650"/>
            <a:ext cx="11430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F9C6DAB-D1FC-444A-A7F9-17F7BEE5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T4-3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FDF499E-C946-457A-896B-51191B44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23BF8CC-BE0E-4C9C-B613-03148D1F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17" name=""/>
          <p:cNvCxnSpPr>
            <a:stCxn xmlns:a="http://schemas.openxmlformats.org/drawingml/2006/main" id="11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2481263" y="3676650"/>
            <a:ext cx="54721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18" name=""/>
          <p:cNvCxnSpPr>
            <a:stCxn xmlns:a="http://schemas.openxmlformats.org/drawingml/2006/main" id="12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 flipH="1">
            <a:off x="8124825" y="3676650"/>
            <a:ext cx="190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64EF3FA-504C-43D1-B38F-E99FCCAF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67200"/>
            <a:ext cx="129540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910B-2 / 8 卡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2EDB5F2-9444-4540-B587-C20D73A3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8861155-28FD-4F3C-9054-64FC6C6F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0BBE2FF-4591-420B-A43A-F6482215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0ECC082-7392-4BB3-BE4B-5538E323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559CC1-0A96-4786-965F-F31C1D97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0CE428A-550E-44B5-AFCE-F7291D90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337F21B-72AC-481E-833C-41E1F74F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D10AFE2-DF54-417D-8DC7-1B9C7C51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33925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69C3898-4603-480C-942A-14D8D9E8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FFE2F98-C554-4637-ABA2-A230FB17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30" name=""/>
          <p:cNvCxnSpPr>
            <a:stCxn xmlns:a="http://schemas.openxmlformats.org/drawingml/2006/main" id="11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2481263" y="3676650"/>
            <a:ext cx="68818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31" name=""/>
          <p:cNvCxnSpPr>
            <a:stCxn xmlns:a="http://schemas.openxmlformats.org/drawingml/2006/main" id="12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>
            <a:off x="8143875" y="3676650"/>
            <a:ext cx="13906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EF761D8-3F06-4640-94CE-A1638935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T4-4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0CC2387-DD32-4A66-9CB4-85BB74E3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2C4A7A9-71E0-48CD-99A1-A60FB4F2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35" name=""/>
          <p:cNvCxnSpPr>
            <a:stCxn xmlns:a="http://schemas.openxmlformats.org/drawingml/2006/main" id="11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2481263" y="3676650"/>
            <a:ext cx="763428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36" name=""/>
          <p:cNvCxnSpPr>
            <a:stCxn xmlns:a="http://schemas.openxmlformats.org/drawingml/2006/main" id="12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>
            <a:off x="8143875" y="3676650"/>
            <a:ext cx="214312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559C443-A88A-42DD-813D-CA542612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267200"/>
            <a:ext cx="695325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T4-5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0C6D3D5-2B00-4F4F-A82A-AD83A3EF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159CB7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30367FF-B1C2-4168-AB32-6F8CCE0E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105275"/>
            <a:ext cx="1333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628E3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40" name=""/>
          <p:cNvCxnSpPr>
            <a:stCxn xmlns:a="http://schemas.openxmlformats.org/drawingml/2006/main" id="11" idx="2"/>
            <a:endCxn xmlns:a="http://schemas.openxmlformats.org/drawingml/2006/main" id="96" idx="0"/>
          </p:cNvCxnSpPr>
          <p:nvPr/>
        </p:nvCxnSpPr>
        <p:spPr>
          <a:xfrm xmlns:a="http://schemas.openxmlformats.org/drawingml/2006/main">
            <a:off x="2481263" y="3676650"/>
            <a:ext cx="83867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59CB7"/>
            </a:solidFill>
            <a:prstDash val="solid"/>
          </a:ln>
        </p:spPr>
      </p:cxnSp>
      <p:cxnSp>
        <p:nvCxnSpPr>
          <p:cNvPr id="241" name=""/>
          <p:cNvCxnSpPr>
            <a:stCxn xmlns:a="http://schemas.openxmlformats.org/drawingml/2006/main" id="12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>
            <a:off x="8143875" y="3676650"/>
            <a:ext cx="28956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28E3D"/>
            </a:solidFill>
            <a:prstDash val="solid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CA10AF0-0BD9-446C-A0CF-D6E3A680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67200"/>
            <a:ext cx="819150" cy="466725"/>
          </a:xfrm>
          <a:prstGeom xmlns:a="http://schemas.openxmlformats.org/drawingml/2006/main" prst="roundRect">
            <a:avLst>
              <a:gd name="adj" fmla="val 10204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T4-6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724D64F-9835-4310-B591-530B367E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648325"/>
            <a:ext cx="4886325" cy="314325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RoCE 交换机 ×1（拟放 B 柜）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C049538-FF89-4698-8A89-41719B45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cxnSp>
        <p:nvCxnSpPr>
          <p:cNvPr id="245" name=""/>
          <p:cNvCxnSpPr>
            <a:stCxn xmlns:a="http://schemas.openxmlformats.org/drawingml/2006/main" id="50" idx="2"/>
            <a:endCxn xmlns:a="http://schemas.openxmlformats.org/drawingml/2006/main" id="102" idx="0"/>
          </p:cNvCxnSpPr>
          <p:nvPr/>
        </p:nvCxnSpPr>
        <p:spPr>
          <a:xfrm xmlns:a="http://schemas.openxmlformats.org/drawingml/2006/main">
            <a:off x="3833813" y="4867275"/>
            <a:ext cx="13954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EECC2FD-F2A5-48DB-91FF-35946EAB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cxnSp>
        <p:nvCxnSpPr>
          <p:cNvPr id="247" name=""/>
          <p:cNvCxnSpPr>
            <a:stCxn xmlns:a="http://schemas.openxmlformats.org/drawingml/2006/main" id="51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3986213" y="4867275"/>
            <a:ext cx="14811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D9E2441-892B-4CDA-853D-5EDB9035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cxnSp>
        <p:nvCxnSpPr>
          <p:cNvPr id="249" name=""/>
          <p:cNvCxnSpPr>
            <a:stCxn xmlns:a="http://schemas.openxmlformats.org/drawingml/2006/main" id="52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4138613" y="4867275"/>
            <a:ext cx="1566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2BEB263-EB2A-4F80-9F34-58F8C41A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cxnSp>
        <p:nvCxnSpPr>
          <p:cNvPr id="251" name=""/>
          <p:cNvCxnSpPr>
            <a:stCxn xmlns:a="http://schemas.openxmlformats.org/drawingml/2006/main" id="53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4291013" y="4867275"/>
            <a:ext cx="1652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CFE98B1-8A29-48E2-83B7-FB22F572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cxnSp>
        <p:nvCxnSpPr>
          <p:cNvPr id="253" name=""/>
          <p:cNvCxnSpPr>
            <a:stCxn xmlns:a="http://schemas.openxmlformats.org/drawingml/2006/main" id="54" idx="2"/>
            <a:endCxn xmlns:a="http://schemas.openxmlformats.org/drawingml/2006/main" id="110" idx="0"/>
          </p:cNvCxnSpPr>
          <p:nvPr/>
        </p:nvCxnSpPr>
        <p:spPr>
          <a:xfrm xmlns:a="http://schemas.openxmlformats.org/drawingml/2006/main">
            <a:off x="4443413" y="4867275"/>
            <a:ext cx="1738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650BFDB-6F63-4BA3-B0EE-923315C9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cxnSp>
        <p:nvCxnSpPr>
          <p:cNvPr id="255" name=""/>
          <p:cNvCxnSpPr>
            <a:stCxn xmlns:a="http://schemas.openxmlformats.org/drawingml/2006/main" id="55" idx="2"/>
            <a:endCxn xmlns:a="http://schemas.openxmlformats.org/drawingml/2006/main" id="112" idx="0"/>
          </p:cNvCxnSpPr>
          <p:nvPr/>
        </p:nvCxnSpPr>
        <p:spPr>
          <a:xfrm xmlns:a="http://schemas.openxmlformats.org/drawingml/2006/main">
            <a:off x="4595813" y="4867275"/>
            <a:ext cx="18240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EAF637D-2515-4BFD-BE03-4E82FDE0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cxnSp>
        <p:nvCxnSpPr>
          <p:cNvPr id="257" name=""/>
          <p:cNvCxnSpPr>
            <a:stCxn xmlns:a="http://schemas.openxmlformats.org/drawingml/2006/main" id="56" idx="2"/>
            <a:endCxn xmlns:a="http://schemas.openxmlformats.org/drawingml/2006/main" id="114" idx="0"/>
          </p:cNvCxnSpPr>
          <p:nvPr/>
        </p:nvCxnSpPr>
        <p:spPr>
          <a:xfrm xmlns:a="http://schemas.openxmlformats.org/drawingml/2006/main">
            <a:off x="4748213" y="4867275"/>
            <a:ext cx="19097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3AA20A9-D2AC-41C0-9439-3FC2E55C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cxnSp>
        <p:nvCxnSpPr>
          <p:cNvPr id="259" name=""/>
          <p:cNvCxnSpPr>
            <a:stCxn xmlns:a="http://schemas.openxmlformats.org/drawingml/2006/main" id="57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4900613" y="4867275"/>
            <a:ext cx="19954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30356A6-ECEB-475B-B524-45E8BD12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cxnSp>
        <p:nvCxnSpPr>
          <p:cNvPr id="261" name=""/>
          <p:cNvCxnSpPr>
            <a:stCxn xmlns:a="http://schemas.openxmlformats.org/drawingml/2006/main" id="78" idx="2"/>
            <a:endCxn xmlns:a="http://schemas.openxmlformats.org/drawingml/2006/main" id="118" idx="0"/>
          </p:cNvCxnSpPr>
          <p:nvPr/>
        </p:nvCxnSpPr>
        <p:spPr>
          <a:xfrm xmlns:a="http://schemas.openxmlformats.org/drawingml/2006/main" flipH="1">
            <a:off x="7658100" y="4867275"/>
            <a:ext cx="214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CFD6CCA-5BB6-4A69-8995-E7CF4DB7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cxnSp>
        <p:nvCxnSpPr>
          <p:cNvPr id="263" name=""/>
          <p:cNvCxnSpPr>
            <a:stCxn xmlns:a="http://schemas.openxmlformats.org/drawingml/2006/main" id="79" idx="2"/>
            <a:endCxn xmlns:a="http://schemas.openxmlformats.org/drawingml/2006/main" id="120" idx="0"/>
          </p:cNvCxnSpPr>
          <p:nvPr/>
        </p:nvCxnSpPr>
        <p:spPr>
          <a:xfrm xmlns:a="http://schemas.openxmlformats.org/drawingml/2006/main" flipH="1">
            <a:off x="7896225" y="4867275"/>
            <a:ext cx="128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576BAA0-5310-4E6F-B24F-A514A715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cxnSp>
        <p:nvCxnSpPr>
          <p:cNvPr id="265" name=""/>
          <p:cNvCxnSpPr>
            <a:stCxn xmlns:a="http://schemas.openxmlformats.org/drawingml/2006/main" id="80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 flipH="1">
            <a:off x="8134350" y="4867275"/>
            <a:ext cx="42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D55A8D7-2F9F-4472-A2B2-56EF2897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cxnSp>
        <p:nvCxnSpPr>
          <p:cNvPr id="267" name=""/>
          <p:cNvCxnSpPr>
            <a:stCxn xmlns:a="http://schemas.openxmlformats.org/drawingml/2006/main" id="81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>
            <a:off x="8329613" y="4867275"/>
            <a:ext cx="42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0F8B1E0-E93E-4BC0-8825-7E08A988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cxnSp>
        <p:nvCxnSpPr>
          <p:cNvPr id="269" name=""/>
          <p:cNvCxnSpPr>
            <a:stCxn xmlns:a="http://schemas.openxmlformats.org/drawingml/2006/main" id="82" idx="2"/>
            <a:endCxn xmlns:a="http://schemas.openxmlformats.org/drawingml/2006/main" id="126" idx="0"/>
          </p:cNvCxnSpPr>
          <p:nvPr/>
        </p:nvCxnSpPr>
        <p:spPr>
          <a:xfrm xmlns:a="http://schemas.openxmlformats.org/drawingml/2006/main">
            <a:off x="8482013" y="4867275"/>
            <a:ext cx="128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6B9C62C-3466-40A1-831D-AB8EBD9F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cxnSp>
        <p:nvCxnSpPr>
          <p:cNvPr id="271" name=""/>
          <p:cNvCxnSpPr>
            <a:stCxn xmlns:a="http://schemas.openxmlformats.org/drawingml/2006/main" id="83" idx="2"/>
            <a:endCxn xmlns:a="http://schemas.openxmlformats.org/drawingml/2006/main" id="128" idx="0"/>
          </p:cNvCxnSpPr>
          <p:nvPr/>
        </p:nvCxnSpPr>
        <p:spPr>
          <a:xfrm xmlns:a="http://schemas.openxmlformats.org/drawingml/2006/main">
            <a:off x="8634413" y="4867275"/>
            <a:ext cx="214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9FBF524-9A90-442C-AAE4-B9B77B5C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cxnSp>
        <p:nvCxnSpPr>
          <p:cNvPr id="273" name=""/>
          <p:cNvCxnSpPr>
            <a:stCxn xmlns:a="http://schemas.openxmlformats.org/drawingml/2006/main" id="84" idx="2"/>
            <a:endCxn xmlns:a="http://schemas.openxmlformats.org/drawingml/2006/main" id="130" idx="0"/>
          </p:cNvCxnSpPr>
          <p:nvPr/>
        </p:nvCxnSpPr>
        <p:spPr>
          <a:xfrm xmlns:a="http://schemas.openxmlformats.org/drawingml/2006/main">
            <a:off x="8786813" y="4867275"/>
            <a:ext cx="3000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2198258-8A58-4691-9C14-B15B61A2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514975"/>
            <a:ext cx="1714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cxnSp>
        <p:nvCxnSpPr>
          <p:cNvPr id="275" name=""/>
          <p:cNvCxnSpPr>
            <a:stCxn xmlns:a="http://schemas.openxmlformats.org/drawingml/2006/main" id="85" idx="2"/>
            <a:endCxn xmlns:a="http://schemas.openxmlformats.org/drawingml/2006/main" id="132" idx="0"/>
          </p:cNvCxnSpPr>
          <p:nvPr/>
        </p:nvCxnSpPr>
        <p:spPr>
          <a:xfrm xmlns:a="http://schemas.openxmlformats.org/drawingml/2006/main">
            <a:off x="8939213" y="4867275"/>
            <a:ext cx="3857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F55660F-7EBC-45A2-9E53-A1DCC7D8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648325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742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77429B"/>
                </a:solidFill>
                <a:latin typeface="Arial Unicode MS"/>
                <a:ea typeface="Arial Unicode MS"/>
                <a:cs typeface="Arial Unicode MS"/>
              </a:rPr>
              <a:t>16×200GE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95CD826-430D-4BEC-9993-F2BBA9C6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53075"/>
            <a:ext cx="3267075" cy="409575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共享 / 对象存储（可选）</a:t>
            </a:r>
          </a:p>
          <a:p xmlns:a="http://schemas.openxmlformats.org/drawingml/2006/main">
            <a:pPr algn="ctr">
              <a:def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连接 A / B / C 三柜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FDDAA94-C3A5-42E2-8D36-2AD16327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067300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79" name=""/>
          <p:cNvCxnSpPr>
            <a:stCxn xmlns:a="http://schemas.openxmlformats.org/drawingml/2006/main" id="136" idx="2"/>
            <a:endCxn xmlns:a="http://schemas.openxmlformats.org/drawingml/2006/main" id="135" idx="0"/>
          </p:cNvCxnSpPr>
          <p:nvPr/>
        </p:nvCxnSpPr>
        <p:spPr>
          <a:xfrm xmlns:a="http://schemas.openxmlformats.org/drawingml/2006/main" flipH="1">
            <a:off x="2214563" y="5200650"/>
            <a:ext cx="79057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BD44960-27D7-4477-A82A-82F70D29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67300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81" name=""/>
          <p:cNvCxnSpPr>
            <a:stCxn xmlns:a="http://schemas.openxmlformats.org/drawingml/2006/main" id="138" idx="2"/>
            <a:endCxn xmlns:a="http://schemas.openxmlformats.org/drawingml/2006/main" id="135" idx="0"/>
          </p:cNvCxnSpPr>
          <p:nvPr/>
        </p:nvCxnSpPr>
        <p:spPr>
          <a:xfrm xmlns:a="http://schemas.openxmlformats.org/drawingml/2006/main" flipH="1">
            <a:off x="2214563" y="5200650"/>
            <a:ext cx="502920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FF97DDE-68AD-44C8-AFA2-7382E1B9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6175" y="5067300"/>
            <a:ext cx="123825" cy="1333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83" name=""/>
          <p:cNvCxnSpPr>
            <a:stCxn xmlns:a="http://schemas.openxmlformats.org/drawingml/2006/main" id="140" idx="2"/>
            <a:endCxn xmlns:a="http://schemas.openxmlformats.org/drawingml/2006/main" id="135" idx="0"/>
          </p:cNvCxnSpPr>
          <p:nvPr/>
        </p:nvCxnSpPr>
        <p:spPr>
          <a:xfrm xmlns:a="http://schemas.openxmlformats.org/drawingml/2006/main" flipH="1">
            <a:off x="2214563" y="5200650"/>
            <a:ext cx="915352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53942BC-E7FB-4F4E-9448-B7A325A1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99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业务 / BMC 逐节点连线，存储网逐柜连线；RoCE 共 16 条物理链路。非 RoCE 设备规格待核定。</a:t>
            </a:r>
          </a:p>
        </p:txBody>
      </p:sp>
    </p:spTree>
    <p:extLst>
      <p:ext uri="{BB962C8B-B14F-4D97-AF65-F5344CB8AC3E}">
        <p14:creationId xmlns:p14="http://schemas.microsoft.com/office/powerpoint/2010/main" val="17478453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2026-09-16T06:38:49.2650000Z</dcterms:created>
  <dcterms:modified xsi:type="dcterms:W3CDTF">2026-09-16T06:38:49.2650000Z</dcterms:modified>
</coreProperties>
</file>