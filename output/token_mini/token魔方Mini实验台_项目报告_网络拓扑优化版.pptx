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9fcd7a80c34d5e" /><Relationship Type="http://schemas.openxmlformats.org/officeDocument/2006/relationships/extended-properties" Target="/docProps/app.xml" Id="R135c79599c3e4d36" /><Relationship Type="http://schemas.openxmlformats.org/officeDocument/2006/relationships/officeDocument" Target="/ppt/presentation.xml" Id="R06a34c69af204c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22bd12bf74cbf"/>
  </p:sldMasterIdLst>
  <p:notesMasterIdLst>
    <p:notesMasterId xmlns:r="http://schemas.openxmlformats.org/officeDocument/2006/relationships" r:id="Rc073c0ea685c49c9"/>
  </p:notesMasterIdLst>
  <p:sldIdLst>
    <p:sldId xmlns:r="http://schemas.openxmlformats.org/officeDocument/2006/relationships" id="256" r:id="R8080755ec36c4709"/>
    <p:sldId xmlns:r="http://schemas.openxmlformats.org/officeDocument/2006/relationships" id="257" r:id="Ra8c5f03a8a2045ad"/>
    <p:sldId xmlns:r="http://schemas.openxmlformats.org/officeDocument/2006/relationships" id="258" r:id="R2472b1b722b44c88"/>
    <p:sldId xmlns:r="http://schemas.openxmlformats.org/officeDocument/2006/relationships" id="259" r:id="R48f9a90cc00e407d"/>
    <p:sldId xmlns:r="http://schemas.openxmlformats.org/officeDocument/2006/relationships" id="260" r:id="Rdd72d9faf2f44894"/>
    <p:sldId xmlns:r="http://schemas.openxmlformats.org/officeDocument/2006/relationships" id="261" r:id="Rff9b432f15dc4a55"/>
    <p:sldId xmlns:r="http://schemas.openxmlformats.org/officeDocument/2006/relationships" id="262" r:id="R706bb67883f94e2e"/>
    <p:sldId xmlns:r="http://schemas.openxmlformats.org/officeDocument/2006/relationships" id="263" r:id="Ra1560684288c48b5"/>
    <p:sldId xmlns:r="http://schemas.openxmlformats.org/officeDocument/2006/relationships" id="264" r:id="R7f9715e869264937"/>
    <p:sldId xmlns:r="http://schemas.openxmlformats.org/officeDocument/2006/relationships" id="265" r:id="R98382674990b4bc0"/>
    <p:sldId xmlns:r="http://schemas.openxmlformats.org/officeDocument/2006/relationships" id="266" r:id="R4ac27fefaf964536"/>
    <p:sldId xmlns:r="http://schemas.openxmlformats.org/officeDocument/2006/relationships" id="267" r:id="Rb9801ab06d1f454b"/>
    <p:sldId xmlns:r="http://schemas.openxmlformats.org/officeDocument/2006/relationships" id="268" r:id="Ra267755cd33e47cc"/>
    <p:sldId xmlns:r="http://schemas.openxmlformats.org/officeDocument/2006/relationships" id="269" r:id="R1a4dd87db903489f"/>
    <p:sldId xmlns:r="http://schemas.openxmlformats.org/officeDocument/2006/relationships" id="270" r:id="R9e79fd8bbdfa4aa5"/>
    <p:sldId xmlns:r="http://schemas.openxmlformats.org/officeDocument/2006/relationships" id="271" r:id="R3c5c95d279b94e79"/>
    <p:sldId xmlns:r="http://schemas.openxmlformats.org/officeDocument/2006/relationships" id="272" r:id="R52d0bb2a7fa44167"/>
    <p:sldId xmlns:r="http://schemas.openxmlformats.org/officeDocument/2006/relationships" id="273" r:id="R9df264db8af84d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c432003321415b" /><Relationship Type="http://schemas.openxmlformats.org/officeDocument/2006/relationships/slideMaster" Target="/ppt/slideMasters/slideMaster1.xml" Id="R23d22bd12bf74cbf" /><Relationship Type="http://schemas.openxmlformats.org/officeDocument/2006/relationships/notesMaster" Target="/ppt/notesMasters/notesMaster1.xml" Id="Rc073c0ea685c49c9" /><Relationship Type="http://schemas.openxmlformats.org/officeDocument/2006/relationships/presProps" Target="/ppt/presProps.xml" Id="R64d1a7c7ff804d61" /><Relationship Type="http://schemas.openxmlformats.org/officeDocument/2006/relationships/tableStyles" Target="/ppt/tableStyles.xml" Id="R0895c80de16c4d00" /><Relationship Type="http://schemas.openxmlformats.org/officeDocument/2006/relationships/slide" Target="/ppt/slides/slide1.xml" Id="R8080755ec36c4709" /><Relationship Type="http://schemas.openxmlformats.org/officeDocument/2006/relationships/slide" Target="/ppt/slides/slide2.xml" Id="Ra8c5f03a8a2045ad" /><Relationship Type="http://schemas.openxmlformats.org/officeDocument/2006/relationships/slide" Target="/ppt/slides/slide3.xml" Id="R2472b1b722b44c88" /><Relationship Type="http://schemas.openxmlformats.org/officeDocument/2006/relationships/slide" Target="/ppt/slides/slide4.xml" Id="R48f9a90cc00e407d" /><Relationship Type="http://schemas.openxmlformats.org/officeDocument/2006/relationships/slide" Target="/ppt/slides/slide5.xml" Id="Rdd72d9faf2f44894" /><Relationship Type="http://schemas.openxmlformats.org/officeDocument/2006/relationships/slide" Target="/ppt/slides/slide6.xml" Id="Rff9b432f15dc4a55" /><Relationship Type="http://schemas.openxmlformats.org/officeDocument/2006/relationships/slide" Target="/ppt/slides/slide7.xml" Id="R706bb67883f94e2e" /><Relationship Type="http://schemas.openxmlformats.org/officeDocument/2006/relationships/slide" Target="/ppt/slides/slide8.xml" Id="Ra1560684288c48b5" /><Relationship Type="http://schemas.openxmlformats.org/officeDocument/2006/relationships/slide" Target="/ppt/slides/slide9.xml" Id="R7f9715e869264937" /><Relationship Type="http://schemas.openxmlformats.org/officeDocument/2006/relationships/slide" Target="/ppt/slides/slide10.xml" Id="R98382674990b4bc0" /><Relationship Type="http://schemas.openxmlformats.org/officeDocument/2006/relationships/slide" Target="/ppt/slides/slide11.xml" Id="R4ac27fefaf964536" /><Relationship Type="http://schemas.openxmlformats.org/officeDocument/2006/relationships/slide" Target="/ppt/slides/slide12.xml" Id="Rb9801ab06d1f454b" /><Relationship Type="http://schemas.openxmlformats.org/officeDocument/2006/relationships/slide" Target="/ppt/slides/slide13.xml" Id="Ra267755cd33e47cc" /><Relationship Type="http://schemas.openxmlformats.org/officeDocument/2006/relationships/slide" Target="/ppt/slides/slide14.xml" Id="R1a4dd87db903489f" /><Relationship Type="http://schemas.openxmlformats.org/officeDocument/2006/relationships/slide" Target="/ppt/slides/slide15.xml" Id="R9e79fd8bbdfa4aa5" /><Relationship Type="http://schemas.openxmlformats.org/officeDocument/2006/relationships/slide" Target="/ppt/slides/slide16.xml" Id="R3c5c95d279b94e79" /><Relationship Type="http://schemas.openxmlformats.org/officeDocument/2006/relationships/slide" Target="/ppt/slides/slide17.xml" Id="R52d0bb2a7fa44167" /><Relationship Type="http://schemas.openxmlformats.org/officeDocument/2006/relationships/slide" Target="/ppt/slides/slide18.xml" Id="R9df264db8af8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91513126c044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76e7e2b2a4663" /><Relationship Type="http://schemas.openxmlformats.org/officeDocument/2006/relationships/notesMaster" Target="/ppt/notesMasters/notesMaster1.xml" Id="R087f242fb43646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00554eb1f24ec8" /><Relationship Type="http://schemas.openxmlformats.org/officeDocument/2006/relationships/notesMaster" Target="/ppt/notesMasters/notesMaster1.xml" Id="Re116716ccf954e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fca91610724fd7" /><Relationship Type="http://schemas.openxmlformats.org/officeDocument/2006/relationships/notesMaster" Target="/ppt/notesMasters/notesMaster1.xml" Id="Ra0452eebd2a14e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68859553d4e0b" /><Relationship Type="http://schemas.openxmlformats.org/officeDocument/2006/relationships/notesMaster" Target="/ppt/notesMasters/notesMaster1.xml" Id="R1b0e59a5681c41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59755c5f14d85" /><Relationship Type="http://schemas.openxmlformats.org/officeDocument/2006/relationships/notesMaster" Target="/ppt/notesMasters/notesMaster1.xml" Id="R5c1369f67d5d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c17b09b4e14291" /><Relationship Type="http://schemas.openxmlformats.org/officeDocument/2006/relationships/notesMaster" Target="/ppt/notesMasters/notesMaster1.xml" Id="R70b1cdfae8c7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0de2530564456" /><Relationship Type="http://schemas.openxmlformats.org/officeDocument/2006/relationships/notesMaster" Target="/ppt/notesMasters/notesMaster1.xml" Id="Reec8541bb5a041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fceadc984e4c7c" /><Relationship Type="http://schemas.openxmlformats.org/officeDocument/2006/relationships/notesMaster" Target="/ppt/notesMasters/notesMaster1.xml" Id="R3d2084774f234e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dfdbc9a8c943f0" /><Relationship Type="http://schemas.openxmlformats.org/officeDocument/2006/relationships/notesMaster" Target="/ppt/notesMasters/notesMaster1.xml" Id="Rd35073f519474a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600ef9a51347a3" /><Relationship Type="http://schemas.openxmlformats.org/officeDocument/2006/relationships/notesMaster" Target="/ppt/notesMasters/notesMaster1.xml" Id="R0c34008409414b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26d3f74a4e4d79" /><Relationship Type="http://schemas.openxmlformats.org/officeDocument/2006/relationships/notesMaster" Target="/ppt/notesMasters/notesMaster1.xml" Id="Rb5317fd84e5f45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328b76f741479f" /><Relationship Type="http://schemas.openxmlformats.org/officeDocument/2006/relationships/notesMaster" Target="/ppt/notesMasters/notesMaster1.xml" Id="R726a2781c2e740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85209854c0454f" /><Relationship Type="http://schemas.openxmlformats.org/officeDocument/2006/relationships/notesMaster" Target="/ppt/notesMasters/notesMaster1.xml" Id="R32141e0f889140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1f80c60eaa40da" /><Relationship Type="http://schemas.openxmlformats.org/officeDocument/2006/relationships/notesMaster" Target="/ppt/notesMasters/notesMaster1.xml" Id="R13245fdb9a3244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69f2f58d624b95" /><Relationship Type="http://schemas.openxmlformats.org/officeDocument/2006/relationships/notesMaster" Target="/ppt/notesMasters/notesMaster1.xml" Id="R1836790a758741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46086b30d94697" /><Relationship Type="http://schemas.openxmlformats.org/officeDocument/2006/relationships/notesMaster" Target="/ppt/notesMasters/notesMaster1.xml" Id="R23be1cc5ce6b43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128f3bec814695" /><Relationship Type="http://schemas.openxmlformats.org/officeDocument/2006/relationships/notesMaster" Target="/ppt/notesMasters/notesMaster1.xml" Id="R8247b18ae23146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5bba86215d4824" /><Relationship Type="http://schemas.openxmlformats.org/officeDocument/2006/relationships/notesMaster" Target="/ppt/notesMasters/notesMaster1.xml" Id="Rd27d80813973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优先建议Qwen3-8B作为910B文本联调候选，具体平台采购规格尚未确认。YOLO和Wan独立PoC，不阻塞首个文本计量案例。技术验证完成不代表商业闭环完成。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图为资源布置示意，不代表U位尺寸。通算服务器仅列配置类别，不画进两新柜。910B整机单台超过5kW为用户输入，因此两台不可装入同一10kW机柜。卡数计算2×8=16，6×8=48。T4多卡显存不是天然连续显存。RoCE交换机拟放A柜，图上不占服务器槽，功率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均为相应整机/设备的设计负载峰值，不能用GPU板卡功耗代替整机，不能将冗余PSU铭牌额定值简单相加。P机柜可用由机房在回路、PDU、故障供电及制冷条件下确认，不自动等于标称10kW。A柜网络负载含RoCE交换机，B柜按实际驻留设备计。覆盖14台整机及网络设备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用户参考图的分层拓扑画法改绘，保留本项目规模。层级：平台入口、边界访问控制、核心业务汇聚、带外与业务接入、服务器端口、RoCE及可选存储。图中防火墙、核心/业务/管理交换设备是复用或补齐的逻辑职责，不代表已确认新增采购数量，实际可合并或按冗余需求拆分。运维管理区独立接入BMC网，不将BMC暴露在业务入口。每个代表服务器上方青色/绿色小口分别为BMC/业务；中间通算2…5代表四台同配置接入关系，总通算6台。T4全部六台逐台展示，每台8卡。两台910B各8条200GE实际光链路连接同一RoCE交换机，交换机侧端口1–16编号仅作接线示意，待实际端口映射确认。16条链路需要双端32个模块。交换机拟放A柜，B柜8条跨柜；没有额外Spine交换机，不具备交换机级冗余。紫线只连910B，不将T4接入HCCL通信组。业务/BMC速率未知，不照搬参考图的1G/25G/400G。可选存储图中绘制通算侧示意，910B/T4按需要另接存储交换机。光纤、模块、距离、FEC/MTU、IP、PFC/ECN及HCCL按设备兼容方案验证。图为拟议方案，未声称已完成连通与带宽测试。参考图仅用于布局风格，不照搬其设备或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roce: https://e.huawei.com/cn/products/computing/ascend/atlas-800t-a2</a:t>
            </a:r>
          </a:p>
          <a:p xmlns:a="http://schemas.openxmlformats.org/drawingml/2006/main">
            <a:r>
              <a:t>optics: https://e.huawei.com/cn/products/dcn-modules/200g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列为候选替代路径，不要求全部组件同时安装。T4支持FP16及经核验的INT4/INT8路径；BF16/FP8原生能力不能按新卡假定。CUDA专用kernel无法直接搬到Ascend。固定OS/CPU架构、驱动、固件、CUDA或CANN、框架、引擎和镜像digest，按选定release支持矩阵验收。当前文档快照只是研究来源，不宣称latest镜像已在本机验证。vLLM不作为YOLO或Wan统一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gpu: https://docs.vllm.ai/en/latest/getting_started/installation/gpu/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trt: https://nvidia.github.io/TensorRT-LLM/reference/support-matrix.html</a:t>
            </a:r>
          </a:p>
          <a:p xmlns:a="http://schemas.openxmlformats.org/drawingml/2006/main">
            <a:r>
              <a:t>install: https://docs.vllm.ai/projects/ascend/en/main/getting_started/installation.html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逻辑架构，未声称全部功能属于MASS或已部署。管理/配置、请求、计量三个职责分开。计量字段：tenant_id、request_id、attempt_id、event_id、model/version、tokenizer版本、开始结束时间、状态、input/output/cache_hit/cache_miss、规则版本、原始证据引用。缓存量按双方计费规则核对，框架缓存块计数不得直接当计费Token。YOLO与Wan使用task_id和图片/视频任务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固定候选ID：Qwen/Qwen3-8B；deepseek-ai/DeepSeek-R1-Distill-Qwen-32B；zai-org/GLM-4.5-Air。权重revision/hash、目标引擎release与镜像digest待设备验证阶段冻结，不能把研究候选称为已验收配置。Qwen3-Dense在当前A2/A3矩阵支持；DeepSeek Distill标为experimental。GLM-4.5-Air主干总参数106B、激活12B，仓库张量统计约110B，容量以实际权重字节与加载策略为准，不能按激活参数估算。优先单机支持的并行配置，只有容量或性能需要时再双机HCCL。备选完整DeepSeek-R1/V3.2须另算量化/双机容量，当前不承诺。所有模型均未本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asc: https://docs.vllm.ai/projects/ascend/en/latest/user_guide/support_matrix/supported_models.html</a:t>
            </a:r>
          </a:p>
          <a:p xmlns:a="http://schemas.openxmlformats.org/drawingml/2006/main">
            <a:r>
              <a:t>qwen: https://huggingface.co/Qwen/Qwen3-8B</a:t>
            </a:r>
          </a:p>
          <a:p xmlns:a="http://schemas.openxmlformats.org/drawingml/2006/main">
            <a:r>
              <a:t>ds: https://huggingface.co/deepseek-ai/DeepSeek-R1-Distill-Qwen-32B</a:t>
            </a:r>
          </a:p>
          <a:p xmlns:a="http://schemas.openxmlformats.org/drawingml/2006/main">
            <a:r>
              <a:t>glm: https://huggingface.co/zai-org/GLM-4.5-Air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完整ID：Qwen/Qwen2.5-7B-Instruct-AWQ，Ultralytics YOLO26n，Wan-AI/Wan2.1-T2V-1.3B。7B AWQ先验证单卡容量与SM75 kernel，不保证任意上下文/并发。量化只降低字节数，不减少参数量。可增加同系列14B量化作为备选，需重新核验。YOLO官方表有T4/TensorRT列，不搬用其速度作为本台结果；模型/软件许可及商用供给方式待核。Wan仓库低显存参考约8.19GB，非T4完整兼容证据，需检验FP16数值、注意力后端和卸载开销；不搬用4090速度。各任务固定独立镜像，不默认TP8。48卡在任务之间按卡时分配，不重复满额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  <a:p xmlns:a="http://schemas.openxmlformats.org/drawingml/2006/main">
            <a:r>
              <a:t>awq: https://huggingface.co/Qwen/Qwen2.5-7B-Instruct-AWQ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yolo: https://docs.ultralytics.com/models/yolo26</a:t>
            </a:r>
          </a:p>
          <a:p xmlns:a="http://schemas.openxmlformats.org/drawingml/2006/main">
            <a:r>
              <a:t>wan: 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操作记录包含nvidia-smi或npu-smi设备识别、每台8卡、PCIe/NUMA与网络，版本与镜像digest，模型文件hash与许可证。服务配置固定max_model_len、精度、量化、TP/PP/副本及CPU/内存限制。文本验证流式chunk边界、模板、截断、超时和输入输出计数。YOLO额外核验预/后处理、类别和坐标；Wan异步队列、任务状态、生成参数及结果文件交付。单模型成功不能外推所有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完整压测脚本模板（未执行）：</a:t>
            </a:r>
          </a:p>
          <a:p xmlns:a="http://schemas.openxmlformats.org/drawingml/2006/main">
            <a:r>
              <a:t>#!/usr/bin/env bash</a:t>
            </a:r>
          </a:p>
          <a:p xmlns:a="http://schemas.openxmlformats.org/drawingml/2006/main">
            <a:r>
              <a:t># Text-service benchmark template; not executed against any service during PPT creation.</a:t>
            </a:r>
          </a:p>
          <a:p xmlns:a="http://schemas.openxmlformats.org/drawingml/2006/main">
            <a:r>
              <a:t># CLI reference: vLLM 0.27.0. Pin the client and verify --help before use.</a:t>
            </a:r>
          </a:p>
          <a:p xmlns:a="http://schemas.openxmlformats.org/drawingml/2006/main">
            <a:r>
              <a:t>set -euo pipefail</a:t>
            </a:r>
          </a:p>
          <a:p xmlns:a="http://schemas.openxmlformats.org/drawingml/2006/main">
            <a:r>
              <a:t>: "${MODEL:?Set MODEL to the deployed service model ID}"</a:t>
            </a:r>
          </a:p>
          <a:p xmlns:a="http://schemas.openxmlformats.org/drawingml/2006/main">
            <a:r>
              <a:t>: "${TOKENIZER:?Set TOKENIZER to the matching local tokenizer path or ID}"</a:t>
            </a:r>
          </a:p>
          <a:p xmlns:a="http://schemas.openxmlformats.org/drawingml/2006/main">
            <a:r>
              <a:t>BENCH_URL="${BENCH_URL:-http://127.0.0.1:8000}"</a:t>
            </a:r>
          </a:p>
          <a:p xmlns:a="http://schemas.openxmlformats.org/drawingml/2006/main">
            <a:r>
              <a:t>BENCH_DIR="${BENCH_DIR:-./benchmark-results-$(date +%Y%m%d-%H%M%S)}"</a:t>
            </a:r>
          </a:p>
          <a:p xmlns:a="http://schemas.openxmlformats.org/drawingml/2006/main">
            <a:r>
              <a:t>BENCH_PROMPTS="${BENCH_PROMPTS:-500}"</a:t>
            </a:r>
          </a:p>
          <a:p xmlns:a="http://schemas.openxmlformats.org/drawingml/2006/main">
            <a:r>
              <a:t>mkdir -p "$BENCH_DIR"</a:t>
            </a:r>
          </a:p>
          <a:p xmlns:a="http://schemas.openxmlformats.org/drawingml/2006/main">
            <a:r>
              <a:t>vllm --version &gt; "$BENCH_DIR/client-version.txt"</a:t>
            </a:r>
          </a:p>
          <a:p xmlns:a="http://schemas.openxmlformats.org/drawingml/2006/main">
            <a:r>
              <a:t>vllm bench serve --help &gt; "$BENCH_DIR/client-help.txt"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Initial exploration only. Small-sample P99 is not a stable SLA estimate.</a:t>
            </a:r>
          </a:p>
          <a:p xmlns:a="http://schemas.openxmlformats.org/drawingml/2006/main">
            <a:r>
              <a:t># No cache-hit claim: repeat-prefix workloads and server usage evidence are separate.</a:t>
            </a:r>
          </a:p>
          <a:p xmlns:a="http://schemas.openxmlformats.org/drawingml/2006/main">
            <a:r>
              <a:t>for lengths in '256 128' '1024 128' '256 512' '1024 512'; do</a:t>
            </a:r>
          </a:p>
          <a:p xmlns:a="http://schemas.openxmlformats.org/drawingml/2006/main">
            <a:r>
              <a:t>  read -r input_len output_len &lt;&lt;&lt; "$lengths"</a:t>
            </a:r>
          </a:p>
          <a:p xmlns:a="http://schemas.openxmlformats.org/drawingml/2006/main">
            <a:r>
              <a:t>  for concurrency in 1 2 4 8 16 32; do</a:t>
            </a:r>
          </a:p>
          <a:p xmlns:a="http://schemas.openxmlformats.org/drawingml/2006/main">
            <a:r>
              <a:t>    for repeat in 1 2 3; do</a:t>
            </a:r>
          </a:p>
          <a:p xmlns:a="http://schemas.openxmlformats.org/drawingml/2006/main">
            <a:r>
              <a:t>      vllm bench serve \</a:t>
            </a:r>
          </a:p>
          <a:p xmlns:a="http://schemas.openxmlformats.org/drawingml/2006/main">
            <a:r>
              <a:t>        --backend openai --endpoint /v1/completions \</a:t>
            </a:r>
          </a:p>
          <a:p xmlns:a="http://schemas.openxmlformats.org/drawingml/2006/main">
            <a:r>
              <a:t>        --base-url "$BENCH_URL" --model "$MODEL" --tokenizer "$TOKENIZER" \</a:t>
            </a:r>
          </a:p>
          <a:p xmlns:a="http://schemas.openxmlformats.org/drawingml/2006/main">
            <a:r>
              <a:t>        --dataset-name random --input-len "$input_len" --output-len "$output_len" \</a:t>
            </a:r>
          </a:p>
          <a:p xmlns:a="http://schemas.openxmlformats.org/drawingml/2006/main">
            <a:r>
              <a:t>        --num-prompts "$BENCH_PROMPTS" --num-warmups 20 \</a:t>
            </a:r>
          </a:p>
          <a:p xmlns:a="http://schemas.openxmlformats.org/drawingml/2006/main">
            <a:r>
              <a:t>        --max-concurrency "$concurrency" --request-rate inf \</a:t>
            </a:r>
          </a:p>
          <a:p xmlns:a="http://schemas.openxmlformats.org/drawingml/2006/main">
            <a:r>
              <a:t>        --percentile-metrics ttft,tpot,itl,e2el --metric-percentiles 50,95,99 \</a:t>
            </a:r>
          </a:p>
          <a:p xmlns:a="http://schemas.openxmlformats.org/drawingml/2006/main">
            <a:r>
              <a:t>        --save-result --save-detailed --result-dir "$BENCH_DIR" \</a:t>
            </a:r>
          </a:p>
          <a:p xmlns:a="http://schemas.openxmlformats.org/drawingml/2006/main">
            <a:r>
              <a:t>        --result-filename "in${input_len}-out${output_len}-c${concurrency}-r${repeat}.json"</a:t>
            </a:r>
          </a:p>
          <a:p xmlns:a="http://schemas.openxmlformats.org/drawingml/2006/main">
            <a:r>
              <a:t>    done</a:t>
            </a:r>
          </a:p>
          <a:p xmlns:a="http://schemas.openxmlformats.org/drawingml/2006/main">
            <a:r>
              <a:t>  done</a:t>
            </a:r>
          </a:p>
          <a:p xmlns:a="http://schemas.openxmlformats.org/drawingml/2006/main">
            <a:r>
              <a:t>done</a:t>
            </a:r>
          </a:p>
          <a:p xmlns:a="http://schemas.openxmlformats.org/drawingml/2006/main">
            <a:r>
              <a:t># Run a separate arrival-rate experiment by replacing inf with chosen rates.</a:t>
            </a:r>
          </a:p>
          <a:p xmlns:a="http://schemas.openxmlformats.org/drawingml/2006/main">
            <a:r>
              <a:t># Preserve actual arrival rate, errors, duration, sample counts and server telemetry.</a:t>
            </a:r>
          </a:p>
          <a:p xmlns:a="http://schemas.openxmlformats.org/drawingml/2006/main">
            <a:r>
              <a:t># For authenticated/chat-only endpoints, adapt the backend, endpoint, template and</a:t>
            </a:r>
          </a:p>
          <a:p xmlns:a="http://schemas.openxmlformats.org/drawingml/2006/main">
            <a:r>
              <a:t># authentication using the installed client's help before running this script.</a:t>
            </a:r>
          </a:p>
          <a:p xmlns:a="http://schemas.openxmlformats.org/drawingml/2006/main">
            <a:r>
              <a:t># request_goodput is requests/s. Aggregate qualified input/output/cache tokens</a:t>
            </a:r>
          </a:p>
          <a:p xmlns:a="http://schemas.openxmlformats.org/drawingml/2006/main">
            <a:r>
              <a:t># separately, using the same request set and time window, before revenue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官方参数依据：https://docs.vllm.ai/en/v0.27.0/cli/bench/serve/</a:t>
            </a:r>
          </a:p>
          <a:p xmlns:a="http://schemas.openxmlformats.org/drawingml/2006/main">
            <a:r>
              <a:t>查询日期：2026-09-16。缓存命中另用重复前缀工作负载并核对服务端实际计数。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TPOT仅用于输出Token数≥2的样本，stream chunk不等于Token。统计所有请求错误与超时，分位数记录样本量。合格Token/s采用事先约定的合格请求集合，质量门槛不能仅靠客户端耗时替代。输入总数=命中+未命中（按约定计费边界）。client request_goodput为满足SLO请求数/秒，不能直接代入Token公式；输出吞吐是实际输出Token/秒。单卡吞吐不线性外推48卡，分别实测资源池和MASS入口。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metrics: https://docs.vllm.ai/en/latest/api/vllm/benchmarks/serve/</a:t>
            </a:r>
          </a:p>
          <a:p xmlns:a="http://schemas.openxmlformats.org/drawingml/2006/main">
            <a:r>
              <a:t>bench: https://docs.vllm.ai/en/v0.27.0/cli/bench/serve/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原公式完整保留：Decode集群月价值=Decode TGS×30×24×3600×Decode GPU总卡数×Decode单价/1000000×产出率。Prefill非命中与cache各用相应TGS、GPU总卡数、单价及计费产出率。910B资源卡为NPU，N泛指该资源池实际参与卡数。若直接使用集群Token/s则不再乘N。Mini基线Prefill/Decode混合部署，三类产能来自同一工作负载，不相加独立压测峰值。缓存TGS为可计费逻辑命中Token速率，不代表实际执行完整Prefill。η仅反映未在测量中体现的可用性/需求/可计费损失，避免重复打折。市场价格适用deepseek-flash(DeepSeek-V4.1-Flash)，高峰UTC工作日01:00–04:00及06:00–10:00，其余非高峰。公开API美元零售价不是本项目平台采购价，且与首选Qwen3-8B及蒸馏模型不同，不可直接估收入。YOLO按图片/任务，Wan按视频任务或合同单位另算。实际结算=双方认可用量×约定采购价±调整，实际回款以银行凭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price: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令R0是同一模型组合、同币种税口径、固定卡时与负载下以基准采购价计算的月收入，若三类单价同比例乘k且成本不变，则盈亏k*=C/R0；R0=0时无此边界。若收入uRfull、成本F+uV，则u*=F/(Rfull−V)，仅当Rfull&gt;V且u*≤1才存在该区间的盈亏可能。缓存比例改变会影响计费价格和产能，不可只改一个数就声称真实利润。月电量=实测平均kW×小时，机柜10kW不是持续负载。CAPEX与折旧不得同月重复全额计成本。实际T4卡时在文本/检测/视频间分配，总和不超过48张×可用时间。利润、应收与回款分别记录；共享CPU机柜已有资源按项目分摊，避免重复新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fc5be37484c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f860f1edf24c34" /><Relationship Type="http://schemas.openxmlformats.org/officeDocument/2006/relationships/slideLayout" Target="/ppt/slideLayouts/slideLayout1.xml" Id="R93766eb46a494e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66eb46a494e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c233099114d5f" /><Relationship Type="http://schemas.openxmlformats.org/officeDocument/2006/relationships/notesSlide" Target="/ppt/notesSlides/notesSlide1.xml" Id="R0f83fadbdf9d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e6e0c7e284f60" /><Relationship Type="http://schemas.openxmlformats.org/officeDocument/2006/relationships/notesSlide" Target="/ppt/notesSlides/notesSlide2.xml" Id="Redbe8e8fdfd8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7590489cf4174" /><Relationship Type="http://schemas.openxmlformats.org/officeDocument/2006/relationships/notesSlide" Target="/ppt/notesSlides/notesSlide3.xml" Id="Re6490e4c93914b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148f45bed4a92" /><Relationship Type="http://schemas.openxmlformats.org/officeDocument/2006/relationships/notesSlide" Target="/ppt/notesSlides/notesSlide4.xml" Id="R445d3126b17b49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5c89d4ccb4bcc" /><Relationship Type="http://schemas.openxmlformats.org/officeDocument/2006/relationships/notesSlide" Target="/ppt/notesSlides/notesSlide5.xml" Id="Rde471f244056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c744f60cb450a" /><Relationship Type="http://schemas.openxmlformats.org/officeDocument/2006/relationships/notesSlide" Target="/ppt/notesSlides/notesSlide6.xml" Id="R3d56fd1c22cc46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8c5009af4486c" /><Relationship Type="http://schemas.openxmlformats.org/officeDocument/2006/relationships/notesSlide" Target="/ppt/notesSlides/notesSlide7.xml" Id="Rbd59bcdff22f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652ecb0674490" /><Relationship Type="http://schemas.openxmlformats.org/officeDocument/2006/relationships/notesSlide" Target="/ppt/notesSlides/notesSlide8.xml" Id="Ra5e3c46320d143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e1614d817402c" /><Relationship Type="http://schemas.openxmlformats.org/officeDocument/2006/relationships/notesSlide" Target="/ppt/notesSlides/notesSlide9.xml" Id="R470213064fb14c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40a90d4f1487f" /><Relationship Type="http://schemas.openxmlformats.org/officeDocument/2006/relationships/notesSlide" Target="/ppt/notesSlides/notesSlide10.xml" Id="R5352075f1faf49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93ab3cae44dfc" /><Relationship Type="http://schemas.openxmlformats.org/officeDocument/2006/relationships/notesSlide" Target="/ppt/notesSlides/notesSlide11.xml" Id="R501675da562c47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6116bb8494fbf" /><Relationship Type="http://schemas.openxmlformats.org/officeDocument/2006/relationships/notesSlide" Target="/ppt/notesSlides/notesSlide12.xml" Id="Rbb31fb202c4f4a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deb2ace004f18" /><Relationship Type="http://schemas.openxmlformats.org/officeDocument/2006/relationships/notesSlide" Target="/ppt/notesSlides/notesSlide13.xml" Id="Ref50bc55e6d840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35a126b484c17" /><Relationship Type="http://schemas.openxmlformats.org/officeDocument/2006/relationships/notesSlide" Target="/ppt/notesSlides/notesSlide14.xml" Id="R106f673a65d649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ace375ccc4c09" /><Relationship Type="http://schemas.openxmlformats.org/officeDocument/2006/relationships/notesSlide" Target="/ppt/notesSlides/notesSlide15.xml" Id="R52d0915ad0b641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5d36b043a431d" /><Relationship Type="http://schemas.openxmlformats.org/officeDocument/2006/relationships/notesSlide" Target="/ppt/notesSlides/notesSlide16.xml" Id="Rd32dc2aa54ba4b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c0a9fd082408e" /><Relationship Type="http://schemas.openxmlformats.org/officeDocument/2006/relationships/notesSlide" Target="/ppt/notesSlides/notesSlide17.xml" Id="Rf4d381c9de4640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f1b7758b44212" /><Relationship Type="http://schemas.openxmlformats.org/officeDocument/2006/relationships/notesSlide" Target="/ppt/notesSlides/notesSlide18.xml" Id="R9708d61639544f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6964A-97D2-4C17-ACED-4BAF1256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41DC4-807D-476B-86B4-5793C0C7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26113-9A57-45DC-A541-7C010860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6005A-28D5-4FA4-A4D9-A1BA2E2C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4E506-A6EC-452C-BDE8-FE7FEBC8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368093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FC2FC-F1CA-423A-8644-BCB6FA46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AE706-DB32-4F7D-B4EC-8186524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技术验证与商业验证的范围及评审目标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D3803-EFED-4098-89AE-07D3E958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首轮用一个文本服务贯通生产、计量与平台对账，再验证真实结算回款。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264AB-F777-4C49-826D-79146E8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92496-7ED5-431B-B515-B6345B22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9CD2A-D3CD-42CF-85EA-CAEA0550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FA5A1-AD52-4807-96EC-553713E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C8B42-EE03-43E8-A855-A0480582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B7770-74E6-4876-BCB5-AC24E8D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048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硬件设备与功率边界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网络拓扑与跨柜 RoCE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软件架构与 MASS 接入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模型适配与部署验收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6F925-5F96-4470-A0AD-28574AF8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5162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性能测算与可售产能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Token 收益与盈亏边界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商业协议与结算证据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公司流程与回款验收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086D5-ADBD-4E17-ACEA-659AB893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55571-B411-40F0-BDA4-802FE144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本次评审形成：首轮服务范围、必补资源资料、平台试供给通过条件。</a:t>
            </a:r>
          </a:p>
        </p:txBody>
      </p:sp>
    </p:spTree>
    <p:extLst>
      <p:ext uri="{BB962C8B-B14F-4D97-AF65-F5344CB8AC3E}">
        <p14:creationId xmlns:p14="http://schemas.microsoft.com/office/powerpoint/2010/main" val="1916936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76302-EC9C-4885-936B-A64E6E7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4D090-639C-4382-AD25-15B5E40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双机柜资源配置：910B 分柜，T4 均衡布置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7EB7D-8517-4C39-8ABF-24F1419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 14 台服务器：16 张 910B NPU、48 张 T4 GPU及 6 台通算服务器。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5F704-206B-4DC3-9CA9-3DD65047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8FDAE-8796-436E-BD9F-6841CE33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297EA-A55A-45A1-BCBB-E4F56A81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B4BBB-BD53-4D0D-8BE4-52B105E0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5ED93-9BA5-481E-AB48-D0554FA8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 /  10 kW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7F11C-3E86-4E33-8414-DACF0F1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EB3D7-C71F-4218-8D8E-E2381E62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55DD7-65C3-458C-BB56-8C562E5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3F0A-B62F-4EAB-B714-BDBEDC6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E0ED0-274E-4E14-865A-58D6008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CD910-7913-40A8-A23B-8FFB0658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 /  10 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18280-AD05-40A0-99EF-3CA6466D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CBBE3-716D-49F6-9D0E-2DD29407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AB6C7-B8F7-4EF2-959D-44B5667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C25B6-E80F-434C-AFD7-A88B7253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5762625" y="2009775"/>
          <a:ext xmlns:a="http://schemas.openxmlformats.org/drawingml/2006/main" cx="584835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38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数量与核心配置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× 8 张 NPU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子型号与显存待盘点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 × 8 张 GPU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16GB GDDR6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通算服务器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台，已有机柜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内存 / 系统盘 / 数据盘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与光链路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台交换机，16 条链路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 200GE 光模块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FD095-0E16-41BF-B7C0-58E632D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每柜 1 台 910B＋3 台八卡 T4 为拟议装载，须通过整机功率和安装核验。</a:t>
            </a:r>
          </a:p>
        </p:txBody>
      </p:sp>
    </p:spTree>
    <p:extLst>
      <p:ext uri="{BB962C8B-B14F-4D97-AF65-F5344CB8AC3E}">
        <p14:creationId xmlns:p14="http://schemas.microsoft.com/office/powerpoint/2010/main" val="1603072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F6D88-949C-4101-B105-5A4F6542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CDE2B-DB35-4DE5-9873-72C3EDD5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功率与配套：逐柜整机峰值决定混装容量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BA84A-256E-483D-B10F-70D7342A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是机柜容量等级。八卡 T4 的 CPU、风扇和电源损耗都要纳入。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D50B3-95EA-4D87-B545-51F8501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7BEB7-F702-4691-B5FD-E821229B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DC720-8B9F-47D7-BB84-678B2047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22A-9F51-42D4-B154-67810649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P910B + 3 × PT4 + P网络 + P预留 ≤ P机柜可用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743575"/>
                <a:gridCol w="349567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配套类别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上线前必备项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核验重点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整机与存储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机箱、主板、CPU、内存、风扇、冗余电源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系统盘、模型/日志盘、按需磁盘控制器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八卡槽位、PCIe / Riser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峰值功耗与散热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网络与光纤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业务网卡、BMC 口、业务/管理交换机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交换机、32 个光模块、16 组光纤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端口、上联线缆、管理网线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速率、接口和距离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机柜与机房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导轨、PDU、电源线、接地、理线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持续容量、U 位、承重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冗余供电工况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 / 可选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台通算配套按现状盘点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可选共享存储、备份及存储网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复用边界、留存需求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不重复新增机柜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FFF99-E266-4AF8-8FA7-0BFBA36D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上架门槛：设备/运维提供两柜功率表和配件差缺清单，超限则调整 T4 分布。</a:t>
            </a:r>
          </a:p>
        </p:txBody>
      </p:sp>
    </p:spTree>
    <p:extLst>
      <p:ext uri="{BB962C8B-B14F-4D97-AF65-F5344CB8AC3E}">
        <p14:creationId xmlns:p14="http://schemas.microsoft.com/office/powerpoint/2010/main" val="876319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1101361-30CE-4F5B-BC1C-BBFC0A18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E2110-DE3F-4CE4-A7DB-403EB037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651E4-C10B-45E2-900A-6CE3C53B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4E8EF-3F7E-42D7-9A5D-F7B91F33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3874E-5506-426F-937A-9B92EDF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802B1-7BFB-4842-B9A6-0EB4996D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E9CEA-A193-43FC-9AD6-FCFABA92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18F9C-E8C4-433B-A624-5AA8CD12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6BB22-E2DB-4C7B-9B4F-57D5E6BE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核心 / 业务汇聚交换设备</a:t>
            </a:r>
          </a:p>
        </p:txBody>
      </p:sp>
      <p:cxnSp>
        <p:nvCxnSpPr>
          <p:cNvPr id="15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cxnSp>
        <p:nvCxnSpPr>
          <p:cNvPr id="15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19800" y="25812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C3964-EDA9-4B74-8DDA-BA7FED35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4233E-28AA-45A6-A1B1-27819516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7F9AC-4495-4A83-A338-3E6D1058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60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61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19800" y="3019425"/>
            <a:ext cx="21240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AA007-017D-479C-947D-84622C5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0350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交换机管理口也接入带外网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CCA41-0F4B-40FE-994A-75F5DED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73A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B2CC0-8893-4B05-8287-3B3272C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39214-46B0-4F4D-9EEC-338FE59A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139C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EB331-C033-4EEE-AA19-D9B43B2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C30EF-9C44-44AA-B63A-A0FB46AC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B8E55-8349-4D54-A26C-6DC8C622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4CD4C-9650-4AED-BB07-4D41AC9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8BE49-5E3D-464E-8292-7C685D5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 / 虚线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8E28D-8FE6-4993-AC03-D258220F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B7964-669C-4383-A0D0-F1A9D8B2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BBDEEE-5055-4F47-9055-5C8CADA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4E3C8-BF19-40E7-ABD4-AA7F7414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既有通算机柜 / 6 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B07160-EA9E-4D83-B72B-3C817E77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848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A 柜 / 10 kW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CC8250-69A6-4917-949D-7EEC6D02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48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B 柜 / 10 kW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30B49-C265-49A8-A3EF-D378E064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0F3C8F-6F66-4F11-88F8-78B60263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9" name=""/>
          <p:cNvCxnSpPr>
            <a:stCxn xmlns:a="http://schemas.openxmlformats.org/drawingml/2006/main" id="1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80" name=""/>
          <p:cNvCxnSpPr>
            <a:stCxn xmlns:a="http://schemas.openxmlformats.org/drawingml/2006/main" id="14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EC642A-03E2-491B-A4A3-2A7A99AF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5CCA4A-B84A-4B87-B37B-E5E6DD08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6AFC7F-7772-4FB1-A11F-6BEC8AA1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E037C6-B490-4B90-8012-086FE346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5" name=""/>
          <p:cNvCxnSpPr>
            <a:stCxn xmlns:a="http://schemas.openxmlformats.org/drawingml/2006/main" id="13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86" name=""/>
          <p:cNvCxnSpPr>
            <a:stCxn xmlns:a="http://schemas.openxmlformats.org/drawingml/2006/main" id="14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2B4C1E-A3EF-4154-BE34-CFD50B0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FB1DDB-E657-43E2-9316-522D4E5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910D4D-2BBD-47FC-B55B-AE795FCE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DC885A-A0E0-4A45-B371-35F7845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91" name=""/>
          <p:cNvCxnSpPr>
            <a:stCxn xmlns:a="http://schemas.openxmlformats.org/drawingml/2006/main" id="1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92" name=""/>
          <p:cNvCxnSpPr>
            <a:stCxn xmlns:a="http://schemas.openxmlformats.org/drawingml/2006/main" id="1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FC5C2C-CA23-4B60-9F66-BD6CA14B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6ED4B9-F273-4995-A4C3-90C9332C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8C5820-5711-4DEF-BE87-1CD27C6F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DB3B69-D752-43E0-8BD1-0CAF9FD8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97" name=""/>
          <p:cNvCxnSpPr>
            <a:stCxn xmlns:a="http://schemas.openxmlformats.org/drawingml/2006/main" id="13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98" name=""/>
          <p:cNvCxnSpPr>
            <a:stCxn xmlns:a="http://schemas.openxmlformats.org/drawingml/2006/main" id="14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D2A491-CE11-45C1-A83B-66101CDB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910B-A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8A8BF1-FEFD-4103-9345-3C7DB78C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21C6B4-F718-43AE-8560-B0D21669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B71ED9-E2C5-497A-A01D-39AB9C69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AF67F5-920A-434E-AABA-5712009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B8E341-6CFC-42DF-85B1-CA25B061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23707C-85D1-4AB3-A3A5-00D7754D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0D40D5-EBE8-4A40-8656-3339447D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E8EBB6-0E86-46C4-A57C-57E2A4E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FABF2B-0A72-483E-A97B-B32C2E32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E296BB-99C2-4F85-8001-B3C2AC9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0" name=""/>
          <p:cNvCxnSpPr>
            <a:stCxn xmlns:a="http://schemas.openxmlformats.org/drawingml/2006/main" id="13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11" name=""/>
          <p:cNvCxnSpPr>
            <a:stCxn xmlns:a="http://schemas.openxmlformats.org/drawingml/2006/main" id="14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B9A6C9-1214-4AC9-9687-11DA06BE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BFD41F-609A-44DD-BA18-8F5E3783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5DA0C3-AFBB-4681-AD3E-C146350E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5" name=""/>
          <p:cNvCxnSpPr>
            <a:stCxn xmlns:a="http://schemas.openxmlformats.org/drawingml/2006/main" id="13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16" name=""/>
          <p:cNvCxnSpPr>
            <a:stCxn xmlns:a="http://schemas.openxmlformats.org/drawingml/2006/main" id="14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74569A-5DAF-4765-BA72-802CF07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59A185-E628-4CC4-9818-66648E65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9B64F3-5CBB-43F6-95B4-B6E3B3B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20" name=""/>
          <p:cNvCxnSpPr>
            <a:stCxn xmlns:a="http://schemas.openxmlformats.org/drawingml/2006/main" id="13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21" name=""/>
          <p:cNvCxnSpPr>
            <a:stCxn xmlns:a="http://schemas.openxmlformats.org/drawingml/2006/main" id="14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5F5EDF-0354-4A19-A34F-E92998CF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67E49F-2568-4396-B6A7-401DC158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1D11F0-2904-4992-94EC-D9FD84C6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25" name=""/>
          <p:cNvCxnSpPr>
            <a:stCxn xmlns:a="http://schemas.openxmlformats.org/drawingml/2006/main" id="13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26" name=""/>
          <p:cNvCxnSpPr>
            <a:stCxn xmlns:a="http://schemas.openxmlformats.org/drawingml/2006/main" id="1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3D103F-0A7C-44E1-BE01-627FF121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910B-B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3DB26F-D041-44F2-97BC-65C448F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3ADAE3-85A1-4EE3-9873-EFE1A032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185DA6-22C2-44B5-B719-458CDCE4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0B7639E-3EB6-470A-BC60-2DEF7E20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4F9042-95A0-4488-ABC0-75E018B0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CC738E-75E1-4E2D-82A4-CFD65B7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601CAD0-3003-4768-B8BD-7E6CDA35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4157FE-9737-4609-AAEA-121A637D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8B48495-9428-4427-99EB-0BD9BE4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00AD6D5-6BC4-45BC-8F2C-D0F439C7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8" name=""/>
          <p:cNvCxnSpPr>
            <a:stCxn xmlns:a="http://schemas.openxmlformats.org/drawingml/2006/main" id="13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39" name=""/>
          <p:cNvCxnSpPr>
            <a:stCxn xmlns:a="http://schemas.openxmlformats.org/drawingml/2006/main" id="14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125FAC0-07DD-419B-A94F-61414C1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0615BB1-3347-4203-8E98-1ACF7D3F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936EE1-D79E-4C39-B033-8BB8DC57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3" name=""/>
          <p:cNvCxnSpPr>
            <a:stCxn xmlns:a="http://schemas.openxmlformats.org/drawingml/2006/main" id="13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44" name=""/>
          <p:cNvCxnSpPr>
            <a:stCxn xmlns:a="http://schemas.openxmlformats.org/drawingml/2006/main" id="14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39AEDC-1E57-4718-B056-5F94BA0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BC21655-4B10-4424-85AC-81CF16B3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DE043E-2368-48B6-96C1-7F44059F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8" name=""/>
          <p:cNvCxnSpPr>
            <a:stCxn xmlns:a="http://schemas.openxmlformats.org/drawingml/2006/main" id="13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49" name=""/>
          <p:cNvCxnSpPr>
            <a:stCxn xmlns:a="http://schemas.openxmlformats.org/drawingml/2006/main" id="14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2C99561-4D8D-4B56-AA13-EB2E2A42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B3C91A-63B3-4B91-8C6C-A1099DB1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A 柜）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D0EA04-9740-4B7B-BAC8-7D355F9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53" name=""/>
          <p:cNvCxnSpPr>
            <a:stCxn xmlns:a="http://schemas.openxmlformats.org/drawingml/2006/main" id="55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C7FDC65-F182-4CDB-A856-AF1B3465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55" name=""/>
          <p:cNvCxnSpPr>
            <a:stCxn xmlns:a="http://schemas.openxmlformats.org/drawingml/2006/main" id="56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6A20942-A07B-4B5B-AC75-E2CC724C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57" name=""/>
          <p:cNvCxnSpPr>
            <a:stCxn xmlns:a="http://schemas.openxmlformats.org/drawingml/2006/main" id="57" idx="2"/>
            <a:endCxn xmlns:a="http://schemas.openxmlformats.org/drawingml/2006/main" id="111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228BCB8-9518-45EF-8E09-1B8D59C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59" name=""/>
          <p:cNvCxnSpPr>
            <a:stCxn xmlns:a="http://schemas.openxmlformats.org/drawingml/2006/main" id="58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8E04113-2D70-4E15-BE34-34861EFB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61" name=""/>
          <p:cNvCxnSpPr>
            <a:stCxn xmlns:a="http://schemas.openxmlformats.org/drawingml/2006/main" id="59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A63FE36-3973-44EB-9A6B-3032CC2E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63" name=""/>
          <p:cNvCxnSpPr>
            <a:stCxn xmlns:a="http://schemas.openxmlformats.org/drawingml/2006/main" id="60" idx="2"/>
            <a:endCxn xmlns:a="http://schemas.openxmlformats.org/drawingml/2006/main" id="117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C35108A-3203-428D-AFC1-24FBFFAE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65" name=""/>
          <p:cNvCxnSpPr>
            <a:stCxn xmlns:a="http://schemas.openxmlformats.org/drawingml/2006/main" id="61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8AFC64A-B330-40C6-A1D0-D427EC4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67" name=""/>
          <p:cNvCxnSpPr>
            <a:stCxn xmlns:a="http://schemas.openxmlformats.org/drawingml/2006/main" id="62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C1CF88-33FA-4892-90ED-3B90060E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69" name=""/>
          <p:cNvCxnSpPr>
            <a:stCxn xmlns:a="http://schemas.openxmlformats.org/drawingml/2006/main" id="83" idx="2"/>
            <a:endCxn xmlns:a="http://schemas.openxmlformats.org/drawingml/2006/main" id="123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6EDD6F6-F92B-4611-AAB6-F6737768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71" name=""/>
          <p:cNvCxnSpPr>
            <a:stCxn xmlns:a="http://schemas.openxmlformats.org/drawingml/2006/main" id="8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234CAD8-DD64-4DB9-AE23-324799E8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73" name=""/>
          <p:cNvCxnSpPr>
            <a:stCxn xmlns:a="http://schemas.openxmlformats.org/drawingml/2006/main" id="85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299E165-0D19-4C07-80A3-6FB401F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75" name=""/>
          <p:cNvCxnSpPr>
            <a:stCxn xmlns:a="http://schemas.openxmlformats.org/drawingml/2006/main" id="86" idx="2"/>
            <a:endCxn xmlns:a="http://schemas.openxmlformats.org/drawingml/2006/main" id="129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1D4C78C-ED6C-47DF-87A3-6CB39CF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77" name=""/>
          <p:cNvCxnSpPr>
            <a:stCxn xmlns:a="http://schemas.openxmlformats.org/drawingml/2006/main" id="87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E714C68-4A23-449F-82EE-06B5179B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79" name=""/>
          <p:cNvCxnSpPr>
            <a:stCxn xmlns:a="http://schemas.openxmlformats.org/drawingml/2006/main" id="88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23CD981-6CE9-4C92-863B-1107CC7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81" name=""/>
          <p:cNvCxnSpPr>
            <a:stCxn xmlns:a="http://schemas.openxmlformats.org/drawingml/2006/main" id="89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6D9B0DD-CB6B-420D-B17A-E1935B85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83" name=""/>
          <p:cNvCxnSpPr>
            <a:stCxn xmlns:a="http://schemas.openxmlformats.org/drawingml/2006/main" id="90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5CFC885-8DA2-480A-A390-3EAE9312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340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跨柜光纤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37E151-3C60-463F-ABBC-26FEFF19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81650"/>
            <a:ext cx="32670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可选存储交换设备 / 共享存储</a:t>
            </a:r>
          </a:p>
        </p:txBody>
      </p:sp>
      <p:cxnSp>
        <p:nvCxnSpPr>
          <p:cNvPr id="286" name=""/>
          <p:cNvCxnSpPr>
            <a:stCxn xmlns:a="http://schemas.openxmlformats.org/drawingml/2006/main" id="37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1228725" y="4867275"/>
            <a:ext cx="985838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cxnSp>
        <p:nvCxnSpPr>
          <p:cNvPr id="287" name=""/>
          <p:cNvCxnSpPr>
            <a:stCxn xmlns:a="http://schemas.openxmlformats.org/drawingml/2006/main" id="43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2133600" y="4867275"/>
            <a:ext cx="80963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cxnSp>
        <p:nvCxnSpPr>
          <p:cNvPr id="288" name=""/>
          <p:cNvCxnSpPr>
            <a:stCxn xmlns:a="http://schemas.openxmlformats.org/drawingml/2006/main" id="4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 flipH="1">
            <a:off x="2214563" y="4867275"/>
            <a:ext cx="900113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7406169-27C7-49E1-B774-8DFF8F05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7A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317ABD"/>
                </a:solidFill>
                <a:latin typeface="Arial Unicode MS"/>
                <a:ea typeface="Arial Unicode MS"/>
                <a:cs typeface="Arial Unicode MS"/>
              </a:rPr>
              <a:t>加速节点按需接入存储网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6B2D85-7A79-44FC-BAC1-6BDA8CF8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接入层为逻辑设备组，数量、冗余与速率待盘点。通算承载 MASS 等；机柜混装须核验功率。</a:t>
            </a:r>
          </a:p>
        </p:txBody>
      </p:sp>
    </p:spTree>
    <p:extLst>
      <p:ext uri="{BB962C8B-B14F-4D97-AF65-F5344CB8AC3E}">
        <p14:creationId xmlns:p14="http://schemas.microsoft.com/office/powerpoint/2010/main" val="1442307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8A675-BDF1-4A21-B80E-F329812C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EC82-45E6-4C60-A46C-D054AB9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生态与部署路径：软件依赖决定模型适配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26A27-D816-4602-ACDB-8341E16A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完整版本组合需要匹配驱动、运行时、模型算子和推理引擎。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F7666-3226-43E4-891A-13639EA6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CD42A-5243-430C-B902-BF92FE2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73E6C-4130-49DD-A1A0-373FAF16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19625"/>
                <a:gridCol w="461962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硬件与设备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驱动、容器设备支持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驱动、固件、容器设备映射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子型号待核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运行时与通信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CUDA、计算库、NCCL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CANN、算子库、HCCL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框架与模型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PyTorch、Transformers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量化权重及兼容 kernel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+ torch_npu 等适配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量化与算子工具链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任务与引擎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文本：兼容 vLLM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YOLO：ONNX / TensorRT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Wan：官方推理流程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国产文本：vLLM Ascend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或 MindIE 对应路径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按模型单独验证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3BCB3-54AF-4CD2-9ED5-A399B8EB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先冻结可运行镜像再扩功能。T4 的 TensorRT 路径不能推导为 TensorRT-LLM 支持。</a:t>
            </a:r>
          </a:p>
        </p:txBody>
      </p:sp>
    </p:spTree>
    <p:extLst>
      <p:ext uri="{BB962C8B-B14F-4D97-AF65-F5344CB8AC3E}">
        <p14:creationId xmlns:p14="http://schemas.microsoft.com/office/powerpoint/2010/main" val="2004291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537EF-ECC5-43B9-B155-C78F68A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66020-3B37-45DD-9F2E-08103A8D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MASS 接入与计量：请求到用量的证据链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3B812-81D6-454F-962F-4DB0A10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台既有通算承载逻辑组件，具体能力归属和逐台部署待平台文档确认。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83423-1A22-46E7-9F0E-A79435CE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DC55-67F7-4433-B8B1-410470D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83242-CF9A-4292-8969-DCBB51D5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B4FC7-C2E4-4E77-8C90-15DDEC0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11010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管理配置：模型登记、资源配额、版本发布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AAB4C-1E71-4494-BAF8-F44B94EE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平台请求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租户 / 请求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FD112-2D1B-4C29-81AB-D71A147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2505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接入鉴权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模型路由 / 限流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54742-67F2-4E6B-BD23-BD7C2386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 / T4 推理服务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1B558-9B0C-498D-8DEB-1D820F33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服务结果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33675" y="3429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4290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96400" y="3429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05525" y="2524125"/>
            <a:ext cx="1785938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67B89"/>
            </a:solidFill>
            <a:prstDash val="dash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F39D2-FBEC-4B8D-959D-76F3006A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251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原始用量事件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输入 / 输出 / 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C92D2-968C-4183-A5EB-58A8F095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720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去重与规则计算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保留原始记录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E8834-621A-4D78-93CA-ECB3835C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7200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账单明细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对账差异</a:t>
            </a:r>
          </a:p>
        </p:txBody>
      </p:sp>
      <p:cxnSp>
        <p:nvCxnSpPr>
          <p:cNvPr id="42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572000" y="3819525"/>
            <a:ext cx="331946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29300" y="496252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96400" y="4962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98F85-05E4-474A-A301-0FD99EC2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295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拟集成职责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MASS 已有能力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需逐项核对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B286C-996D-4207-BFF1-CDCDD749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同一请求 ID 关联版本、状态、用量与账单。事件去重和重试计费分别处理。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313661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1D210-102F-48C7-9673-31454619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C221C-99B2-472E-BF6B-21DD6C16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国产模型：先验证稠密模型，再扩候选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3B4C9-69C5-419A-9983-94F6C9CD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筛选顺序：许可与平台规格、引擎支持、逐卡容量、通信、质量与负载验证。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302A3-EE61-4ADE-8C09-E1A3A89B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3CB61-C042-443E-96CB-04F52F5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97AB2-14C6-4E74-8B2E-733F691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028825"/>
          <a:ext xmlns:a="http://schemas.openxmlformats.org/drawingml/2006/main" cx="110490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43300"/>
                <a:gridCol w="39814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本轮判断与证据边界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 / Qwen3-8B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或 FP16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短上下文、低并发起测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建议首个文本联调候选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A2/A3 家族支持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DeepSeek-R1-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Distill-Qwen-32B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位或适配量化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先核算权重＋KV＋工作区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进入条件性 PoC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蒸馏家族为实验性适配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zai-org / GLM-4.5-Air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位或匹配 W8A8 路径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 MoE 分片和通信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容量核验后再启动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家族支持不等于本台成功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CE7D5-D8A0-4D74-96B0-596CE7C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逐卡峰值 = 本卡权重＋KV Cache＋激活/工作区＋通信缓冲＋余量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3BE26-53E8-4D9C-8826-DADB1BBD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张卡是资源总量。910B 显存未知，暂不承诺完整 DeepSeek 大模型的双机容量。</a:t>
            </a:r>
          </a:p>
        </p:txBody>
      </p:sp>
    </p:spTree>
    <p:extLst>
      <p:ext uri="{BB962C8B-B14F-4D97-AF65-F5344CB8AC3E}">
        <p14:creationId xmlns:p14="http://schemas.microsoft.com/office/powerpoint/2010/main" val="1018027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04638-BC70-4034-B488-EFE97E25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3CA7E-AD98-4B08-B10D-B3E95AE2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模型分工：文本、检测、视频分别验收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3CD1F-DB0D-453B-BA27-F1A404B1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台八卡服务器共 48 张 GPU。单卡 16GB，多副本和多卡并行按任务选择。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01BD0-2CEB-41DF-A97F-0006B5A8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AC642-6546-4854-AE34-B511D5EF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77E24-50B0-48A8-893B-02CF2B7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1104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667125"/>
                <a:gridCol w="3905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 / 首选候选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验收指标与判断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量化文本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Qwen2.5-7B-Instruct-AWQ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+ 兼容 AWQ kernel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激活，先单卡短上下文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质量、TTFT / TPOT、Token/s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 PoC，实机待验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ONNX / TensorRT 优化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mAP、召回率、端到端延迟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图片/帧吞吐，复验 T4 参考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官方流程与必要卸载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dtype / attention 后端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质量、分辨率/帧数/步数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生成耗时、视频/小时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条件性 PoC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F03CC-D439-451E-AD57-EE6399D0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文本模型按总参数 &lt;20B 筛选。Wan 低显存参考不能证明 T4 的生成速度可交付。</a:t>
            </a:r>
          </a:p>
        </p:txBody>
      </p:sp>
    </p:spTree>
    <p:extLst>
      <p:ext uri="{BB962C8B-B14F-4D97-AF65-F5344CB8AC3E}">
        <p14:creationId xmlns:p14="http://schemas.microsoft.com/office/powerpoint/2010/main" val="1477156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7B749-9E93-4963-B3C4-494A7723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4F517-320F-4F14-8E8B-463EFA3D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部署与发布：以阶段证据作为上线门槛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240DF-527B-4CA8-A0D1-DE213B6F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部署流程从设备验收开始，到可回退的服务版本结束。以下为待执行流程。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F570C-D74D-4068-A297-2E78F082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A2386-F4ED-41C8-8FB7-4314B8D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CA8EA-36F1-43A7-AAD3-C77CE4E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BF50E-FE1F-442A-B355-44059A5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设备与网络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ABD51-BA85-49A3-800B-4C39641B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资产与健康记录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功率 / 光链路 / HCCL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31764-E2DF-41EC-BC2B-FF51461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F66C7-90CA-4D93-A99A-A59EC61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环境与模型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32585-8512-4CA6-9D9A-17EAD37C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镜像与权重校验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许可 / Tokenizer / 模板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27993-65ED-4BD3-A45E-A8578E1E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A1767-3B7B-4C60-A1CF-200B1F5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服务启动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01C55-3BB9-42DF-B5BF-9ACBD17C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精度 / 上下文 / 并行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健康检查与启动日志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F12E2-2E3C-49F8-92EF-327D5F3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CE033-72C9-4B1B-84A9-E22FCA67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正确性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F9339-1701-4AF1-ACE6-09E49000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中文 / 多轮 / 流式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质量集与异常请求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A222B-48BD-4769-A7E5-8C15AA48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749DE-6898-4BBC-B1AA-B276B619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05  MASS 与平台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E1BE8-4A34-4563-A4B0-EC8FB13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同批请求联调记录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01FF3-E487-4CCF-81E6-488B3C4A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9B340-AA1D-49F3-9106-F2447FD3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06  性能与发布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92659-A222-4110-93E0-646C50C9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稳定性 / 限流 / 恢复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配额、告警与回退版本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1EC06-C23F-48C0-9B03-B5FB5AE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82355-E13C-42C7-8048-9F57A9B1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每阶段不通过即定位修复并回归。可发布产物是版本包、验收记录与回退配置。</a:t>
            </a:r>
          </a:p>
        </p:txBody>
      </p:sp>
    </p:spTree>
    <p:extLst>
      <p:ext uri="{BB962C8B-B14F-4D97-AF65-F5344CB8AC3E}">
        <p14:creationId xmlns:p14="http://schemas.microsoft.com/office/powerpoint/2010/main" val="12774390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2A32B-784C-4CEA-A571-3F3D6570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CCC37-B2BE-43AD-86CB-FE99AAA3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压测设计：分别扫描并发与请求到达率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B2369-1794-4813-AB46-8BDF90ED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先固定模型、任务规格和服务目标，再从单实例扩到资源池和平台入口。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E242D-77D2-49AF-A8E0-7CC4A7DE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B103A-C1FE-4AC7-9265-E38339FA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D8258-D029-4C87-8BA4-5C5AC3E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47F6-4FE1-4E27-990E-F1CF104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90725"/>
            <a:ext cx="274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并发初探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05060-922D-4F72-B9FB-276C5D67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1 / 2 / 4 / 8 / 16 / 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0CDAB-0679-47E1-88A4-24789CC7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四类输入输出组合，分别测试未命中与重复前缀。边界未出现时继续加压。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B0FB1-6F58-41D8-90BA-54573F16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5817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bench serve --backend openai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--model &lt;服务模型&gt; --base-url &lt;地址&gt;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--max-concurrency 8 --request-rate inf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--save-result --save-detailed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4B3ED-1F0B-42CA-A217-6B543C3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执行与记录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4DB9C-845F-45A7-A6F1-63E0FC3E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00475"/>
            <a:ext cx="3838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预热后至少重复 3 次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记录样本数和测试窗口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保留实际到达率与错误率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检查客户端和接入层瓶颈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133C2-A3CC-4412-8416-2EAC8E5F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完整可复制脚本在备注及随附文件。示例参数是初探设定，正式阈值由平台需求确定。</a:t>
            </a:r>
          </a:p>
        </p:txBody>
      </p:sp>
    </p:spTree>
    <p:extLst>
      <p:ext uri="{BB962C8B-B14F-4D97-AF65-F5344CB8AC3E}">
        <p14:creationId xmlns:p14="http://schemas.microsoft.com/office/powerpoint/2010/main" val="1426885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4D23C-DF6A-495D-9E9E-2A49E870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22FC2-D84C-4E0B-98E7-BF7277FF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结果判读：服务目标约束下的可售产能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CB67E-EA85-4D0A-8C41-161C17D7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结果判读方法：在同一请求集合、同一统计窗口内汇总，当前没有实测结果。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59033-B5AF-49BD-9FD7-87A35941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FC1E-6C12-411B-9FCD-D2E53EEF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BBF66-7A45-44C9-B9D7-6285505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4524375"/>
                <a:gridCol w="4638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计算或判读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对经营测算的影响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/ TPOT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TTFT：发出请求到首 Token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TPOT：(末到达时刻−首到达时刻)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÷ (输出 Token 数−1)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含排队与网络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纯 Prefill 耗时需服务端 trace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并发与吞吐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报告实际并发、到达率、成功率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输入/输出 Token 数 ÷ 窗口秒数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选择满足服务目标的稳定负载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避免只取无约束峰值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计费 Token/s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同一窗口分别汇总合格输出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未命中输入、命中输入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request_goodput 单位是请求/s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缓存块数需映射为计费 Token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 / Wan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检测质量＋图片/帧吞吐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视频质量＋任务数/小时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按任务规格单独计价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不套文本 Token 指标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DC4D6-ADBE-4A69-9C44-8E9559BA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产能交付表应绑定模型版本、卡数、任务规格、SLO、样本数和原始用量证据。</a:t>
            </a:r>
          </a:p>
        </p:txBody>
      </p:sp>
    </p:spTree>
    <p:extLst>
      <p:ext uri="{BB962C8B-B14F-4D97-AF65-F5344CB8AC3E}">
        <p14:creationId xmlns:p14="http://schemas.microsoft.com/office/powerpoint/2010/main" val="9017054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47FFC-A1F0-4409-9EEB-20D10C2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D0417-7DF5-4EAA-BE06-FF4447A9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产能估值：三类 Token 分别计算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AD956-5ED6-4CE7-B13A-EA5D7EE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以下为产能计算口径。S = 30×24×3600 = 2,592,000 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271BA-3E3D-4AF2-AE9E-0DFE988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DEFF6-A868-4AA4-A41B-35924900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6DF28-D054-461F-B3C9-B27A48EC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0E1BF-F147-46BA-AFAC-9EA929F5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71675"/>
            <a:ext cx="110013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Decode 月价值 = TGSout × S × Nout × Pout ÷ 10⁶ × ηout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未命中 Prefill 月价值 = TGSunc × S × Nunc × Punc ÷ 10⁶ × ηunc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命中 Prefill 月价值 = TGScache × S × Ncache × Pcache ÷ 10⁶ × ηcache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372427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76900"/>
                <a:gridCol w="1638300"/>
                <a:gridCol w="2047875"/>
                <a:gridCol w="168592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公开市场参照（USD / 百万 Token）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高峰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1.20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非高峰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0.15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F4C88-2D57-49F4-A042-DE871CEE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价格查询：2026-09-16，仅作市场参照。该 API 与本台候选并非同一模型，不能代入报价。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F9653-EF8B-44E7-8589-544C0D7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TGS 按单卡才乘卡数；混合部署三类速率共用同一负载，已含损耗时不再乘同一 η。</a:t>
            </a:r>
          </a:p>
        </p:txBody>
      </p:sp>
    </p:spTree>
    <p:extLst>
      <p:ext uri="{BB962C8B-B14F-4D97-AF65-F5344CB8AC3E}">
        <p14:creationId xmlns:p14="http://schemas.microsoft.com/office/powerpoint/2010/main" val="16337645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7B9C2-A64D-44A5-8E10-83268BE3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4FFF2-EB79-43DE-A73E-67F45B56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经济性判断：增量收支、全成本与盈亏边界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3494E-B363-4618-BB1D-B480014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缺少实测产能、采购价与成本，当前能够给出盈亏条件，不能给出确定利润。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0CC84-0ED8-466D-BC9C-4436F6A1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9D09E-F2AD-4B04-A3E8-7B12452A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0C095-2232-4BBD-9242-ACA1AE4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95FA0-2A8F-4F16-BF62-4826DB0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月经营结果 = 文本收入＋检测收入＋视频收入−项目成本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2876550"/>
          <a:ext xmlns:a="http://schemas.openxmlformats.org/drawingml/2006/main" cx="11049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324475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决策视角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纳入成本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能回答的问题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按实际承担范围计入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已有设备试供给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增量成本＋折旧/租赁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既有通算和机柜的约定分摊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持续经营与后续扩容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是否具备经济性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21BBB-CCD4-44C2-9DF9-0A19132B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盈亏边界：固定业务组合时，采购价系数 k* = 月成本 ÷ 基准月收入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D00EA-6B31-47C4-BFA0-7DDF381B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采购价、需求利用、缓存比例和卡时分配分别做敏感性分析，资源重分配后需重测产能。</a:t>
            </a:r>
          </a:p>
        </p:txBody>
      </p:sp>
    </p:spTree>
    <p:extLst>
      <p:ext uri="{BB962C8B-B14F-4D97-AF65-F5344CB8AC3E}">
        <p14:creationId xmlns:p14="http://schemas.microsoft.com/office/powerpoint/2010/main" val="1044649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4ED45-74A1-4402-9BE6-38F0A086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4DAA-1BCB-4ABC-89AC-57D0630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计量与结算：请求如何形成双方认可的账单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842A0-795A-4199-820F-1E4F8A77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831E9-F10A-4307-91E6-E3601E7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C0A81-F54D-435F-A099-230D918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87FD0-831B-458F-8783-B9BDE344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788FC-8786-495D-B3F2-D2EC12AB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F7AA6-F4CC-4D3C-B58B-18018247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CA32E-00D1-450E-B2E5-6BFB3AAE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1F47F-5EFC-4E4E-86C6-F2E4F789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34C41-7B80-4BB7-8415-A4768B87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0037C-F355-4E16-8882-72F69BB9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12447334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3D406-DE79-4248-83A0-D9067EA0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B1FAE-AFB9-44E4-8198-7CF70DC0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服务与责任：承诺范围匹配架构和实测能力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2D0D0-AA54-4EAC-8702-F35C9F8C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B9DEA-106C-4CA0-AFD5-53DF851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DF160-5A99-4237-BB1D-36931B45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3D9DB-84D9-454B-9F2E-18E14417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21AC2-01A6-44C0-A0FF-FCFB658B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11977034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F5D9A-4BD7-4994-8087-34C646D2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97503-DE0A-4A3E-98B6-15D92C7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协作与回款：各角色按凭证完成交接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70C3C-5CBB-4368-B69E-818230BA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D66F1-3C00-4A52-B383-50F719EF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A1E95-55F6-42BE-8773-CF83A57B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3D552-ECD3-445E-9B1F-B790BAA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9F4FA-F6D4-4200-A639-0EE4C16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14013830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36C3A-1E6D-415C-B44D-D33831E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FB4E4-2F67-430F-83D6-BEFFA17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闭环验收：下一阶段通过条件与责任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037DD-A064-40CE-BEDE-153B90D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7424A-8694-4140-AB2D-BBFE704C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98991-F419-46D1-82DF-7AF65E94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9C981-B4C0-45BF-95F4-F59BD69B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1568-1F70-4EA2-A57B-149B8632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1131167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2026-09-16T05:34:44.8960000Z</dcterms:created>
  <dcterms:modified xsi:type="dcterms:W3CDTF">2026-09-16T05:34:44.8960000Z</dcterms:modified>
</coreProperties>
</file>