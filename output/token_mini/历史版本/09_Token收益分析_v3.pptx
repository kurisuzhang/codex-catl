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9aa6c0ade1446a" /><Relationship Type="http://schemas.openxmlformats.org/officeDocument/2006/relationships/extended-properties" Target="/docProps/app.xml" Id="R775b27e502b44df3" /><Relationship Type="http://schemas.openxmlformats.org/officeDocument/2006/relationships/officeDocument" Target="/ppt/presentation.xml" Id="Ra97d0b26f12a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24c92cc7f94a30"/>
  </p:sldMasterIdLst>
  <p:notesMasterIdLst>
    <p:notesMasterId xmlns:r="http://schemas.openxmlformats.org/officeDocument/2006/relationships" r:id="R1058abf894a54680"/>
  </p:notesMasterIdLst>
  <p:sldIdLst>
    <p:sldId xmlns:r="http://schemas.openxmlformats.org/officeDocument/2006/relationships" id="256" r:id="Rf1d4228d29204c8e"/>
    <p:sldId xmlns:r="http://schemas.openxmlformats.org/officeDocument/2006/relationships" id="257" r:id="Rfa92ed24aab348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552d7c36a94068" /><Relationship Type="http://schemas.openxmlformats.org/officeDocument/2006/relationships/slideMaster" Target="/ppt/slideMasters/slideMaster1.xml" Id="Rb424c92cc7f94a30" /><Relationship Type="http://schemas.openxmlformats.org/officeDocument/2006/relationships/notesMaster" Target="/ppt/notesMasters/notesMaster1.xml" Id="R1058abf894a54680" /><Relationship Type="http://schemas.openxmlformats.org/officeDocument/2006/relationships/presProps" Target="/ppt/presProps.xml" Id="Rec05d8f24f754f2f" /><Relationship Type="http://schemas.openxmlformats.org/officeDocument/2006/relationships/tableStyles" Target="/ppt/tableStyles.xml" Id="R860c65bbf0244b17" /><Relationship Type="http://schemas.openxmlformats.org/officeDocument/2006/relationships/slide" Target="/ppt/slides/slide1.xml" Id="Rf1d4228d29204c8e" /><Relationship Type="http://schemas.openxmlformats.org/officeDocument/2006/relationships/slide" Target="/ppt/slides/slide2.xml" Id="Rfa92ed24aab348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f50d6ade341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1f6cca6044b47" /><Relationship Type="http://schemas.openxmlformats.org/officeDocument/2006/relationships/notesMaster" Target="/ppt/notesMasters/notesMaster1.xml" Id="Rae46722356d7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ff27c8c1c64c8d" /><Relationship Type="http://schemas.openxmlformats.org/officeDocument/2006/relationships/notesMaster" Target="/ppt/notesMasters/notesMaster1.xml" Id="Rcd3a58f27f2546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量纲一致的收入估算，不是实测收入。定义每类整套服务吞吐为成功请求口径token/min，30天为43200分钟，每百万token价格除1000000。各类可计费产出比例分别估计，代表实际月可计费量除该类压测速率乘43200的参考量；不是简单设备利用率，应包含需求、在线时长和可结算范围中尚未体现的差异，避免重复扣减已有损失。混部时三类速率必须来自同一负载，且不能把每类独立峰值当作同时可交付。缓存命中输入是逻辑复用量，按缓存结算价，不是完整prefill计算量。使用整套服务吞吐不乘卡数，只有卡均吞吐才在其他口径下需要乘卡数。同一币种税口径结算。本版删除未经本轮核验的外部价格表，改为合同价格输入。算例60000×43200×0.5×2/1000000=2592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结算还可能有合同约定调整项，实际回款以银行记录为准。YOLO和Wan按图片、视频任务等约定单位计价，不套token公式。增量成本和全成本是不同分析视角，不重复累计。月电量使用实测平均功率乘小时，机柜10kW不是持续耗电值。设备购置款与同设备折旧不得在同一利润口径重复全额扣减。价格币种和税口径保持一致。T4在文本、检测和视频任务间分配卡时，总资源不能重复占用。原版k*符号公式改为中文盈亏条件，避免未定义变量。缺少实测、合同价格和成本时不给出确定利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d1579b86047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afe411a7af47cd" /><Relationship Type="http://schemas.openxmlformats.org/officeDocument/2006/relationships/slideLayout" Target="/ppt/slideLayouts/slideLayout1.xml" Id="R173c92b36285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c92b36285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a374f3e092417e" /><Relationship Type="http://schemas.openxmlformats.org/officeDocument/2006/relationships/notesSlide" Target="/ppt/notesSlides/notesSlide1.xml" Id="R68faba6905304c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013f42df948ed" /><Relationship Type="http://schemas.openxmlformats.org/officeDocument/2006/relationships/notesSlide" Target="/ppt/notesSlides/notesSlide2.xml" Id="R0aacc7286f874f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E2701-0AD8-456E-8429-A912C17B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10CB5-8760-43FA-AB57-0272345F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188FB-6DE2-4931-B4C3-637D9CAE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统一使用同一负载下整套服务的吞吐（token/min），单价单位为元 / 百万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E3E60-6BC6-470C-9178-ABA5F2A2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C6BE5-FB16-496A-942D-C0A3015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0E957-1079-4557-BFF4-957091C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1B9BF-FAD1-4C7B-A60B-8E005483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30468-1BDA-4A79-9010-9FB1DEA3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CAC0F-455D-4BF2-8112-93BFA08E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整套服务输出吞吐 ×（30天 × 24小时/天 × 60分钟/小时）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0384D-A0A7-41EE-87EC-422D7F7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145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× 可计费产出比例 × 输出单价 ÷ 1,000,000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E21FD-1EF7-4D38-AA70-8847BFF9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26E58-60A3-47F9-A283-1CB93A2B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未命中输入月收入＝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2A409-8857-4075-B0B7-3F5B16B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整套服务未命中输入吞吐 ×（30天 × 24小时/天 × 60分钟/小时）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74B33-9BCA-4EE1-B56E-7F50E4CF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95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× 可计费产出比例 × 未命中输入单价 ÷ 1,000,000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DC3EF5-C30A-4152-BA6C-F8E3E780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70680-A3D0-4B12-BAB7-2EC5270A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缓存命中输入月收入＝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D5F3C-F8B6-475D-92C1-F33D880B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整套服务缓存命中输入吞吐 ×（30天 × 24小时/天 × 60分钟/小时）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F65C2-B6E4-4E80-AEB5-429FA341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767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× 可计费产出比例 × 缓存命中输入单价 ÷ 1,000,000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917E7-7180-4389-9398-CB4EED1D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吞吐用 token/min；单价用元 / 百万 Token。整套服务吞吐已包含卡数，不再乘卡数。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BF104-BA9A-438E-8A52-E7FA074B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可计费产出比例：实际月度可计费用量，占按该压测速度持续运行30天的理论用量比例。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28306-F11D-4CF4-BB8C-154C2F0D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104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4D97A-A5CF-4085-AE70-09EE1FEB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假设算例：输出60,000 token/min，产出50%，单价2元/百万 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20992-8C3E-4DE0-A7C0-A4C514EB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57875"/>
            <a:ext cx="1076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输出月收入＝60,000 ×（30 × 24 × 60）× 50% × 2 ÷ 1,000,000＝2,592元</a:t>
            </a:r>
          </a:p>
        </p:txBody>
      </p:sp>
    </p:spTree>
    <p:extLst>
      <p:ext uri="{BB962C8B-B14F-4D97-AF65-F5344CB8AC3E}">
        <p14:creationId xmlns:p14="http://schemas.microsoft.com/office/powerpoint/2010/main" val="1488074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AA48F-437E-412B-874F-7DC27822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8037B-7E78-4D31-B48C-18E23A60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收入与利润：先算可结算收入，再扣项目成本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1E093-08CF-4E80-AF73-C8D6E01F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预测收入用于评估产能；实际结算以双方认可的用量、合同价格及调整项为准。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CE7C7-9DAD-4F95-9593-8432C041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14505-7599-4CC6-9096-2A75CB81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7B8DB-C4E7-4DFD-9109-95474633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5A4AB-D284-400C-9B43-58200931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65113-A69F-4672-B42C-33E92578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1010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文本月收入＝输出月收入＋未命中输入月收入＋缓存命中输入月收入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29AF2-DFFB-416C-8FFE-C40A1789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4FB7F-F141-41F0-9006-EF765A33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86025"/>
            <a:ext cx="11010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月经营结果＝文本收入＋检测收入＋视频收入－项目成本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71500" y="3076575"/>
          <a:ext xmlns:a="http://schemas.openxmlformats.org/drawingml/2006/main" cx="110490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143500"/>
                <a:gridCol w="3571875"/>
              </a:tblGrid>
              <a:tr h="3429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成本视角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纳入哪些成本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用于判断什么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按项目实际承担范围计入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现有设备提供服务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 / 租赁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既有通算与机柜按约定分摊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持续经营和后续扩容</a:t>
                      </a:r>
                    </a:p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是否具有经济性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76139-196A-4650-8CBF-E9B5B25F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1049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2CE46-8244-41B8-861D-44121D4F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11010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实际文本结算额＝三类实际可计费 Token 数分别乘对应单价 ÷ 1,000,000，再求和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ADD75-0EEE-4DC4-8A76-3D0992B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11010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盈亏平衡：固定业务组合下，月总收入达到月项目成本。</a:t>
            </a:r>
          </a:p>
          <a:p xmlns:a="http://schemas.openxmlformats.org/drawingml/2006/main">
            <a:pPr algn="l">
              <a:def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单独分析结算价格、需求利用、缓存比例与任务分配；调整组合后重新测算产能。</a:t>
            </a:r>
          </a:p>
        </p:txBody>
      </p:sp>
    </p:spTree>
    <p:extLst>
      <p:ext uri="{BB962C8B-B14F-4D97-AF65-F5344CB8AC3E}">
        <p14:creationId xmlns:p14="http://schemas.microsoft.com/office/powerpoint/2010/main" val="155288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2026-09-16T09:21:21.6290000Z</dcterms:created>
  <dcterms:modified xsi:type="dcterms:W3CDTF">2026-09-16T09:21:21.6290000Z</dcterms:modified>
</coreProperties>
</file>