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c9f647b65b44ca" /><Relationship Type="http://schemas.openxmlformats.org/officeDocument/2006/relationships/extended-properties" Target="/docProps/app.xml" Id="R503469241fe241ca" /><Relationship Type="http://schemas.openxmlformats.org/officeDocument/2006/relationships/officeDocument" Target="/ppt/presentation.xml" Id="Re7aa3f3e4d8843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f24213589344ba"/>
  </p:sldMasterIdLst>
  <p:notesMasterIdLst>
    <p:notesMasterId xmlns:r="http://schemas.openxmlformats.org/officeDocument/2006/relationships" r:id="R78e46bfed4504862"/>
  </p:notesMasterIdLst>
  <p:sldIdLst>
    <p:sldId xmlns:r="http://schemas.openxmlformats.org/officeDocument/2006/relationships" id="256" r:id="R80faa34c4e044e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b236fb384542a9" /><Relationship Type="http://schemas.openxmlformats.org/officeDocument/2006/relationships/slideMaster" Target="/ppt/slideMasters/slideMaster1.xml" Id="Rfef24213589344ba" /><Relationship Type="http://schemas.openxmlformats.org/officeDocument/2006/relationships/notesMaster" Target="/ppt/notesMasters/notesMaster1.xml" Id="R78e46bfed4504862" /><Relationship Type="http://schemas.openxmlformats.org/officeDocument/2006/relationships/presProps" Target="/ppt/presProps.xml" Id="R377f783b6fc8472e" /><Relationship Type="http://schemas.openxmlformats.org/officeDocument/2006/relationships/tableStyles" Target="/ppt/tableStyles.xml" Id="R6f68f54ded2342c8" /><Relationship Type="http://schemas.openxmlformats.org/officeDocument/2006/relationships/slide" Target="/ppt/slides/slide1.xml" Id="R80faa34c4e044e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13c6df845d4d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d67bfae3a9463e" /><Relationship Type="http://schemas.openxmlformats.org/officeDocument/2006/relationships/notesMaster" Target="/ppt/notesMasters/notesMaster1.xml" Id="R3329640786514d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已确认的12步部署流程整合为四阶段。每阶段三项操作，底部为对应完成标准，勾号表示要求而非已经完成。保留权重下载、量化、分发、环境准备、容器设备透传、推理、扩展、验收、平台接入和故障恢复全部环节。T4与910B是不同的候选执行路径，具体模型以06适配结果为准。单机先验通，双机只在需要时执行，不能将所有模型默认扩至双机。MASS实际字段、镜像digest、模型revision和节点配置尚待现场确认。详细操作和命令见07_模型部署_操作清单.md。</a:t>
            </a:r>
          </a:p>
          <a:p xmlns:a="http://schemas.openxmlformats.org/drawingml/2006/main">
            <a:r>
              <a:t>官方资料：</a:t>
            </a:r>
          </a:p>
          <a:p xmlns:a="http://schemas.openxmlformats.org/drawingml/2006/main">
            <a:r>
              <a:t>https://huggingface.co/docs/huggingface_hub/en/guides/cli</a:t>
            </a:r>
          </a:p>
          <a:p xmlns:a="http://schemas.openxmlformats.org/drawingml/2006/main">
            <a:r>
              <a:t>https://github.com/modelscope/modelscope/blob/master/docs/source/command.md</a:t>
            </a:r>
          </a:p>
          <a:p xmlns:a="http://schemas.openxmlformats.org/drawingml/2006/main">
            <a:r>
              <a:t>https://docs.vllm.ai/projects/ascend/en/latest/tutorials/models/Qwen3.8-27B.html</a:t>
            </a:r>
          </a:p>
          <a:p xmlns:a="http://schemas.openxmlformats.org/drawingml/2006/main">
            <a:r>
              <a:t>https://github.com/ggml-org/llama.cpp/blob/master/tools/server/README.md</a:t>
            </a:r>
          </a:p>
          <a:p xmlns:a="http://schemas.openxmlformats.org/drawingml/2006/main">
            <a:r>
              <a:t>https://docs.ultralytics.com/models/yolo26/</a:t>
            </a:r>
          </a:p>
          <a:p xmlns:a="http://schemas.openxmlformats.org/drawingml/2006/main">
            <a:r>
              <a:t>https://github.com/Wan-Video/Wan2.1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6bd6ea050b40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126e033e6f47a8" /><Relationship Type="http://schemas.openxmlformats.org/officeDocument/2006/relationships/slideLayout" Target="/ppt/slideLayouts/slideLayout1.xml" Id="R3953543eb85247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53543eb85247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f4859c1f44c37" /><Relationship Type="http://schemas.openxmlformats.org/officeDocument/2006/relationships/notesSlide" Target="/ppt/notesSlides/notesSlide1.xml" Id="R45d0374340ab4a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A802CBC-F728-40F7-8C15-FA79B4AF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A5  模型部署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8F632-5B56-4F97-97CC-C4CDE936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模型部署全流程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AAA1A-2226-49C2-9E30-286A474A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从模型仓库到 MASS 服务：四个阶段推进，验收通过后发布。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32415-2F9E-44F5-B2E7-D4F714D9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AC927-14E9-4792-AB71-8600026D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8723A-6BE6-4263-9549-7D06396D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10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22C66-2234-4629-AB85-FE7B9658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504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FA67E-1DF3-4A54-8ECC-58146E66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812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模型准备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822B09-ABD4-41B5-A103-A26A45CA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C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64139-7864-4CB5-BD6A-1297CEA9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257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29CD81-1E4C-4A31-884F-960D6F9D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81200"/>
            <a:ext cx="504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71E83-93CE-4A33-AB60-5A2B7C82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812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运行环境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5A37C8-62BC-4719-B1ED-2157E2B7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050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C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4C65B-630A-479F-8F1A-5F9FE141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38350"/>
            <a:ext cx="257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2500EB-F732-4439-8B86-0A7FEFC9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81200"/>
            <a:ext cx="504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1C9CC6-362C-48D8-8AAA-9120EC80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812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推理服务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449C2-9854-498C-A89C-6DD6883F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050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C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47B7B5-C645-439F-A359-CA37E143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38350"/>
            <a:ext cx="257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3C371A-E30C-47C5-83C0-103EDF80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81200"/>
            <a:ext cx="504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92744E-9F37-4EE4-B55A-94619AAC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812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验收与交付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BE1468-78CC-406F-877A-44358CED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050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C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35601-53C2-47B8-8EDF-340E34E1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955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确定规格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3D3473-D520-4A77-A054-B5663AAD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仓库 / revision、精度与卡数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上下文 / 并发、许可与权限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2A5FAA-D6E2-4C83-95DF-87AAAE8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下载与校验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3D883D-EAEE-4BE7-94C9-B101D459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Hugging Face / ModelScope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权重分片、配置、SHA256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8B5A60-38E6-4736-88D1-6F950241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准备权重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06DCA4-E0ED-477A-A147-BF624ACA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按需量化 / 格式转换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补齐 tokenizer 与视觉组件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DF0330-6350-49F8-A797-F2EFA19D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955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节点与驱动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5ED9CE-1FC6-4489-899E-C4849598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099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OS、IP / 时间、磁盘 / 权限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驱动与固件、设备健康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A9207D-E3CA-40C2-AFA3-84BEE176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1472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模型与镜像分发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2B7273-1CA9-425B-9071-15436187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2905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各节点权重一致、固定路径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镜像配套、固定 digest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B11DF3-5D4A-4430-AA5E-0DE171C8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338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容器接入设备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E838C2-E0C3-4F60-A63C-2495ACEA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482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透传卡与驱动库、挂载目录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共享内存 / 端口、容器内验卡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400F05-71BD-4374-8F53-61B05029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955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910B 分支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F909EF-64CE-4460-BDFA-609D421A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99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Ascend 镜像＋vLLM Ascend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按 A2 配方配置精度与并行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77C1D7-AC8C-472D-8B69-3F948296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 分支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BDD6B5-9B7F-4967-A044-450DE4B9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2905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GGUF＋llama.cpp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YOLO / Wan 使用独立管线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F037EC-046A-49D7-9E16-439A2097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338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启动与扩展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225B76-109F-4907-8D70-7AB394DD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482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先单机低负载；双机先验 RoCE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再配 rank / TP / DP / EP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9DDB76-FA92-47A4-A57A-F0F55969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955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接口与质量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D03B73-A9C9-4C8A-82FD-E0BB0929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099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健康检查、模型列表、推理 API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固定样本、流式输出、停止条件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5AAFEF-6FA3-42C2-83F3-112AC9E8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1472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负载与稳定性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CFFF2A-E28F-42C1-839E-10F86BA9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2905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增加上下文 / 并发，记录显存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TTFT / TPOT / 吞吐，视觉另测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6FEF93-4E3C-4AC4-871F-EFEBAFC8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338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MASS 接入与发布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06DDDA-B9F3-456F-A76C-59EFDF77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482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鉴权 / 路由 / 计量、端到端验证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进程托管、监控、小流量与回退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CC67F1-8C75-4653-8F05-F04ABDA4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321F49-E820-4762-947E-104B2339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253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✓  权重完整且可追溯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71DA78-B1BD-4665-9B32-148F0181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410200"/>
            <a:ext cx="253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✓  容器内设备可用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A4FD5AF-8B25-4653-AEBE-3996D375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10200"/>
            <a:ext cx="253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✓  服务启动且可调用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671C2A6-6028-474A-A718-AF8CF2AA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10200"/>
            <a:ext cx="253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✓  效果达标并可恢复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5CE8B7-450F-4D80-807F-31635DFD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76925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执行依据：版本清单＋启动脚本＋测试报告＋平台配置＋回退步骤，详细命令见配套操作清单。</a:t>
            </a:r>
          </a:p>
        </p:txBody>
      </p:sp>
    </p:spTree>
    <p:extLst>
      <p:ext uri="{BB962C8B-B14F-4D97-AF65-F5344CB8AC3E}">
        <p14:creationId xmlns:p14="http://schemas.microsoft.com/office/powerpoint/2010/main" val="79263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2026-09-16T07:58:03.0640000Z</dcterms:created>
  <dcterms:modified xsi:type="dcterms:W3CDTF">2026-09-16T07:58:03.0640000Z</dcterms:modified>
</coreProperties>
</file>