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cd75729579447c" /><Relationship Type="http://schemas.openxmlformats.org/officeDocument/2006/relationships/extended-properties" Target="/docProps/app.xml" Id="R32f3d63b22664f25" /><Relationship Type="http://schemas.openxmlformats.org/officeDocument/2006/relationships/officeDocument" Target="/ppt/presentation.xml" Id="R3ad18c9540124b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2529ecc284445b"/>
  </p:sldMasterIdLst>
  <p:notesMasterIdLst>
    <p:notesMasterId xmlns:r="http://schemas.openxmlformats.org/officeDocument/2006/relationships" r:id="Ra7c75d1f5c4345ad"/>
  </p:notesMasterIdLst>
  <p:sldIdLst>
    <p:sldId xmlns:r="http://schemas.openxmlformats.org/officeDocument/2006/relationships" id="256" r:id="R6d4cdb1f6c6f4cfb"/>
    <p:sldId xmlns:r="http://schemas.openxmlformats.org/officeDocument/2006/relationships" id="257" r:id="R45e35f21185c40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9565da09a9402e" /><Relationship Type="http://schemas.openxmlformats.org/officeDocument/2006/relationships/slideMaster" Target="/ppt/slideMasters/slideMaster1.xml" Id="R822529ecc284445b" /><Relationship Type="http://schemas.openxmlformats.org/officeDocument/2006/relationships/notesMaster" Target="/ppt/notesMasters/notesMaster1.xml" Id="Ra7c75d1f5c4345ad" /><Relationship Type="http://schemas.openxmlformats.org/officeDocument/2006/relationships/presProps" Target="/ppt/presProps.xml" Id="Rd40c0651b9074e6c" /><Relationship Type="http://schemas.openxmlformats.org/officeDocument/2006/relationships/tableStyles" Target="/ppt/tableStyles.xml" Id="R542e8d9ebb404389" /><Relationship Type="http://schemas.openxmlformats.org/officeDocument/2006/relationships/slide" Target="/ppt/slides/slide1.xml" Id="R6d4cdb1f6c6f4cfb" /><Relationship Type="http://schemas.openxmlformats.org/officeDocument/2006/relationships/slide" Target="/ppt/slides/slide2.xml" Id="R45e35f21185c40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9c565f067d48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dfc3ad3cdf4ee8" /><Relationship Type="http://schemas.openxmlformats.org/officeDocument/2006/relationships/notesMaster" Target="/ppt/notesMasters/notesMaster1.xml" Id="Rc408d9a68a2a4b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071d549a7045fc" /><Relationship Type="http://schemas.openxmlformats.org/officeDocument/2006/relationships/notesMaster" Target="/ppt/notesMasters/notesMaster1.xml" Id="R4dc9472969ce4b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量纲一致的收入估算，不是实测收入。定义每类整套服务吞吐为成功请求口径token/min，30天为43200分钟，每百万token价格除1000000。各类可计费产出比例分别估计，代表实际月可计费量除该类压测速率乘43200的参考量；不是简单设备利用率，应包含需求、在线时长和可结算范围中尚未体现的差异，避免重复扣减已有损失。混部时三类速率必须来自同一负载，且不能把每类独立峰值当作同时可交付。缓存命中输入是逻辑复用量，按缓存结算价，不是完整prefill计算量。使用整套服务吞吐不乘卡数，只有卡均吞吐才在其他口径下需要乘卡数。同一币种税口径结算。本版删除未经本轮核验的外部价格表，改为合同价格输入。算例60000×43200×0.5×2/1000000=2592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结算还可能有合同约定调整项，实际回款以银行记录为准。YOLO和Wan按图片、视频任务等约定单位计价，不套token公式。增量成本和全成本是不同分析视角，不重复累计。月电量使用实测平均功率乘小时，机柜10kW不是持续耗电值。设备购置款与同设备折旧不得在同一利润口径重复全额扣减。价格币种和税口径保持一致。T4在文本、检测和视频任务间分配卡时，总资源不能重复占用。原版k*符号公式改为中文盈亏条件，避免未定义变量。缺少实测、合同价格和成本时不给出确定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281eb2b994a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cb7d7a6802482f" /><Relationship Type="http://schemas.openxmlformats.org/officeDocument/2006/relationships/slideLayout" Target="/ppt/slideLayouts/slideLayout1.xml" Id="R3f0ecb757f1243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0ecb757f1243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522377e5d4175" /><Relationship Type="http://schemas.openxmlformats.org/officeDocument/2006/relationships/notesSlide" Target="/ppt/notesSlides/notesSlide1.xml" Id="R839459757fa247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b2c16a49f48a3" /><Relationship Type="http://schemas.openxmlformats.org/officeDocument/2006/relationships/notesSlide" Target="/ppt/notesSlides/notesSlide2.xml" Id="R9beb23fd3fe944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7DA57F-6249-4763-9A04-FC5A8CE8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EDED8-D140-4540-A0BE-2ECB362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月收入测算：三类 Token 分开计价，再求和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CF0D1-455E-4161-B70C-A4B216A2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统一使用同一负载下整套服务的吞吐（token/min），单价取数值，单位为元 / 百万 Token。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A4C21-2DE5-4604-9C88-AA1DD994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7DFA8-7FD2-4D61-B133-BE529552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0869C-1DC0-49E8-8D10-99311079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E5DC9-51D2-4BE9-B625-67333EF6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11AC4-0B65-4279-AA36-8BF59E8C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输出月收入＝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EBAC2-56E2-4624-90D4-401C1B62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［整套服务输出吞吐 ×（30天 × 24小时/天 × 60分钟/小时）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79716-F1FB-4C6A-8C49-C6C3645A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输出单价］÷ 1,000,000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0C2D2-F34C-4484-830F-944D0EEA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A2FFE-1606-4488-B27A-0AA66EB6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未命中输入月收入＝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C52AD-8246-4E02-BA46-26638EAF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［整套服务未命中输入吞吐 ×（30天 × 24小时/天 × 60分钟/小时）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1D322-6C14-4F34-B8E6-FACBCCFB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未命中输入单价］÷ 1,000,000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53CFF-5A84-440E-B961-A8771E20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C0254-15DB-4C6A-AE78-A05EA170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缓存命中输入月收入＝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B48F2-ACB0-4115-BA23-9CA58861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［整套服务缓存命中输入吞吐 ×（30天 × 24小时/天 × 60分钟/小时）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6E9AB-A2F0-4A0C-911F-A2B2E1F2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缓存命中输入单价］÷ 1,000,000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EEDA1-A81C-46A8-BC04-2B15D257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吞吐用 token/min；单价取数值（元 / 百万 Token）。整套服务吞吐已包含卡数，不再乘卡数。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23A8E-48DC-40D0-8EDB-6973E450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可计费产出比例：实际月度可计费用量，占按该压测速度持续运行30天的理论用量比例。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F6F47-15B5-4D9B-8213-F7E7EC62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104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02074D-6A70-4B3B-B3A6-D0C0F304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483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假设算例：输出60,000 token/min，产出50%，单价2元/百万 Token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1CF0A1-CB5F-4A44-A03E-B9684EF5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76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输出月收入＝［60,000 ×（30 × 24 × 60）× 50% × 2］÷ 1,000,000＝2,592元</a:t>
            </a:r>
          </a:p>
        </p:txBody>
      </p:sp>
    </p:spTree>
    <p:extLst>
      <p:ext uri="{BB962C8B-B14F-4D97-AF65-F5344CB8AC3E}">
        <p14:creationId xmlns:p14="http://schemas.microsoft.com/office/powerpoint/2010/main" val="1832713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CA5BA-C120-4823-A421-31B5A84B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1463D-06B7-4F2D-AE0A-0331B6B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收入与利润：先算可结算收入，再扣项目成本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1A585-B8D3-4786-8825-60962885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预测收入用于评估产能；实际结算以双方认可的用量、合同价格及调整项为准。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F1B00-3331-4564-8CF4-E89743B8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1080B-160F-443B-82E0-27F22F49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7886A-B7A3-483D-8766-7D7C07D7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A7704-E956-496D-8B88-08F3C2BF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68BA1-6E11-477B-B7C7-9077EDA5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101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文本月收入＝输出月收入＋未命中输入月收入＋缓存命中输入月收入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0F46E-28D0-4581-952A-1A8BC8B5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668B1-F92C-4629-B19B-6E3E9AA8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11010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月经营结果＝文本收入＋检测收入＋视频收入－项目成本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1600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143500"/>
                <a:gridCol w="3571875"/>
              </a:tblGrid>
              <a:tr h="342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成本视角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纳入哪些成本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用于判断什么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增量运营收支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新增电费、网络、机房与运维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按项目实际承担范围计入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现有设备提供服务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能否覆盖新增现金支出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全成本经营结果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增量成本＋折旧 / 租赁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既有通算与机柜按约定分摊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持续经营和后续扩容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是否具有经济性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C6CD2-E63D-4D51-AC7B-F260D08F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11049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9155F-EBA5-4D83-A4FF-522E1ABE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实际文本结算额＝［输出量×输出价＋未命中输入量×未命中价＋命中输入量×命中价］÷ 1,000,000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15A3C-906E-47F6-A73D-CDAA0D30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盈亏平衡：固定业务组合下，月总收入达到月项目成本。</a:t>
            </a:r>
          </a:p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单独分析结算价格、需求利用、缓存比例与任务分配；调整组合后重新测算产能。</a:t>
            </a:r>
          </a:p>
        </p:txBody>
      </p:sp>
    </p:spTree>
    <p:extLst>
      <p:ext uri="{BB962C8B-B14F-4D97-AF65-F5344CB8AC3E}">
        <p14:creationId xmlns:p14="http://schemas.microsoft.com/office/powerpoint/2010/main" val="646076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2026-09-16T09:28:27.0420000Z</dcterms:created>
  <dcterms:modified xsi:type="dcterms:W3CDTF">2026-09-16T09:28:27.0420000Z</dcterms:modified>
</coreProperties>
</file>