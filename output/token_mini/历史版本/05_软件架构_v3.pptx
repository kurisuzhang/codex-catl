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3d249837f14feb" /><Relationship Type="http://schemas.openxmlformats.org/officeDocument/2006/relationships/extended-properties" Target="/docProps/app.xml" Id="R073ee2611d2e45d6" /><Relationship Type="http://schemas.openxmlformats.org/officeDocument/2006/relationships/officeDocument" Target="/ppt/presentation.xml" Id="R435f46fb2b2f4f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ed3929d7c14dfb"/>
  </p:sldMasterIdLst>
  <p:notesMasterIdLst>
    <p:notesMasterId xmlns:r="http://schemas.openxmlformats.org/officeDocument/2006/relationships" r:id="R2ba2e328b46d4c22"/>
  </p:notesMasterIdLst>
  <p:sldIdLst>
    <p:sldId xmlns:r="http://schemas.openxmlformats.org/officeDocument/2006/relationships" id="256" r:id="R1e0578e970eb422c"/>
    <p:sldId xmlns:r="http://schemas.openxmlformats.org/officeDocument/2006/relationships" id="257" r:id="Ra1e3a0dce4c844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22b32a1e0b49fb" /><Relationship Type="http://schemas.openxmlformats.org/officeDocument/2006/relationships/slideMaster" Target="/ppt/slideMasters/slideMaster1.xml" Id="Rc1ed3929d7c14dfb" /><Relationship Type="http://schemas.openxmlformats.org/officeDocument/2006/relationships/notesMaster" Target="/ppt/notesMasters/notesMaster1.xml" Id="R2ba2e328b46d4c22" /><Relationship Type="http://schemas.openxmlformats.org/officeDocument/2006/relationships/presProps" Target="/ppt/presProps.xml" Id="R0ad641bb83764e7a" /><Relationship Type="http://schemas.openxmlformats.org/officeDocument/2006/relationships/tableStyles" Target="/ppt/tableStyles.xml" Id="R5dfc3a454f1a498e" /><Relationship Type="http://schemas.openxmlformats.org/officeDocument/2006/relationships/slide" Target="/ppt/slides/slide1.xml" Id="R1e0578e970eb422c" /><Relationship Type="http://schemas.openxmlformats.org/officeDocument/2006/relationships/slide" Target="/ppt/slides/slide2.xml" Id="Ra1e3a0dce4c844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57a223a9a04b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81bb134f1f43cf" /><Relationship Type="http://schemas.openxmlformats.org/officeDocument/2006/relationships/notesMaster" Target="/ppt/notesMasters/notesMaster1.xml" Id="R4e220838c50247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59ed5b24f04606" /><Relationship Type="http://schemas.openxmlformats.org/officeDocument/2006/relationships/notesMaster" Target="/ppt/notesMasters/notesMaster1.xml" Id="Rd52170f21f8a4d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本页按职责从底层到服务层盘点，不表示全部软件都在同一串行调用链上。容器、K8s和监控是部署管理面，框架、算子、运行库是模型执行面。各列列出组件范围及替代路径，不要求全部安装。GPU Operator可管理驱动、Container Toolkit、Device Plugin、GFD、DCGM等，不应与另一个驱动生命周期管理方式重复管理。K8s提供调度，不是推理必须条件，首轮可先单容器验通再纳管。NVIDIA宿主机需可用驱动，CUDA用户态库可位于镜像，运行预编译镜像不必把完整CUDA Toolkit一概装在宿主机。Toolkit用于开发编译，不能与Container Toolkit混淆。Ascend容器接入需按运行时、MindCluster和驱动版本选择部署方式，安装工具名称不能证明任意containerd版本兼容。MindCluster中的NodeD、ClusterD、Volcano与Operator按需要配置，非本项目全部必装。NVIDIA T4不假定具备新GPU的所有精度与kernel能力，不照抄MIG方案。跨机NCCL/HCCL还受网卡、RDMA驱动及网络配置影响，双910B沿已定RoCE方案单独验通信。CANN包含运行和开发能力，ATB按引擎需求装。SGLang Ascend依赖包括匹配的Triton-Ascend及SGL Kernel NPU。PD分离还需核验MemFabric等KV传输组件，MoE场景按版本考虑DeepEP兼容实现，这些属于特性依赖，不是所有模型的必装项。MindIE为另一推理路径，不是vLLM的必装前置。SGLang列为候选生态，并未宣称当前默认镜像支持本台T4。YOLO和Wan保持任务专用推理路径，不能因vLLM支持文本就认为其支持任意视觉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官方参考文档（查询2026-09-16，动态页面不是本项目冻结版本）：</a:t>
            </a:r>
          </a:p>
          <a:p xmlns:a="http://schemas.openxmlformats.org/drawingml/2006/main">
            <a:r>
              <a:t>[1] NVIDIA GPU Operator</a:t>
            </a:r>
          </a:p>
          <a:p xmlns:a="http://schemas.openxmlformats.org/drawingml/2006/main">
            <a:r>
              <a:t>https://docs.nvidia.com/datacenter/cloud-native/gpu-operator/latest/</a:t>
            </a:r>
          </a:p>
          <a:p xmlns:a="http://schemas.openxmlformats.org/drawingml/2006/main">
            <a:r>
              <a:t>[2] NVIDIA Container Toolkit</a:t>
            </a:r>
          </a:p>
          <a:p xmlns:a="http://schemas.openxmlformats.org/drawingml/2006/main">
            <a:r>
              <a:t>https://docs.nvidia.com/datacenter/cloud-native/container-toolkit/latest/arch-overview.html</a:t>
            </a:r>
          </a:p>
          <a:p xmlns:a="http://schemas.openxmlformats.org/drawingml/2006/main">
            <a:r>
              <a:t>[3] MindCluster 组件</a:t>
            </a:r>
          </a:p>
          <a:p xmlns:a="http://schemas.openxmlformats.org/drawingml/2006/main">
            <a:r>
              <a:t>https://www.hiascend.com/document/detail/en/mindcluster/2600/clustersched/schedulingug/docs/en/scheduling/introduction/01_component_description.md</a:t>
            </a:r>
          </a:p>
          <a:p xmlns:a="http://schemas.openxmlformats.org/drawingml/2006/main">
            <a:r>
              <a:t>[4] torch_npu 版本配套</a:t>
            </a:r>
          </a:p>
          <a:p xmlns:a="http://schemas.openxmlformats.org/drawingml/2006/main">
            <a:r>
              <a:t>https://github.com/Ascend/pytorch/blob/master/COMPATIBILITY.en.md</a:t>
            </a:r>
          </a:p>
          <a:p xmlns:a="http://schemas.openxmlformats.org/drawingml/2006/main">
            <a:r>
              <a:t>[5] vLLM GPU 安装</a:t>
            </a:r>
          </a:p>
          <a:p xmlns:a="http://schemas.openxmlformats.org/drawingml/2006/main">
            <a:r>
              <a:t>https://docs.vllm.ai/en/latest/getting_started/installation/gpu/</a:t>
            </a:r>
          </a:p>
          <a:p xmlns:a="http://schemas.openxmlformats.org/drawingml/2006/main">
            <a:r>
              <a:t>[7] vLLM Ascend 安装</a:t>
            </a:r>
          </a:p>
          <a:p xmlns:a="http://schemas.openxmlformats.org/drawingml/2006/main">
            <a:r>
              <a:t>https://docs.vllm.ai/projects/ascend/en/latest/getting_started/installation.html</a:t>
            </a:r>
          </a:p>
          <a:p xmlns:a="http://schemas.openxmlformats.org/drawingml/2006/main">
            <a:r>
              <a:t>[9] SGLang 安装与硬件入口</a:t>
            </a:r>
          </a:p>
          <a:p xmlns:a="http://schemas.openxmlformats.org/drawingml/2006/main">
            <a:r>
              <a:t>https://docs.sglang.io/docs/get-started/install</a:t>
            </a:r>
          </a:p>
          <a:p xmlns:a="http://schemas.openxmlformats.org/drawingml/2006/main">
            <a:r>
              <a:t>[11] SGLang Ascend 安装与依赖</a:t>
            </a:r>
          </a:p>
          <a:p xmlns:a="http://schemas.openxmlformats.org/drawingml/2006/main">
            <a:r>
              <a:t>https://docs.sglang.io/docs/hardware-platforms/ascend-npus/getting-started/installation</a:t>
            </a:r>
          </a:p>
          <a:p xmlns:a="http://schemas.openxmlformats.org/drawingml/2006/main">
            <a:r>
              <a:t>[12] MindIE 配套要求</a:t>
            </a:r>
          </a:p>
          <a:p xmlns:a="http://schemas.openxmlformats.org/drawingml/2006/main">
            <a:r>
              <a:t>https://www.hiascend.com/document/detail/zh/mindie/1.0.RC1/envdeployment/instg/mindie_instg_0015.html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Qwen/Qwen3-8B用于解释软件依赖，不声称已经部署成功。8B参数×2字节约16GB是粗略十进制权重估算，不是实际模型文件精确大小；T4单卡16GB还需KV缓存及工作区，所以FP16可能超出容量。量化需有兼容权重格式和kernel，不能只改参数名称。910B具体显存仍待核验。方法论是本项目的归纳：可部署集合为模型结构、硬件、精度/量化实现、推理特性和依赖版本的交集，还要满足容量和服务目标。先固定模型revision与权重格式，再选择候选引擎release并反查其依赖，避免把每层latest任意拼接。启动后先测确定性小样本与质量，再观察逐卡权重、KV Cache和工作区峰值；多卡验证并行与通信；最后纳入K8s后复验资源分配、健康检查、失败恢复与同规格性能。T4的SM75满足vLLM基础门槛，不代表任何attention后端、量化或模型特性均可用。当前量化矩阵对Turing的支持随版本变化，不能长期沿用旧版Marlin结论。SGLang有NVIDIA和Ascend入口，但本次资料不能建立当前SGLang/T4完整可运行组合，故保留核验，不标成已支持或绝对不支持。910B按A2路径选择匹配算子和镜像；vLLM Ascend矩阵有Qwen、DeepSeek、GLM家族条目，必须核验具体结构、精度、TP/PP、PD、缓存等特性。SGLang Ascend与MindIE各有自己的版本和模型矩阵，不能相互外推。示例均为筛选判断，未做实机部署或基准测试。YOLO/Wan需以任务仓库、许可和所选后端验收；不新增对具体版本的兼容承诺。最终产物为按设备族和任务区分的镜像清单、模型支持表、测试记录及回退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官方参考文档（查询2026-09-16，动态页面不是本项目冻结版本）：</a:t>
            </a:r>
          </a:p>
          <a:p xmlns:a="http://schemas.openxmlformats.org/drawingml/2006/main">
            <a:r>
              <a:t>[4] torch_npu 版本配套</a:t>
            </a:r>
          </a:p>
          <a:p xmlns:a="http://schemas.openxmlformats.org/drawingml/2006/main">
            <a:r>
              <a:t>https://github.com/Ascend/pytorch/blob/master/COMPATIBILITY.en.md</a:t>
            </a:r>
          </a:p>
          <a:p xmlns:a="http://schemas.openxmlformats.org/drawingml/2006/main">
            <a:r>
              <a:t>[5] vLLM GPU 安装</a:t>
            </a:r>
          </a:p>
          <a:p xmlns:a="http://schemas.openxmlformats.org/drawingml/2006/main">
            <a:r>
              <a:t>https://docs.vllm.ai/en/latest/getting_started/installation/gpu/</a:t>
            </a:r>
          </a:p>
          <a:p xmlns:a="http://schemas.openxmlformats.org/drawingml/2006/main">
            <a:r>
              <a:t>[6] vLLM 量化矩阵</a:t>
            </a:r>
          </a:p>
          <a:p xmlns:a="http://schemas.openxmlformats.org/drawingml/2006/main">
            <a:r>
              <a:t>https://docs.vllm.ai/en/latest/features/quantization/</a:t>
            </a:r>
          </a:p>
          <a:p xmlns:a="http://schemas.openxmlformats.org/drawingml/2006/main">
            <a:r>
              <a:t>[7] vLLM Ascend 安装</a:t>
            </a:r>
          </a:p>
          <a:p xmlns:a="http://schemas.openxmlformats.org/drawingml/2006/main">
            <a:r>
              <a:t>https://docs.vllm.ai/projects/ascend/en/latest/getting_started/installation.html</a:t>
            </a:r>
          </a:p>
          <a:p xmlns:a="http://schemas.openxmlformats.org/drawingml/2006/main">
            <a:r>
              <a:t>[8] vLLM Ascend 模型矩阵</a:t>
            </a:r>
          </a:p>
          <a:p xmlns:a="http://schemas.openxmlformats.org/drawingml/2006/main">
            <a:r>
              <a:t>https://docs.vllm.ai/projects/ascend/en/latest/user_guide/support_matrix/supported_models.html</a:t>
            </a:r>
          </a:p>
          <a:p xmlns:a="http://schemas.openxmlformats.org/drawingml/2006/main">
            <a:r>
              <a:t>[9] SGLang 安装与硬件入口</a:t>
            </a:r>
          </a:p>
          <a:p xmlns:a="http://schemas.openxmlformats.org/drawingml/2006/main">
            <a:r>
              <a:t>https://docs.sglang.io/docs/get-started/install</a:t>
            </a:r>
          </a:p>
          <a:p xmlns:a="http://schemas.openxmlformats.org/drawingml/2006/main">
            <a:r>
              <a:t>[10] SGLang Ascend 模型表</a:t>
            </a:r>
          </a:p>
          <a:p xmlns:a="http://schemas.openxmlformats.org/drawingml/2006/main">
            <a:r>
              <a:t>https://github.com/sgl-project/sglang/blob/main/docs_new/docs/hardware-platforms/ascend-npus/reference/support_models.mdx</a:t>
            </a:r>
          </a:p>
          <a:p xmlns:a="http://schemas.openxmlformats.org/drawingml/2006/main">
            <a:r>
              <a:t>[11] SGLang Ascend 安装与依赖</a:t>
            </a:r>
          </a:p>
          <a:p xmlns:a="http://schemas.openxmlformats.org/drawingml/2006/main">
            <a:r>
              <a:t>https://docs.sglang.io/docs/hardware-platforms/ascend-npus/getting-started/installation</a:t>
            </a:r>
          </a:p>
          <a:p xmlns:a="http://schemas.openxmlformats.org/drawingml/2006/main">
            <a:r>
              <a:t>[12] MindIE 配套要求</a:t>
            </a:r>
          </a:p>
          <a:p xmlns:a="http://schemas.openxmlformats.org/drawingml/2006/main">
            <a:r>
              <a:t>https://www.hiascend.com/document/detail/zh/mindie/1.0.RC1/envdeployment/instg/mindie_instg_0015.html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c8b09c72f640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44870722274292" /><Relationship Type="http://schemas.openxmlformats.org/officeDocument/2006/relationships/slideLayout" Target="/ppt/slideLayouts/slideLayout1.xml" Id="Rd597e5e953274f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97e5e953274f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20866fd1040c9" /><Relationship Type="http://schemas.openxmlformats.org/officeDocument/2006/relationships/notesSlide" Target="/ppt/notesSlides/notesSlide1.xml" Id="R88fa6d14c1434e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1c021d3db4138" /><Relationship Type="http://schemas.openxmlformats.org/officeDocument/2006/relationships/notesSlide" Target="/ppt/notesSlides/notesSlide2.xml" Id="R7e5fe766a4bc47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2E7087-4353-4817-9F62-31B76501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A3  软件架构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0982A-F0D3-4E65-A705-9DF0B4F3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T4 与 910B 的完整软件生态对照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39881-25C7-4C34-8B84-2D233E92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分析：同一模型名称背后，是两套驱动、运行库、设备管理和算子实现。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5228C-E245-41AF-A7D0-F973171B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3B587-B785-41EB-A77E-2E19C7F3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2CF9F-5A1C-475E-84A1-17BAE230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06 / 18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71500" y="1885950"/>
          <a:ext xmlns:a="http://schemas.openxmlformats.org/drawingml/2006/main" cx="11049000" cy="38195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3286125"/>
                <a:gridCol w="3381375"/>
                <a:gridCol w="2905125"/>
              </a:tblGrid>
              <a:tr h="352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层次 / 职责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NVIDIA T4</a:t>
                      </a:r>
                    </a:p>
                  </a:txBody>
                  <a:tcPr marL="95250" marR="76200" marT="0" marB="0" anchor="ctr">
                    <a:solidFill>
                      <a:srgbClr val="4468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昇腾 910B</a:t>
                      </a:r>
                    </a:p>
                  </a:txBody>
                  <a:tcPr marL="95250" marR="76200" marT="0" marB="0" anchor="ctr">
                    <a:solidFill>
                      <a:srgbClr val="17637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对模型部署的影响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01  宿主机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Linux / 内核、NVIDIA Driver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nvidia-smi / NVML</a:t>
                      </a:r>
                    </a:p>
                  </a:txBody>
                  <a:tcPr marL="95250" marR="76200" marT="0" marB="0" anchor="ctr">
                    <a:solidFill>
                      <a:srgbClr val="F1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Linux / 内核、NPU Driver＋固件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npu-smi / DCMI</a:t>
                      </a:r>
                    </a:p>
                  </a:txBody>
                  <a:tcPr marL="95250" marR="76200" marT="0" marB="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667B8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OS、CPU 架构、驱动与镜像匹配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02  计算与通信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CUDA Runtime / Toolkit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cuBLAS、cuDNN、NCCL</a:t>
                      </a:r>
                    </a:p>
                  </a:txBody>
                  <a:tcPr marL="95250" marR="76200" marT="0" marB="0" anchor="ctr">
                    <a:solidFill>
                      <a:srgbClr val="EA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CANN / AscendCL、算子包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HCCL、ATB（按引擎）</a:t>
                      </a:r>
                    </a:p>
                  </a:txBody>
                  <a:tcPr marL="95250" marR="76200" marT="0" marB="0"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667B8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运行库 ABI、算子执行</a:t>
                      </a:r>
                    </a:p>
                    <a:p>
                      <a:r>
                        <a:rPr sz="1350" b="0">
                          <a:solidFill>
                            <a:srgbClr val="667B8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及多卡 / 跨机通信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03  容器接入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containerd / Docker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NVIDIA Container Toolkit</a:t>
                      </a:r>
                    </a:p>
                  </a:txBody>
                  <a:tcPr marL="95250" marR="76200" marT="0" marB="0" anchor="ctr">
                    <a:solidFill>
                      <a:srgbClr val="F1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containerd / Docker（核验版本）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Ascend Docker Runtime / 设备挂载</a:t>
                      </a:r>
                    </a:p>
                  </a:txBody>
                  <a:tcPr marL="95250" marR="76200" marT="0" marB="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667B8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使容器访问设备和驱动</a:t>
                      </a:r>
                    </a:p>
                    <a:p>
                      <a:r>
                        <a:rPr sz="1350" b="0">
                          <a:solidFill>
                            <a:srgbClr val="667B8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不自动转换 CUDA 代码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04  K8s 资源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NVIDIA Device Plugin、GFD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GPU Operator（统一管理）</a:t>
                      </a:r>
                    </a:p>
                  </a:txBody>
                  <a:tcPr marL="95250" marR="76200" marT="0" marB="0" anchor="ctr">
                    <a:solidFill>
                      <a:srgbClr val="EA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Ascend Device Plugin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Volcano / Ascend Operator（按需）</a:t>
                      </a:r>
                    </a:p>
                  </a:txBody>
                  <a:tcPr marL="95250" marR="76200" marT="0" marB="0"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667B8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资源发现、分配、调度</a:t>
                      </a:r>
                    </a:p>
                    <a:p>
                      <a:r>
                        <a:rPr sz="1350" b="0">
                          <a:solidFill>
                            <a:srgbClr val="667B8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不补齐模型算子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05  监控与运维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DCGM Exporter / Prometheus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Nsight（性能定位）</a:t>
                      </a:r>
                    </a:p>
                  </a:txBody>
                  <a:tcPr marL="95250" marR="76200" marT="0" marB="0" anchor="ctr">
                    <a:solidFill>
                      <a:srgbClr val="F1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NPU Exporter / Prometheus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NodeD / ClusterD、msprof（按需）</a:t>
                      </a:r>
                    </a:p>
                  </a:txBody>
                  <a:tcPr marL="95250" marR="76200" marT="0" marB="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667B8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设备健康、资源利用率</a:t>
                      </a:r>
                    </a:p>
                    <a:p>
                      <a:r>
                        <a:rPr sz="1350" b="0">
                          <a:solidFill>
                            <a:srgbClr val="667B8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及故障 / 性能定位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06  框架适配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PyTorch CUDA 构建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Transformers / ONNX（按任务）</a:t>
                      </a:r>
                    </a:p>
                  </a:txBody>
                  <a:tcPr marL="95250" marR="76200" marT="0" marB="0" anchor="ctr">
                    <a:solidFill>
                      <a:srgbClr val="EA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PyTorch＋torch_npu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MindSpore（另一条框架路径）</a:t>
                      </a:r>
                    </a:p>
                  </a:txBody>
                  <a:tcPr marL="95250" marR="76200" marT="0" marB="0"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667B8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模型结构与算子映射</a:t>
                      </a:r>
                    </a:p>
                    <a:p>
                      <a:r>
                        <a:rPr sz="1350" b="0">
                          <a:solidFill>
                            <a:srgbClr val="667B8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扩展包必须匹配框架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07  算子与量化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CUDA / Triton kernel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AWQ、GPTQ 等按 SM75 核验</a:t>
                      </a:r>
                    </a:p>
                  </a:txBody>
                  <a:tcPr marL="95250" marR="76200" marT="0" marB="0" anchor="ctr">
                    <a:solidFill>
                      <a:srgbClr val="F1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Ascend C / Triton-Ascend / ATB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SGL Kernel NPU；量化按引擎核验</a:t>
                      </a:r>
                    </a:p>
                  </a:txBody>
                  <a:tcPr marL="95250" marR="76200" marT="0" marB="0" anchor="ctr">
                    <a:solidFill>
                      <a:srgbClr val="EE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667B8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Attention / MoE / 量化 kernel</a:t>
                      </a:r>
                    </a:p>
                    <a:p>
                      <a:r>
                        <a:rPr sz="1350" b="0">
                          <a:solidFill>
                            <a:srgbClr val="667B8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须支持硬件、精度与形状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08  推理与服务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文本：vLLM；SGLang 需核验 T4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YOLO：TensorRT；Wan：独立管线</a:t>
                      </a:r>
                    </a:p>
                  </a:txBody>
                  <a:tcPr marL="95250" marR="76200" marT="0" marB="0" anchor="ctr">
                    <a:solidFill>
                      <a:srgbClr val="EAF1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vLLM＋vLLM Ascend</a:t>
                      </a:r>
                    </a:p>
                    <a:p>
                      <a:r>
                        <a:rPr sz="1350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SGLang Ascend 后端 / MindIE</a:t>
                      </a:r>
                    </a:p>
                  </a:txBody>
                  <a:tcPr marL="95250" marR="76200" marT="0" marB="0" anchor="ctr">
                    <a:solidFill>
                      <a:srgbClr val="E6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667B8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引擎、模型、特性支持取交集</a:t>
                      </a:r>
                    </a:p>
                    <a:p>
                      <a:r>
                        <a:rPr sz="1350" b="0">
                          <a:solidFill>
                            <a:srgbClr val="667B89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分别提供业务服务接口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948771-291E-407B-BA30-A801D906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00725"/>
            <a:ext cx="11010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结论：基础设施决定“设备能否使用”，模型适配与算子、引擎决定“服务能否交付”。</a:t>
            </a:r>
          </a:p>
        </p:txBody>
      </p:sp>
    </p:spTree>
    <p:extLst>
      <p:ext uri="{BB962C8B-B14F-4D97-AF65-F5344CB8AC3E}">
        <p14:creationId xmlns:p14="http://schemas.microsoft.com/office/powerpoint/2010/main" val="1953604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83A776-4E66-45CA-AAEB-53813B0F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11049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12304A"/>
                </a:solidFill>
                <a:latin typeface="Arial Unicode MS"/>
                <a:ea typeface="Arial Unicode MS"/>
                <a:cs typeface="Arial Unicode MS"/>
              </a:rPr>
              <a:t>A3  软件架构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D2F026-35A3-44FE-984E-8C38D9B8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14400"/>
            <a:ext cx="11010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软件支持如何转化为模型可部署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67CF0-A2AB-44A9-B188-7B10601B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010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方法论：对“模型＋权重格式＋硬件＋引擎版本＋服务规格”验证，而非只查模型名称。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1136B6-BDCE-48D7-9012-36492229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769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C610D-9BF6-4D96-AA16-5D5E5E59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token 魔方 Mini实验台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EA696-F4F3-44DD-B0CF-37504C21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641985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07 / 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0BA80-6D73-4F37-9779-BCECE5CA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01  定义任务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B1387F-FCE7-4D37-8C1A-FEBF523E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07BAC5-CDDC-471A-9F9B-738D0CAD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9825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固定模型 revision、精度 / 量化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上下文、并发、TP / PP、接口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467D7-91D5-458E-9C25-8848AE5D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2405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02  查支持交集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6F0BF-1FF8-4C71-9BAD-48877BCA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050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95FED2-CDF4-4C43-8048-EB24924D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09825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核对硬件、模型与特性矩阵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反查算子、框架及运行库版本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1659F-A09E-4AD4-B45E-B0C243BD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03  冻结软件组合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5195D-67F9-4625-9AD8-DEFCE39B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7D3DCD-B8AA-4A65-9932-D86EFCDB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9825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驱动 / 固件、镜像 digest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框架、引擎 / 插件、权重 hash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46DFC0-E14E-4D33-9983-1F563336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2405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04  实机验收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92929A-64A4-4DD2-88A7-4A25FDD6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050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E0E6"/>
          </a:solidFill>
          <a:ln xmlns:a="http://schemas.openxmlformats.org/drawingml/2006/main" w="9525">
            <a:solidFill>
              <a:srgbClr val="D4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0F2F9D-E4AF-4542-AC77-18BD1210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09825"/>
            <a:ext cx="2619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单卡 / 单容器起测，再多卡 / K8s</a:t>
            </a:r>
          </a:p>
          <a:p xmlns:a="http://schemas.openxmlformats.org/drawingml/2006/main">
            <a:pPr algn="l">
              <a:def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33D50"/>
                </a:solidFill>
                <a:latin typeface="Arial Unicode MS"/>
                <a:ea typeface="Arial Unicode MS"/>
                <a:cs typeface="Arial Unicode MS"/>
              </a:rPr>
              <a:t>质量、显存、TTFT / TPOT、稳定性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3209925"/>
          <a:ext xmlns:a="http://schemas.openxmlformats.org/drawingml/2006/main" cx="11049000" cy="2047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381500"/>
                <a:gridCol w="4381500"/>
              </a:tblGrid>
              <a:tr h="3333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例子：部署 Qwen3-8B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T4 上怎么做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910B 上怎么做</a:t>
                      </a:r>
                    </a:p>
                  </a:txBody>
                  <a:tcPr marL="95250" marR="76200" marT="0" marB="0" anchor="ctr">
                    <a:solidFill>
                      <a:srgbClr val="12304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先准备运行环境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安装 NVIDIA 驱动，使用 CUDA 镜像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镜像内装匹配的 PyTorch 和 vLLM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安装 NPU 驱动与固件，使用 CANN 镜像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装匹配的 torch_npu、vLLM 和 Ascend 插件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为什么不能直接照搬？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先选 FP16、小上下文、单卡试跑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8B 权重约 16GB，另需 KV 缓存，可能放不下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CUDA 镜像不能直接用，需换昇腾后端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还要核对该模型的算子和精度是否受支持</a:t>
                      </a:r>
                    </a:p>
                  </a:txBody>
                  <a:tcPr marL="95250" marR="76200" marT="0" marB="0" anchor="ctr">
                    <a:solidFill>
                      <a:srgbClr val="EDF4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怎么知道真的能用？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若显存不足，选受支持的量化或多卡方案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同一组问题检查答案，再测并发与响应时间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先检查答案与显存，再测多卡通信和并发</a:t>
                      </a:r>
                    </a:p>
                    <a:p>
                      <a:r>
                        <a:rPr sz="1425" b="0">
                          <a:solidFill>
                            <a:srgbClr val="233D5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容器能启动、能识别卡，都不算模型验收</a:t>
                      </a:r>
                    </a:p>
                  </a:txBody>
                  <a:tcPr marL="95250" marR="76200" marT="0" marB="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B373FA-3BFB-490A-948D-EC24677C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62575"/>
            <a:ext cx="1101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08E9C"/>
                </a:solidFill>
                <a:latin typeface="Arial Unicode MS"/>
                <a:ea typeface="Arial Unicode MS"/>
                <a:cs typeface="Arial Unicode MS"/>
              </a:rPr>
              <a:t>结论：同一个模型，两套软件环境；能加载、答得对、速度达标，才算部署通过。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EE9D8-59D1-4D14-9D9C-BC274DC7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29300"/>
            <a:ext cx="11010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官方依据：[1] GPU Operator  [3] MindCluster  [4] torch_npu 配套  [5–6] vLLM 硬件 / 量化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F76DD4-34DB-442D-9D31-34C679F6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10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67B89"/>
                </a:solidFill>
                <a:latin typeface="Arial Unicode MS"/>
                <a:ea typeface="Arial Unicode MS"/>
                <a:cs typeface="Arial Unicode MS"/>
              </a:rPr>
              <a:t>[7–8] vLLM Ascend 安装 / 模型矩阵  [9–10] SGLang 安装 / Ascend 模型表   完整链接见备注与参考文档</a:t>
            </a:r>
          </a:p>
        </p:txBody>
      </p:sp>
    </p:spTree>
    <p:extLst>
      <p:ext uri="{BB962C8B-B14F-4D97-AF65-F5344CB8AC3E}">
        <p14:creationId xmlns:p14="http://schemas.microsoft.com/office/powerpoint/2010/main" val="12696686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2026-09-16T07:01:23.0260000Z</dcterms:created>
  <dcterms:modified xsi:type="dcterms:W3CDTF">2026-09-16T07:01:23.0260000Z</dcterms:modified>
</coreProperties>
</file>