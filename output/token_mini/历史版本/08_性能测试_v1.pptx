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66" r:id="R609b9f8f7c8d4498"/>
    <p:sldId xmlns:r="http://schemas.openxmlformats.org/officeDocument/2006/relationships" id="267" r:id="Rb8b430f1fe904c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609b9f8f7c8d4498" /><Relationship Type="http://schemas.openxmlformats.org/officeDocument/2006/relationships/slide" Target="/ppt/slides/slide2.xml" Id="Rb8b430f1fe904c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a7ac1c135f4d86" /><Relationship Type="http://schemas.openxmlformats.org/officeDocument/2006/relationships/notesMaster" Target="/ppt/notesMasters/notesMaster1.xml" Id="Rdc00725ea0f14a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f5b7e8802c4c64" /><Relationship Type="http://schemas.openxmlformats.org/officeDocument/2006/relationships/notesMaster" Target="/ppt/notesMasters/notesMaster1.xml" Id="R7e9621fef9224e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完整压测脚本模板（未执行）：</a:t>
            </a:r>
          </a:p>
          <a:p xmlns:a="http://schemas.openxmlformats.org/drawingml/2006/main">
            <a:r>
              <a:t>#!/usr/bin/env bash</a:t>
            </a:r>
          </a:p>
          <a:p xmlns:a="http://schemas.openxmlformats.org/drawingml/2006/main">
            <a:r>
              <a:t># Text-service benchmark template; not executed against any service during PPT creation.</a:t>
            </a:r>
          </a:p>
          <a:p xmlns:a="http://schemas.openxmlformats.org/drawingml/2006/main">
            <a:r>
              <a:t># CLI reference: vLLM 0.27.0. Pin the client and verify --help before use.</a:t>
            </a:r>
          </a:p>
          <a:p xmlns:a="http://schemas.openxmlformats.org/drawingml/2006/main">
            <a:r>
              <a:t>set -euo pipefail</a:t>
            </a:r>
          </a:p>
          <a:p xmlns:a="http://schemas.openxmlformats.org/drawingml/2006/main">
            <a:r>
              <a:t>: "${MODEL:?Set MODEL to the deployed service model ID}"</a:t>
            </a:r>
          </a:p>
          <a:p xmlns:a="http://schemas.openxmlformats.org/drawingml/2006/main">
            <a:r>
              <a:t>: "${TOKENIZER:?Set TOKENIZER to the matching local tokenizer path or ID}"</a:t>
            </a:r>
          </a:p>
          <a:p xmlns:a="http://schemas.openxmlformats.org/drawingml/2006/main">
            <a:r>
              <a:t>BENCH_URL="${BENCH_URL:-http://127.0.0.1:8000}"</a:t>
            </a:r>
          </a:p>
          <a:p xmlns:a="http://schemas.openxmlformats.org/drawingml/2006/main">
            <a:r>
              <a:t>BENCH_DIR="${BENCH_DIR:-./benchmark-results-$(date +%Y%m%d-%H%M%S)}"</a:t>
            </a:r>
          </a:p>
          <a:p xmlns:a="http://schemas.openxmlformats.org/drawingml/2006/main">
            <a:r>
              <a:t>BENCH_PROMPTS="${BENCH_PROMPTS:-500}"</a:t>
            </a:r>
          </a:p>
          <a:p xmlns:a="http://schemas.openxmlformats.org/drawingml/2006/main">
            <a:r>
              <a:t>mkdir -p "$BENCH_DIR"</a:t>
            </a:r>
          </a:p>
          <a:p xmlns:a="http://schemas.openxmlformats.org/drawingml/2006/main">
            <a:r>
              <a:t>vllm --version &gt; "$BENCH_DIR/client-version.txt"</a:t>
            </a:r>
          </a:p>
          <a:p xmlns:a="http://schemas.openxmlformats.org/drawingml/2006/main">
            <a:r>
              <a:t>vllm bench serve --help &gt; "$BENCH_DIR/client-help.txt"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Initial exploration only. Small-sample P99 is not a stable SLA estimate.</a:t>
            </a:r>
          </a:p>
          <a:p xmlns:a="http://schemas.openxmlformats.org/drawingml/2006/main">
            <a:r>
              <a:t># No cache-hit claim: repeat-prefix workloads and server usage evidence are separate.</a:t>
            </a:r>
          </a:p>
          <a:p xmlns:a="http://schemas.openxmlformats.org/drawingml/2006/main">
            <a:r>
              <a:t>for lengths in '256 128' '1024 128' '256 512' '1024 512'; do</a:t>
            </a:r>
          </a:p>
          <a:p xmlns:a="http://schemas.openxmlformats.org/drawingml/2006/main">
            <a:r>
              <a:t>  read -r input_len output_len &lt;&lt;&lt; "$lengths"</a:t>
            </a:r>
          </a:p>
          <a:p xmlns:a="http://schemas.openxmlformats.org/drawingml/2006/main">
            <a:r>
              <a:t>  for concurrency in 1 2 4 8 16 32; do</a:t>
            </a:r>
          </a:p>
          <a:p xmlns:a="http://schemas.openxmlformats.org/drawingml/2006/main">
            <a:r>
              <a:t>    for repeat in 1 2 3; do</a:t>
            </a:r>
          </a:p>
          <a:p xmlns:a="http://schemas.openxmlformats.org/drawingml/2006/main">
            <a:r>
              <a:t>      vllm bench serve \</a:t>
            </a:r>
          </a:p>
          <a:p xmlns:a="http://schemas.openxmlformats.org/drawingml/2006/main">
            <a:r>
              <a:t>        --backend openai --endpoint /v1/completions \</a:t>
            </a:r>
          </a:p>
          <a:p xmlns:a="http://schemas.openxmlformats.org/drawingml/2006/main">
            <a:r>
              <a:t>        --base-url "$BENCH_URL" --model "$MODEL" --tokenizer "$TOKENIZER" \</a:t>
            </a:r>
          </a:p>
          <a:p xmlns:a="http://schemas.openxmlformats.org/drawingml/2006/main">
            <a:r>
              <a:t>        --dataset-name random --input-len "$input_len" --output-len "$output_len" \</a:t>
            </a:r>
          </a:p>
          <a:p xmlns:a="http://schemas.openxmlformats.org/drawingml/2006/main">
            <a:r>
              <a:t>        --num-prompts "$BENCH_PROMPTS" --num-warmups 20 \</a:t>
            </a:r>
          </a:p>
          <a:p xmlns:a="http://schemas.openxmlformats.org/drawingml/2006/main">
            <a:r>
              <a:t>        --max-concurrency "$concurrency" --request-rate inf \</a:t>
            </a:r>
          </a:p>
          <a:p xmlns:a="http://schemas.openxmlformats.org/drawingml/2006/main">
            <a:r>
              <a:t>        --percentile-metrics ttft,tpot,itl,e2el --metric-percentiles 50,95,99 \</a:t>
            </a:r>
          </a:p>
          <a:p xmlns:a="http://schemas.openxmlformats.org/drawingml/2006/main">
            <a:r>
              <a:t>        --save-result --save-detailed --result-dir "$BENCH_DIR" \</a:t>
            </a:r>
          </a:p>
          <a:p xmlns:a="http://schemas.openxmlformats.org/drawingml/2006/main">
            <a:r>
              <a:t>        --result-filename "in${input_len}-out${output_len}-c${concurrency}-r${repeat}.json"</a:t>
            </a:r>
          </a:p>
          <a:p xmlns:a="http://schemas.openxmlformats.org/drawingml/2006/main">
            <a:r>
              <a:t>    done</a:t>
            </a:r>
          </a:p>
          <a:p xmlns:a="http://schemas.openxmlformats.org/drawingml/2006/main">
            <a:r>
              <a:t>  done</a:t>
            </a:r>
          </a:p>
          <a:p xmlns:a="http://schemas.openxmlformats.org/drawingml/2006/main">
            <a:r>
              <a:t>done</a:t>
            </a:r>
          </a:p>
          <a:p xmlns:a="http://schemas.openxmlformats.org/drawingml/2006/main">
            <a:r>
              <a:t># Run a separate arrival-rate experiment by replacing inf with chosen rates.</a:t>
            </a:r>
          </a:p>
          <a:p xmlns:a="http://schemas.openxmlformats.org/drawingml/2006/main">
            <a:r>
              <a:t># Preserve actual arrival rate, errors, duration, sample counts and server telemetry.</a:t>
            </a:r>
          </a:p>
          <a:p xmlns:a="http://schemas.openxmlformats.org/drawingml/2006/main">
            <a:r>
              <a:t># For authenticated/chat-only endpoints, adapt the backend, endpoint, template and</a:t>
            </a:r>
          </a:p>
          <a:p xmlns:a="http://schemas.openxmlformats.org/drawingml/2006/main">
            <a:r>
              <a:t># authentication using the installed client's help before running this script.</a:t>
            </a:r>
          </a:p>
          <a:p xmlns:a="http://schemas.openxmlformats.org/drawingml/2006/main">
            <a:r>
              <a:t># request_goodput is requests/s. Aggregate qualified input/output/cache tokens</a:t>
            </a:r>
          </a:p>
          <a:p xmlns:a="http://schemas.openxmlformats.org/drawingml/2006/main">
            <a:r>
              <a:t># separately, using the same request set and time window, before revenue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官方参数依据：https://docs.vllm.ai/en/v0.27.0/cli/bench/serve/</a:t>
            </a:r>
          </a:p>
          <a:p xmlns:a="http://schemas.openxmlformats.org/drawingml/2006/main">
            <a:r>
              <a:t>查询日期：2026-09-16。缓存命中另用重复前缀工作负载并核对服务端实际计数。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TPOT仅用于输出Token数≥2的样本，stream chunk不等于Token。统计所有请求错误与超时，分位数记录样本量。合格Token/s采用事先约定的合格请求集合，质量门槛不能仅靠客户端耗时替代。输入总数=命中+未命中（按约定计费边界）。client request_goodput为满足SLO请求数/秒，不能直接代入Token公式；输出吞吐是实际输出Token/秒。单卡吞吐不线性外推48卡，分别实测资源池和MASS入口。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metrics: https://docs.vllm.ai/en/latest/api/vllm/benchmarks/serve/</a:t>
            </a:r>
          </a:p>
          <a:p xmlns:a="http://schemas.openxmlformats.org/drawingml/2006/main">
            <a:r>
              <a:t>bench: https://docs.vllm.ai/en/v0.27.0/cli/bench/serve/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493f9db294151" /><Relationship Type="http://schemas.openxmlformats.org/officeDocument/2006/relationships/notesSlide" Target="/ppt/notesSlides/notesSlide1.xml" Id="Re8435df9912d4d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c0f41c10f4011" /><Relationship Type="http://schemas.openxmlformats.org/officeDocument/2006/relationships/notesSlide" Target="/ppt/notesSlides/notesSlide2.xml" Id="R7c3c021dda6c43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32CC-8E2B-4436-8900-3899181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CE9AB-4040-4BCC-9D11-74D7040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压测设计：分别扫描并发与请求到达率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A8B85-2526-4002-B348-8D69614D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先固定模型、任务规格和服务目标，再从单实例扩到资源池和平台入口。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F36FA-BB39-4B09-9370-669C3F1C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7025A-E7D1-47F3-B053-CC6BE712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537FB-7A1E-4784-9AC5-22966FFF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3C131-220A-4723-AE5B-8DBE0CAB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90725"/>
            <a:ext cx="274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并发初探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DEDBB-C4E3-4F9D-9A8A-CC4230CB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1 / 2 / 4 / 8 / 16 / 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B9CBF-6782-480E-BAA5-BA308891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25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四类输入输出组合，分别测试未命中与重复前缀。边界未出现时继续加压。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42077-597D-4197-8328-8AEE080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5817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vllm bench serve --backend openai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--model &lt;服务模型&gt; --base-url &lt;地址&gt;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--max-concurrency 8 --request-rate inf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--save-result --save-detailed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EB0F8-66AA-4ED8-8CC8-AFD8EA3C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861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执行与记录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BF1E4-CE06-440C-82D7-D02817A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00475"/>
            <a:ext cx="38385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预热后至少重复 3 次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记录样本数和测试窗口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保留实际到达率与错误率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检查客户端和接入层瓶颈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2D86F-C9DA-4297-958E-AFFB25A5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完整可复制脚本在备注及随附文件。示例参数是初探设定，正式阈值由平台需求确定。</a:t>
            </a:r>
          </a:p>
        </p:txBody>
      </p:sp>
    </p:spTree>
    <p:extLst>
      <p:ext uri="{BB962C8B-B14F-4D97-AF65-F5344CB8AC3E}">
        <p14:creationId xmlns:p14="http://schemas.microsoft.com/office/powerpoint/2010/main" val="1562599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0F047-BE83-4F9E-A5A8-BB1362EE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30653-5462-47D7-B983-DF57A66A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结果判读：服务目标约束下的可售产能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0114F-FB23-4469-A8ED-E513BEB8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结果判读方法：在同一请求集合、同一统计窗口内汇总，当前没有实测结果。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766B8-B393-4B47-9BC0-38E74FB1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A5EDA-7A8E-4107-A748-0C53CF5C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E213E-835D-4DD2-B1B8-82D187EA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85950"/>
                <a:gridCol w="4524375"/>
                <a:gridCol w="46386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计算或判读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对经营测算的影响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/ TPOT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TTFT：发出请求到首 Token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TPOT：(末到达时刻−首到达时刻)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÷ (输出 Token 数−1)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含排队与网络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纯 Prefill 耗时需服务端 trace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并发与吞吐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报告实际并发、到达率、成功率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输入/输出 Token 数 ÷ 窗口秒数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选择满足服务目标的稳定负载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避免只取无约束峰值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计费 Token/s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同一窗口分别汇总合格输出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未命中输入、命中输入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request_goodput 单位是请求/s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缓存块数需映射为计费 Token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 / Wan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检测质量＋图片/帧吞吐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视频质量＋任务数/小时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按任务规格单独计价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不套文本 Token 指标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09FE7-8FC3-4252-A8E1-59F09B40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产能交付表应绑定模型版本、卡数、任务规格、SLO、样本数和原始用量证据。</a:t>
            </a:r>
          </a:p>
        </p:txBody>
      </p:sp>
    </p:spTree>
    <p:extLst>
      <p:ext uri="{BB962C8B-B14F-4D97-AF65-F5344CB8AC3E}">
        <p14:creationId xmlns:p14="http://schemas.microsoft.com/office/powerpoint/2010/main" val="2079173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