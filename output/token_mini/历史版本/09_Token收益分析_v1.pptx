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68" r:id="Rbbcf52aa98774ebb"/>
    <p:sldId xmlns:r="http://schemas.openxmlformats.org/officeDocument/2006/relationships" id="269" r:id="R6dc3d6c5eaef4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bbcf52aa98774ebb" /><Relationship Type="http://schemas.openxmlformats.org/officeDocument/2006/relationships/slide" Target="/ppt/slides/slide2.xml" Id="R6dc3d6c5eaef4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e8bbac94a642d8" /><Relationship Type="http://schemas.openxmlformats.org/officeDocument/2006/relationships/notesMaster" Target="/ppt/notesMasters/notesMaster1.xml" Id="Rb1b6c8ae0e0040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a2647bc1604356" /><Relationship Type="http://schemas.openxmlformats.org/officeDocument/2006/relationships/notesMaster" Target="/ppt/notesMasters/notesMaster1.xml" Id="R360586048411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原公式完整保留：Decode集群月价值=Decode TGS×30×24×3600×Decode GPU总卡数×Decode单价/1000000×产出率。Prefill非命中与cache各用相应TGS、GPU总卡数、单价及计费产出率。910B资源卡为NPU，N泛指该资源池实际参与卡数。若直接使用集群Token/s则不再乘N。Mini基线Prefill/Decode混合部署，三类产能来自同一工作负载，不相加独立压测峰值。缓存TGS为可计费逻辑命中Token速率，不代表实际执行完整Prefill。η仅反映未在测量中体现的可用性/需求/可计费损失，避免重复打折。市场价格适用deepseek-flash(DeepSeek-V4.1-Flash)，高峰UTC工作日01:00–04:00及06:00–10:00，其余非高峰。公开API美元零售价不是本项目平台采购价，且与首选Qwen3-8B及蒸馏模型不同，不可直接估收入。YOLO按图片/任务，Wan按视频任务或合同单位另算。实际结算=双方认可用量×约定采购价±调整，实际回款以银行凭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price: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令R0是同一模型组合、同币种税口径、固定卡时与负载下以基准采购价计算的月收入，若三类单价同比例乘k且成本不变，则盈亏k*=C/R0；R0=0时无此边界。若收入uRfull、成本F+uV，则u*=F/(Rfull−V)，仅当Rfull&gt;V且u*≤1才存在该区间的盈亏可能。缓存比例改变会影响计费价格和产能，不可只改一个数就声称真实利润。月电量=实测平均kW×小时，机柜10kW不是持续负载。CAPEX与折旧不得同月重复全额计成本。实际T4卡时在文本/检测/视频间分配，总和不超过48张×可用时间。利润、应收与回款分别记录；共享CPU机柜已有资源按项目分摊，避免重复新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cb9370c8c4baa" /><Relationship Type="http://schemas.openxmlformats.org/officeDocument/2006/relationships/notesSlide" Target="/ppt/notesSlides/notesSlide1.xml" Id="R597986483fb940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716f2d5934448" /><Relationship Type="http://schemas.openxmlformats.org/officeDocument/2006/relationships/notesSlide" Target="/ppt/notesSlides/notesSlide2.xml" Id="R5a41b37c48144e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A2E32-F7D8-4EB8-B476-3F0DE640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986D0-EDA8-42CB-9C84-265154EC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产能估值：三类 Token 分别计算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70DCE-52CD-497F-85EB-412CAAB3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以下为产能计算口径。S = 30×24×3600 = 2,592,000 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8822A-D312-4313-A0AC-C94A6D3A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E8D8B-7AA9-4B32-BC1D-9AEE4EB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ED360-DDBA-4F6D-A609-D47682D7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93849-3DE1-4069-9593-F3C9871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71675"/>
            <a:ext cx="110013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Decode 月价值 = TGSout × S × Nout × Pout ÷ 10⁶ × ηout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未命中 Prefill 月价值 = TGSunc × S × Nunc × Punc ÷ 10⁶ × ηunc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命中 Prefill 月价值 = TGScache × S × Ncache × Pcache ÷ 10⁶ × ηcache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3724275"/>
          <a:ext xmlns:a="http://schemas.openxmlformats.org/drawingml/2006/main" cx="11049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76900"/>
                <a:gridCol w="1638300"/>
                <a:gridCol w="2047875"/>
                <a:gridCol w="168592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公开市场参照（USD / 百万 Token）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高峰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1.20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非高峰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0.15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0.003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28779-8D4B-4D4B-803F-F09B6ECC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价格查询：2026-09-16，仅作市场参照。该 API 与本台候选并非同一模型，不能代入报价。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54F5B-AC4A-4D36-82BF-9E70816C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TGS 按单卡才乘卡数；混合部署三类速率共用同一负载，已含损耗时不再乘同一 η。</a:t>
            </a:r>
          </a:p>
        </p:txBody>
      </p:sp>
    </p:spTree>
    <p:extLst>
      <p:ext uri="{BB962C8B-B14F-4D97-AF65-F5344CB8AC3E}">
        <p14:creationId xmlns:p14="http://schemas.microsoft.com/office/powerpoint/2010/main" val="673225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CE07-177F-47EC-8F5E-DB515519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BF7D5-FCEB-46D2-BFD0-7C75C33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经济性判断：增量收支、全成本与盈亏边界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D5B05-EFDF-4EAF-B1F9-A9461750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缺少实测产能、采购价与成本，当前能够给出盈亏条件，不能给出确定利润。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692B2-F1BA-4761-AA15-D463AF08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D199C-CA6D-41A6-9B75-906A5046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90247-04B5-4FDC-A8A9-315A2553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E7A23-B67A-474E-ABDB-113441A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月经营结果 = 文本收入＋检测收入＋视频收入−项目成本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2876550"/>
          <a:ext xmlns:a="http://schemas.openxmlformats.org/drawingml/2006/main" cx="110490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324475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决策视角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纳入成本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能回答的问题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按实际承担范围计入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已有设备试供给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增量成本＋折旧/租赁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既有通算和机柜的约定分摊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持续经营与后续扩容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是否具备经济性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231B9-8CC5-4A82-A9EC-27B036BD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盈亏边界：固定业务组合时，采购价系数 k* = 月成本 ÷ 基准月收入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2818A-A829-4923-AE4E-81CBF5B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采购价、需求利用、缓存比例和卡时分配分别做敏感性分析，资源重分配后需重测产能。</a:t>
            </a:r>
          </a:p>
        </p:txBody>
      </p:sp>
    </p:spTree>
    <p:extLst>
      <p:ext uri="{BB962C8B-B14F-4D97-AF65-F5344CB8AC3E}">
        <p14:creationId xmlns:p14="http://schemas.microsoft.com/office/powerpoint/2010/main" val="1074867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