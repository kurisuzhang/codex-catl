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76" d="100"/>
          <a:sy n="76" d="100"/>
        </p:scale>
        <p:origin x="10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6279329B-1F71-4BB2-BB1A-DEC3DF6E3E10}"/>
              </a:ext>
            </a:extLst>
          </p:cNvPr>
          <p:cNvSpPr>
            <a:spLocks noGrp="1"/>
          </p:cNvSpPr>
          <p:nvPr/>
        </p:nvSpPr>
        <p:spPr>
          <a:xfrm>
            <a:off x="723900" y="38100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75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工作进展汇报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31823A-1393-40DF-936D-0BC56F731106}"/>
              </a:ext>
            </a:extLst>
          </p:cNvPr>
          <p:cNvSpPr>
            <a:spLocks noGrp="1"/>
          </p:cNvSpPr>
          <p:nvPr/>
        </p:nvSpPr>
        <p:spPr>
          <a:xfrm>
            <a:off x="742950" y="1057275"/>
            <a:ext cx="1333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rPr>
              <a:t>Token 实验台报告、移动服务器租赁与 P8000 测试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B04C42-AF6D-4D94-B1BD-EB5B7739E3BC}"/>
              </a:ext>
            </a:extLst>
          </p:cNvPr>
          <p:cNvSpPr>
            <a:spLocks noGrp="1"/>
          </p:cNvSpPr>
          <p:nvPr/>
        </p:nvSpPr>
        <p:spPr>
          <a:xfrm>
            <a:off x="742950" y="182880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D651AF-FD18-49C7-8838-E9AE85A53221}"/>
              </a:ext>
            </a:extLst>
          </p:cNvPr>
          <p:cNvSpPr>
            <a:spLocks noGrp="1"/>
          </p:cNvSpPr>
          <p:nvPr/>
        </p:nvSpPr>
        <p:spPr>
          <a:xfrm>
            <a:off x="1371600" y="173355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Token 魔方 Mini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C1E64B-5B58-4472-988A-6B6358A2C546}"/>
              </a:ext>
            </a:extLst>
          </p:cNvPr>
          <p:cNvSpPr>
            <a:spLocks noGrp="1"/>
          </p:cNvSpPr>
          <p:nvPr/>
        </p:nvSpPr>
        <p:spPr>
          <a:xfrm>
            <a:off x="1371600" y="2105025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 dirty="0" err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实验台</a:t>
            </a:r>
            <a:r>
              <a:rPr lang="zh-CN" altLang="en-US" sz="2175" b="1" dirty="0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规划</a:t>
            </a:r>
            <a:r>
              <a:rPr sz="2175" b="1" dirty="0" err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报告</a:t>
            </a:r>
            <a:endParaRPr sz="2175" b="1" dirty="0">
              <a:solidFill>
                <a:srgbClr val="18334C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C3CF67-3054-466C-9695-40C763A74B7A}"/>
              </a:ext>
            </a:extLst>
          </p:cNvPr>
          <p:cNvSpPr>
            <a:spLocks noGrp="1"/>
          </p:cNvSpPr>
          <p:nvPr/>
        </p:nvSpPr>
        <p:spPr>
          <a:xfrm>
            <a:off x="1371600" y="2581275"/>
            <a:ext cx="27622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7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rPr>
              <a:t>已完成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AA10E8-1FD5-429B-A968-9D0EEBC2E384}"/>
              </a:ext>
            </a:extLst>
          </p:cNvPr>
          <p:cNvSpPr>
            <a:spLocks noGrp="1"/>
          </p:cNvSpPr>
          <p:nvPr/>
        </p:nvSpPr>
        <p:spPr>
          <a:xfrm>
            <a:off x="4495800" y="1752600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已完成报告梳理，覆盖 Token 生产与平台销售闭环验证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87F3DF-DE68-447D-BF8B-1AF26D4F0163}"/>
              </a:ext>
            </a:extLst>
          </p:cNvPr>
          <p:cNvSpPr>
            <a:spLocks noGrp="1"/>
          </p:cNvSpPr>
          <p:nvPr/>
        </p:nvSpPr>
        <p:spPr>
          <a:xfrm>
            <a:off x="4495800" y="2324100"/>
            <a:ext cx="133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 dirty="0" err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技术验证</a:t>
            </a:r>
            <a:r>
              <a:rPr lang="zh-CN" altLang="en-US" sz="1950" b="1" dirty="0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lang="en-US" altLang="zh-CN" sz="1950" b="1" dirty="0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:</a:t>
            </a:r>
            <a:endParaRPr sz="1950" b="1" dirty="0">
              <a:solidFill>
                <a:srgbClr val="18334C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F42F24-CA72-43B7-9767-2F335CE0FF18}"/>
              </a:ext>
            </a:extLst>
          </p:cNvPr>
          <p:cNvSpPr>
            <a:spLocks noGrp="1"/>
          </p:cNvSpPr>
          <p:nvPr/>
        </p:nvSpPr>
        <p:spPr>
          <a:xfrm>
            <a:off x="6000750" y="2324100"/>
            <a:ext cx="8458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硬件设备、网络拓扑、软件架构、模型适配与部署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45E8F7-C419-4465-AA81-C0D9D6F095CA}"/>
              </a:ext>
            </a:extLst>
          </p:cNvPr>
          <p:cNvSpPr>
            <a:spLocks noGrp="1"/>
          </p:cNvSpPr>
          <p:nvPr/>
        </p:nvSpPr>
        <p:spPr>
          <a:xfrm>
            <a:off x="4495800" y="2762250"/>
            <a:ext cx="133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 dirty="0" err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商业验证</a:t>
            </a:r>
            <a:r>
              <a:rPr lang="zh-CN" altLang="en-US" sz="1950" b="1" dirty="0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lang="en-US" altLang="zh-CN" sz="1950" b="1" dirty="0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:</a:t>
            </a:r>
            <a:endParaRPr sz="1950" b="1" dirty="0">
              <a:solidFill>
                <a:srgbClr val="18334C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52204C-E951-42F1-8E90-7756668C896B}"/>
              </a:ext>
            </a:extLst>
          </p:cNvPr>
          <p:cNvSpPr>
            <a:spLocks noGrp="1"/>
          </p:cNvSpPr>
          <p:nvPr/>
        </p:nvSpPr>
        <p:spPr>
          <a:xfrm>
            <a:off x="6000750" y="2762250"/>
            <a:ext cx="8458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 dirty="0" err="1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性能测试、Token</a:t>
            </a:r>
            <a:r>
              <a:rPr sz="1950" b="0" dirty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950" b="0" dirty="0" err="1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收益分析</a:t>
            </a:r>
            <a:endParaRPr sz="1950" b="0" dirty="0">
              <a:solidFill>
                <a:srgbClr val="364C5D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988B9D-A035-4A94-8F8B-A23D8B1BF5A1}"/>
              </a:ext>
            </a:extLst>
          </p:cNvPr>
          <p:cNvSpPr>
            <a:spLocks noGrp="1"/>
          </p:cNvSpPr>
          <p:nvPr/>
        </p:nvSpPr>
        <p:spPr>
          <a:xfrm>
            <a:off x="742950" y="3768725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94D3CF-5980-4A9C-BF37-4ADE4FB087C2}"/>
              </a:ext>
            </a:extLst>
          </p:cNvPr>
          <p:cNvSpPr>
            <a:spLocks noGrp="1"/>
          </p:cNvSpPr>
          <p:nvPr/>
        </p:nvSpPr>
        <p:spPr>
          <a:xfrm>
            <a:off x="1371600" y="3683000"/>
            <a:ext cx="28098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移动服务器租赁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92F4B3-51B8-4A8B-AD9B-82EA301B1171}"/>
              </a:ext>
            </a:extLst>
          </p:cNvPr>
          <p:cNvSpPr>
            <a:spLocks noGrp="1"/>
          </p:cNvSpPr>
          <p:nvPr/>
        </p:nvSpPr>
        <p:spPr>
          <a:xfrm>
            <a:off x="1371600" y="4216400"/>
            <a:ext cx="27622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7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CN" altLang="en-US" sz="2775" b="1" dirty="0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rPr>
              <a:t>进行中</a:t>
            </a:r>
            <a:endParaRPr sz="2775" b="1" dirty="0">
              <a:solidFill>
                <a:srgbClr val="A97621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BD05392-5224-49CE-850B-9FE110A6129A}"/>
              </a:ext>
            </a:extLst>
          </p:cNvPr>
          <p:cNvSpPr>
            <a:spLocks noGrp="1"/>
          </p:cNvSpPr>
          <p:nvPr/>
        </p:nvSpPr>
        <p:spPr>
          <a:xfrm>
            <a:off x="1371600" y="4778375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 dirty="0" err="1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rPr>
              <a:t>待商务流程初稿</a:t>
            </a:r>
            <a:endParaRPr sz="1725" b="0" dirty="0">
              <a:solidFill>
                <a:srgbClr val="7D8B96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D2EDEE-C6D4-432B-98EC-B3F6C6EA201A}"/>
              </a:ext>
            </a:extLst>
          </p:cNvPr>
          <p:cNvSpPr>
            <a:spLocks noGrp="1"/>
          </p:cNvSpPr>
          <p:nvPr/>
        </p:nvSpPr>
        <p:spPr>
          <a:xfrm>
            <a:off x="4495800" y="3663950"/>
            <a:ext cx="10001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CN" altLang="en-US" sz="2025" b="1" dirty="0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第一阶段确定</a:t>
            </a:r>
            <a:r>
              <a:rPr sz="2025" b="1" dirty="0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 2 </a:t>
            </a:r>
            <a:r>
              <a:rPr sz="2025" b="1" dirty="0" err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台</a:t>
            </a:r>
            <a:r>
              <a:rPr sz="2025" b="1" dirty="0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 910B + 6 </a:t>
            </a:r>
            <a:r>
              <a:rPr sz="2025" b="1" dirty="0" err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台</a:t>
            </a:r>
            <a:r>
              <a:rPr sz="2025" b="1" dirty="0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 NVIDIA T4，待夏</a:t>
            </a:r>
            <a:r>
              <a:rPr lang="zh-CN" altLang="en-US" sz="2025" b="1" dirty="0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昕</a:t>
            </a:r>
            <a:r>
              <a:rPr sz="2025" b="1" dirty="0" err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完成商务流程初稿</a:t>
            </a:r>
            <a:endParaRPr sz="2025" b="1" dirty="0">
              <a:solidFill>
                <a:srgbClr val="18334C"/>
              </a:solidFill>
              <a:latin typeface="Arial Unicode MS"/>
              <a:ea typeface="Arial Unicode MS"/>
              <a:cs typeface="Arial Unicode MS"/>
            </a:endParaRPr>
          </a:p>
        </p:txBody>
      </p:sp>
      <p:graphicFrame>
        <p:nvGraphicFramePr>
          <p:cNvPr id="42" name="表格 41"/>
          <p:cNvGraphicFramePr/>
          <p:nvPr>
            <p:extLst>
              <p:ext uri="{D42A27DB-BD31-4B8C-83A1-F6EECF244321}">
                <p14:modId xmlns:p14="http://schemas.microsoft.com/office/powerpoint/2010/main" val="2484587380"/>
              </p:ext>
            </p:extLst>
          </p:nvPr>
        </p:nvGraphicFramePr>
        <p:xfrm>
          <a:off x="4495800" y="4197350"/>
          <a:ext cx="8096250" cy="1000125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3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</a:t>
                      </a:r>
                    </a:p>
                  </a:txBody>
                  <a:tcPr marL="114300" marR="76200" marT="0" marB="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3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时间</a:t>
                      </a:r>
                    </a:p>
                  </a:txBody>
                  <a:tcPr marL="114300" marR="76200" marT="0" marB="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3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地点</a:t>
                      </a:r>
                    </a:p>
                  </a:txBody>
                  <a:tcPr marL="114300" marR="76200" marT="0" marB="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3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算力资源</a:t>
                      </a:r>
                    </a:p>
                  </a:txBody>
                  <a:tcPr marL="114300" marR="76200" marT="0" marB="0" anchor="ctr"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流程调试期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9/30–10/30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移动漳湾机房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</a:t>
                      </a:r>
                      <a:r>
                        <a:rPr sz="1650" b="0" dirty="0" err="1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台</a:t>
                      </a:r>
                      <a:r>
                        <a:rPr sz="1650" b="0" dirty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910B + 6 </a:t>
                      </a:r>
                      <a:r>
                        <a:rPr sz="1650" b="0" dirty="0" err="1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台</a:t>
                      </a:r>
                      <a:r>
                        <a:rPr sz="1650" b="0" dirty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T4</a:t>
                      </a:r>
                    </a:p>
                    <a:p>
                      <a:r>
                        <a:rPr sz="1650" b="0" dirty="0" err="1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后续迁移至展示期</a:t>
                      </a:r>
                      <a:endParaRPr sz="1650" b="0" dirty="0">
                        <a:solidFill>
                          <a:srgbClr val="364C5D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1E9EC373-F278-4F93-B8F9-3CD10FE4E0D5}"/>
              </a:ext>
            </a:extLst>
          </p:cNvPr>
          <p:cNvSpPr>
            <a:spLocks noGrp="1"/>
          </p:cNvSpPr>
          <p:nvPr/>
        </p:nvSpPr>
        <p:spPr>
          <a:xfrm>
            <a:off x="742950" y="5909735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6DD448-1BF9-4EC2-93E4-27B41606F939}"/>
              </a:ext>
            </a:extLst>
          </p:cNvPr>
          <p:cNvSpPr>
            <a:spLocks noGrp="1"/>
          </p:cNvSpPr>
          <p:nvPr/>
        </p:nvSpPr>
        <p:spPr>
          <a:xfrm>
            <a:off x="1371600" y="5824010"/>
            <a:ext cx="28098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P8000 测试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8FB9879-1F31-4B5C-AF82-52B1A4E60692}"/>
              </a:ext>
            </a:extLst>
          </p:cNvPr>
          <p:cNvSpPr>
            <a:spLocks noGrp="1"/>
          </p:cNvSpPr>
          <p:nvPr/>
        </p:nvSpPr>
        <p:spPr>
          <a:xfrm>
            <a:off x="1371600" y="6357410"/>
            <a:ext cx="27622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77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CN" altLang="en-US" sz="2775" b="1" dirty="0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rPr>
              <a:t>进行中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35B008-4249-47EC-A9F0-DA5F6FF3A85F}"/>
              </a:ext>
            </a:extLst>
          </p:cNvPr>
          <p:cNvSpPr>
            <a:spLocks noGrp="1"/>
          </p:cNvSpPr>
          <p:nvPr/>
        </p:nvSpPr>
        <p:spPr>
          <a:xfrm>
            <a:off x="4495800" y="5804960"/>
            <a:ext cx="10001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 dirty="0" err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已完成一轮初步测试，正在学习并开展细化测试</a:t>
            </a:r>
            <a:r>
              <a:rPr lang="zh-CN" altLang="en-US" sz="2100" b="1" dirty="0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，下星期完成实验报告</a:t>
            </a:r>
            <a:endParaRPr sz="2100" b="1" dirty="0">
              <a:solidFill>
                <a:srgbClr val="18334C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8AA8E3-C09E-4BDF-9C28-48AFF4D47A6A}"/>
              </a:ext>
            </a:extLst>
          </p:cNvPr>
          <p:cNvSpPr>
            <a:spLocks noGrp="1"/>
          </p:cNvSpPr>
          <p:nvPr/>
        </p:nvSpPr>
        <p:spPr>
          <a:xfrm>
            <a:off x="4495800" y="6309785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环境与通信：RDMA 测试、驱动环境验证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A002E0-2151-4C9E-9BDD-405CBF324526}"/>
              </a:ext>
            </a:extLst>
          </p:cNvPr>
          <p:cNvSpPr>
            <a:spLocks noGrp="1"/>
          </p:cNvSpPr>
          <p:nvPr/>
        </p:nvSpPr>
        <p:spPr>
          <a:xfrm>
            <a:off x="4495800" y="666221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模型与推理：模型文件与可用性验证、推理引擎参数确定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8D7AE71-F644-4BE7-98C9-C6FCCD24D859}"/>
              </a:ext>
            </a:extLst>
          </p:cNvPr>
          <p:cNvSpPr>
            <a:spLocks noGrp="1"/>
          </p:cNvSpPr>
          <p:nvPr/>
        </p:nvSpPr>
        <p:spPr>
          <a:xfrm>
            <a:off x="4495800" y="7036861"/>
            <a:ext cx="38481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dirty="0" err="1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性能：LLM</a:t>
            </a:r>
            <a:r>
              <a:rPr sz="1875" b="0" dirty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875" b="0" dirty="0" err="1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吞吐性能测试</a:t>
            </a:r>
            <a:endParaRPr sz="1875" b="0" dirty="0">
              <a:solidFill>
                <a:srgbClr val="364C5D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E08A96-916B-EF77-574C-D45387D74E55}"/>
              </a:ext>
            </a:extLst>
          </p:cNvPr>
          <p:cNvSpPr>
            <a:spLocks noGrp="1"/>
          </p:cNvSpPr>
          <p:nvPr/>
        </p:nvSpPr>
        <p:spPr>
          <a:xfrm>
            <a:off x="1371600" y="6942667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CN" altLang="en-US" sz="1725" b="0" dirty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rPr>
              <a:t>待完成实验报告</a:t>
            </a:r>
            <a:endParaRPr sz="1725" b="0" dirty="0">
              <a:solidFill>
                <a:srgbClr val="7D8B96"/>
              </a:solidFill>
              <a:latin typeface="Arial Unicode MS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4478165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</Words>
  <Application>Microsoft Macintosh PowerPoint</Application>
  <DocSecurity>0</DocSecurity>
  <PresentationFormat>自定义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office</cp:lastModifiedBy>
  <cp:revision>2</cp:revision>
  <dcterms:created xsi:type="dcterms:W3CDTF">2026-09-18T09:36:25Z</dcterms:created>
  <dcterms:modified xsi:type="dcterms:W3CDTF">2026-09-18T09:43:36Z</dcterms:modified>
</cp:coreProperties>
</file>