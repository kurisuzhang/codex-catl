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dd1037b0374c27" /><Relationship Type="http://schemas.openxmlformats.org/officeDocument/2006/relationships/extended-properties" Target="/docProps/app.xml" Id="R679f4ee44a574dde" /><Relationship Type="http://schemas.openxmlformats.org/officeDocument/2006/relationships/officeDocument" Target="/ppt/presentation.xml" Id="R866dcbbef53247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e0f7d7d824cbb"/>
  </p:sldMasterIdLst>
  <p:notesMasterIdLst>
    <p:notesMasterId xmlns:r="http://schemas.openxmlformats.org/officeDocument/2006/relationships" r:id="R0a43ac2bf1d941aa"/>
  </p:notesMasterIdLst>
  <p:sldIdLst>
    <p:sldId xmlns:r="http://schemas.openxmlformats.org/officeDocument/2006/relationships" id="256" r:id="R894e2ae4099e4274"/>
    <p:sldId xmlns:r="http://schemas.openxmlformats.org/officeDocument/2006/relationships" id="257" r:id="R335552a4f3374dc8"/>
    <p:sldId xmlns:r="http://schemas.openxmlformats.org/officeDocument/2006/relationships" id="258" r:id="R98847470a6314f37"/>
    <p:sldId xmlns:r="http://schemas.openxmlformats.org/officeDocument/2006/relationships" id="259" r:id="R36c2b23c72084704"/>
    <p:sldId xmlns:r="http://schemas.openxmlformats.org/officeDocument/2006/relationships" id="260" r:id="Ree737f03a4a540ce"/>
    <p:sldId xmlns:r="http://schemas.openxmlformats.org/officeDocument/2006/relationships" id="261" r:id="R6944f0a591154156"/>
    <p:sldId xmlns:r="http://schemas.openxmlformats.org/officeDocument/2006/relationships" id="262" r:id="R2c1cc5b5a62e4be3"/>
    <p:sldId xmlns:r="http://schemas.openxmlformats.org/officeDocument/2006/relationships" id="263" r:id="R6e84a09158bc4679"/>
    <p:sldId xmlns:r="http://schemas.openxmlformats.org/officeDocument/2006/relationships" id="264" r:id="R6255b14943484549"/>
    <p:sldId xmlns:r="http://schemas.openxmlformats.org/officeDocument/2006/relationships" id="265" r:id="Re0b7f80afad8433c"/>
    <p:sldId xmlns:r="http://schemas.openxmlformats.org/officeDocument/2006/relationships" id="266" r:id="R766b0f7ad92d4c4f"/>
    <p:sldId xmlns:r="http://schemas.openxmlformats.org/officeDocument/2006/relationships" id="267" r:id="R9a4a689892da4357"/>
    <p:sldId xmlns:r="http://schemas.openxmlformats.org/officeDocument/2006/relationships" id="268" r:id="R1deeef74701543ea"/>
    <p:sldId xmlns:r="http://schemas.openxmlformats.org/officeDocument/2006/relationships" id="269" r:id="Rfda6113e8eae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63550f3e934c35" /><Relationship Type="http://schemas.openxmlformats.org/officeDocument/2006/relationships/slideMaster" Target="/ppt/slideMasters/slideMaster1.xml" Id="R111e0f7d7d824cbb" /><Relationship Type="http://schemas.openxmlformats.org/officeDocument/2006/relationships/notesMaster" Target="/ppt/notesMasters/notesMaster1.xml" Id="R0a43ac2bf1d941aa" /><Relationship Type="http://schemas.openxmlformats.org/officeDocument/2006/relationships/presProps" Target="/ppt/presProps.xml" Id="R336036bb22214220" /><Relationship Type="http://schemas.openxmlformats.org/officeDocument/2006/relationships/tableStyles" Target="/ppt/tableStyles.xml" Id="Rfef8df8dae7b407e" /><Relationship Type="http://schemas.openxmlformats.org/officeDocument/2006/relationships/slide" Target="/ppt/slides/slide1.xml" Id="R894e2ae4099e4274" /><Relationship Type="http://schemas.openxmlformats.org/officeDocument/2006/relationships/slide" Target="/ppt/slides/slide2.xml" Id="R335552a4f3374dc8" /><Relationship Type="http://schemas.openxmlformats.org/officeDocument/2006/relationships/slide" Target="/ppt/slides/slide3.xml" Id="R98847470a6314f37" /><Relationship Type="http://schemas.openxmlformats.org/officeDocument/2006/relationships/slide" Target="/ppt/slides/slide4.xml" Id="R36c2b23c72084704" /><Relationship Type="http://schemas.openxmlformats.org/officeDocument/2006/relationships/slide" Target="/ppt/slides/slide5.xml" Id="Ree737f03a4a540ce" /><Relationship Type="http://schemas.openxmlformats.org/officeDocument/2006/relationships/slide" Target="/ppt/slides/slide6.xml" Id="R6944f0a591154156" /><Relationship Type="http://schemas.openxmlformats.org/officeDocument/2006/relationships/slide" Target="/ppt/slides/slide7.xml" Id="R2c1cc5b5a62e4be3" /><Relationship Type="http://schemas.openxmlformats.org/officeDocument/2006/relationships/slide" Target="/ppt/slides/slide8.xml" Id="R6e84a09158bc4679" /><Relationship Type="http://schemas.openxmlformats.org/officeDocument/2006/relationships/slide" Target="/ppt/slides/slide9.xml" Id="R6255b14943484549" /><Relationship Type="http://schemas.openxmlformats.org/officeDocument/2006/relationships/slide" Target="/ppt/slides/slide10.xml" Id="Re0b7f80afad8433c" /><Relationship Type="http://schemas.openxmlformats.org/officeDocument/2006/relationships/slide" Target="/ppt/slides/slide11.xml" Id="R766b0f7ad92d4c4f" /><Relationship Type="http://schemas.openxmlformats.org/officeDocument/2006/relationships/slide" Target="/ppt/slides/slide12.xml" Id="R9a4a689892da4357" /><Relationship Type="http://schemas.openxmlformats.org/officeDocument/2006/relationships/slide" Target="/ppt/slides/slide13.xml" Id="R1deeef74701543ea" /><Relationship Type="http://schemas.openxmlformats.org/officeDocument/2006/relationships/slide" Target="/ppt/slides/slide14.xml" Id="Rfda6113e8eae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ec8bc2cea4a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6c9fb394447a8" /><Relationship Type="http://schemas.openxmlformats.org/officeDocument/2006/relationships/notesMaster" Target="/ppt/notesMasters/notesMaster1.xml" Id="Rd49bf87b0e0448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0dfe2ca17643bc" /><Relationship Type="http://schemas.openxmlformats.org/officeDocument/2006/relationships/notesMaster" Target="/ppt/notesMasters/notesMaster1.xml" Id="R44e50087702c4e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1b69bd065a4dc9" /><Relationship Type="http://schemas.openxmlformats.org/officeDocument/2006/relationships/notesMaster" Target="/ppt/notesMasters/notesMaster1.xml" Id="R62cbc0c1bbe347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23f2ac1d943a4" /><Relationship Type="http://schemas.openxmlformats.org/officeDocument/2006/relationships/notesMaster" Target="/ppt/notesMasters/notesMaster1.xml" Id="Rb4c9e52de8d54e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c3338893f473d" /><Relationship Type="http://schemas.openxmlformats.org/officeDocument/2006/relationships/notesMaster" Target="/ppt/notesMasters/notesMaster1.xml" Id="R4ed66bbc0ff0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e700c5731f43ca" /><Relationship Type="http://schemas.openxmlformats.org/officeDocument/2006/relationships/notesMaster" Target="/ppt/notesMasters/notesMaster1.xml" Id="R98c14021164f4e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bb8d0d311d4887" /><Relationship Type="http://schemas.openxmlformats.org/officeDocument/2006/relationships/notesMaster" Target="/ppt/notesMasters/notesMaster1.xml" Id="R895763fe1d1d4e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e0788b58034a95" /><Relationship Type="http://schemas.openxmlformats.org/officeDocument/2006/relationships/notesMaster" Target="/ppt/notesMasters/notesMaster1.xml" Id="Rff45b4b7ecef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92fd31c4f2467a" /><Relationship Type="http://schemas.openxmlformats.org/officeDocument/2006/relationships/notesMaster" Target="/ppt/notesMasters/notesMaster1.xml" Id="R4e75cc7e172241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4e4248f7ca49c1" /><Relationship Type="http://schemas.openxmlformats.org/officeDocument/2006/relationships/notesMaster" Target="/ppt/notesMasters/notesMaster1.xml" Id="R66fc09607e194b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1496953402413a" /><Relationship Type="http://schemas.openxmlformats.org/officeDocument/2006/relationships/notesMaster" Target="/ppt/notesMasters/notesMaster1.xml" Id="R9a8d6f43bfd9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7f9ddb8b344aa5" /><Relationship Type="http://schemas.openxmlformats.org/officeDocument/2006/relationships/notesMaster" Target="/ppt/notesMasters/notesMaster1.xml" Id="R756a0b88682a49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8cccb73abd4f3f" /><Relationship Type="http://schemas.openxmlformats.org/officeDocument/2006/relationships/notesMaster" Target="/ppt/notesMasters/notesMaster1.xml" Id="Rd9f34c1098a94c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1da35c87154c30" /><Relationship Type="http://schemas.openxmlformats.org/officeDocument/2006/relationships/notesMaster" Target="/ppt/notesMasters/notesMaster1.xml" Id="R1ebb0a53a77c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汇报范围：文本推理与 Token 输出。每台服务器8卡，910B按64GB/卡方案测算，T4按16GB/卡。14页包含封面及2页附录。全部吞吐结论留待租赁交付机器实测。封面产品参考图来自NVIDIA，卡片外观不代表服务器整机。</a:t>
            </a:r>
          </a:p>
          <a:p xmlns:a="http://schemas.openxmlformats.org/drawingml/2006/main">
            <a:r>
              <a:t>图片：https://www.nvidia.com/content/dam/en-zz/Solutions/Data-Center/tesla-t4/t4-inference-page-t4-banner-2560-u.jpg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：2×8×64=1024GB，4至6×8×16=512至768GB。单节点显存512GB与128GB。图为容量对比，不代表算力或吞吐倍数。异构卡不能直接组成一个通用张量并行实例。GB按厂商标称口径列示，实际可用容量以设备工具为准。采购前必须确认910B具体板卡和显存，不可只写910B型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服务器必须包含可用系统盘、模型盘、网络端口、所需交换机与光模块、机房供电散热、远程管理及运维支持。NVMe容量按原始权重、转换权重、下载缓存和日志共同规划。Atlas800I A2官方配置有4颗Kunpeng920、32个DDR4槽、8个200GE RoCE端口；实际租赁机箱可能不同，应以BOM和现场工具为准。200GbE不能只确认一个管理口，需核验每个NPU对外链路、交换机无阻塞情况和RDMA配置。冗余电源额定总功率不能当整机运行功耗。</a:t>
            </a:r>
          </a:p>
          <a:p xmlns:a="http://schemas.openxmlformats.org/drawingml/2006/main">
            <a:r>
              <a:t>图片：https://e-file.huawei.com/marketingcloud/pep/asset/2000000101/images/products/computing/ascend/atlas-800i-a2/banner-bequoted.png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连接均为逻辑部署关系。910B节点之间的线表示可选同构分布式通信，初始27B验证可以每节点独立运行。不要把NVIDIA和Ascend设备混合到同一张量并行组。标准Dense模型的DP通常是独立模型副本，带专家并行的MoE参考部署中DP/EP的含义需要结合引擎实际映射解释，不能简单把4个DP组视为4个完整独立副本。两类资源池统一鉴权、监控和请求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估算采用十进制GB，实际safetensors索引、dtype、未量化模块和运行时装载清单优先于模型名称。DeepSeek-V4.1-Flash原始checkpoint不是BF16，表中16位列仅用于统一容量比较。Qwen3.8-Flash-Next的主干125B与6B激活口径不能代替整体权重容量。Qwen3.8是系列名称，云端Flash/Max服务名也不能直接等同于这里的公开checkpoint。Qwen3-8B另作为设备与引擎冒烟测试，不作为目标版本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ds: https://huggingface.co/deepseek-ai/DeepSeek-V4.1-Flash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运行峰值应在每个rank上分别计算，包括权重、KV cache或循环状态、激活/临时workspace、通信buffer、图捕获和碎片余量，不能只看整池总显存。基础Dense GQA的KV bytes=2×层数×KV头数×head_dim×缓存字节×token总数。以Qwen3-8B配置36层、8KV头、128维、FP16为例，每token144KiB；单序列4096token为576MiB，16条为9GiB，未计分片或复制。GDN、MLA、CSA和CED需按各模型实际缓存实现计算，不能套同一公式。T4上BF16权重转FP16仍需数值回归；硬件INT4支持不等于所有4bit模型格式可直接运行。当前vLLM矩阵明确Turing支持AWQ/GPTQ/Marlin，但Marlin MXFP4除外。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baseconfig: https://huggingface.co/Qwen/Qwen3-8B/raw/main/config.json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910B的2台总标称1024GB不足以装载GLM5.3的1506GB BF16权重，也不足以装载DeepSeek4.1Flash至少1104GB BF16主干。INT8理论容量可能在2节点内，但不足以据此承诺指定上下文和并发可用。GLM文档4A2按脚本DP4×TP8计32张64GB设备。DeepSeek4.1Flash文档同为4A2，每台8×64GB，或者2A3，每台8×128GB物理卡、16个逻辑设备。A3逻辑设备数量不能与A2物理卡数直接对比。当前DeepSeek量化checkpoint在教程中仍写will be published，下载或转换产物是额外先决条件。Qwen27文档基于vLLM-Ascend0.23.0，A2镜像v0.23.0，TP2 W8A8为参考，最初试验主动缩小至4096上下文和并发1。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base: https://huggingface.co/Qwen/Qwen3-8B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3-8B完整16位权重接近或超过单T4显存，应以2卡FP16开始。Qwen27完整约56GB权重，4张T4虽有64GB标称容量但余量偏紧，8卡容量更宽裕，仍必须检查混合架构TP合法性、引擎版本及SM75执行支持。W4A16不是任意模型都能直接用，需匹配量化checkpoint和后端。不能把官方在Blackwell验证的Qwen27配方自动当T4兼容证据。多节点T4可能用更低比特或offload装入部分大模型，但目标是稳定Token产出，不作为首批承诺。FlashAttention2等后端需查具体版本支持，不能强制假定T4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recipe: https://recipes.vllm.ai/Qwen/Qwen3.8-27B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流程顺序01至06。检查点1记录确切repo、commit SHA、许可证、任务类型、权重文件大小与dtype。检查点2算每个rank峰值，不能只看总池。检查点3须有该版本架构以及attention/GDN/MoE/量化kernel的实现，并支持目标芯片。检查点4验证分片整除约束和通信。检查点5不能把服务端口打开或随机权重kernel测试当作成功，应检查真实权重生成、token计数、非NaN/Inf、固定提示词质量及量化前后回归。检查点6在明确工作负载与SLO下实测，结果连同镜像digest和启动参数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为模型仓库页面，不是本项目已运行证明。完整snapshot下载避免缺tokenizer或索引，不只下载某个权重分片。先读取config.architectures、torch_dtype/quantization_config、model.safetensors.index.json，之后选择后端镜像和量化产物。统一记录宿主驱动与运行库版本，NPU不要直接使用CUDA镜像。最新main与模型专用tag未必兼容，需记录image digest与框架commit。先跑短文本且关闭额外推测解码，目标模型的必需专用参数仍按配方保留。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recipe: https://recipes.vllm.ai/Qwen/Qwen3.8-27B</a:t>
            </a:r>
          </a:p>
          <a:p xmlns:a="http://schemas.openxmlformats.org/drawingml/2006/main">
            <a:r>
              <a:t>base: https://huggingface.co/Qwen/Qwen3-8B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TTFT为首Token延迟，TPOT为后续每Token平均时间。聚合输出吞吐取成功请求实际生成completion tokens总数/测试壁钟时间，明确是否含推理Token，不混入输入Token或padding。负载阶梯增加上下文时需同步重新计算显存并配置max_model_len，输出上限可先设256，再评估长生成。排除预热后记录p50/p95、成功率、OOM、设备占用、重试与1小时持续测试。日有效Token可按实测稳态有效输出速率×86400×业务占用率×可用率估算，但如果基准已包含空闲或失败，避免重复折减。每百万有效Token成本=日总费用/(日有效Token/1e6)，费用包括租金、网络、存储与运维。数值均待实测和报价，不提供虚构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base: https://huggingface.co/Qwen/Qwen3-8B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步判断当前配置可以构建中小模型服务池，但不能对三个最新系列的全部大模型统一承诺可用。原计划2台910B和4至6台T4保留为目标规模，建议合同包含样机PoC或分阶段验收，避免在算子兼容未证实前仅按显存总和做采购。目标27B优先利用单机NPU，T4用于成熟较小模型、多副本或额外兼容性实验。大模型推荐4A2或2A3来自参考部署，非最低配置、非吞吐承诺，若更低比特/较短上下文可用可重算。报价比较时固定模型版本、精度、上下文、并发、吞吐和延迟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命令为未执行示例。占位SHA必须替换为真实commit，配套大纲提供自动解析并保存SHA的snapshot_download代码。首个Token验收使用模型真实权重、官方chat template及固定提示词，推荐请求max_tokens128，Qwen3 enable_thinking=false，temperature0。启动服务后在同机请求localhost:8000，检查模型列表和实际回答，再增加请求压力。enforce-eager只降低初始图编译复杂度，生产性能应在正确性验证后对图模式重新测试。目标Qwen3.8-27B、GLM、DeepSeek的启动脚本不能只改这条基线命令的路径，需使用专用模型支持与量化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base: https://huggingface.co/Qwen/Qwen3-8B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资料均使用模型发布方、硬件厂商或推理框架官方文档。各个结论在相关页备注附具体链接。网页latest与模型main会变化，实施时重新核对并固定revision、镜像digest、驱动与运行库版本。验收证据至少包含启动命令、完整依赖清单、代表性请求/响应、每卡内存、通信测试与benchmark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ds: https://huggingface.co/deepseek-ai/DeepSeek-V4.1-Flash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base: https://huggingface.co/Qwen/Qwen3-8B</a:t>
            </a:r>
          </a:p>
          <a:p xmlns:a="http://schemas.openxmlformats.org/drawingml/2006/main">
            <a:r>
              <a:t>baseconfig: https://huggingface.co/Qwen/Qwen3-8B/raw/main/config.json</a:t>
            </a:r>
          </a:p>
          <a:p xmlns:a="http://schemas.openxmlformats.org/drawingml/2006/main">
            <a:r>
              <a:t>recipe: https://recipes.vllm.ai/Qwen/Qwen3.8-27B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17992269b49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e73b127d04290" /><Relationship Type="http://schemas.openxmlformats.org/officeDocument/2006/relationships/slideLayout" Target="/ppt/slideLayouts/slideLayout1.xml" Id="Raf3a4634ea02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3a4634ea02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6637760a14196" /><Relationship Type="http://schemas.openxmlformats.org/officeDocument/2006/relationships/image" Target="/ppt/media/image.jpeg" Id="Rcf431c239b334938" /><Relationship Type="http://schemas.openxmlformats.org/officeDocument/2006/relationships/notesSlide" Target="/ppt/notesSlides/notesSlide1.xml" Id="R9f1b3cf13fbc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213099ded4d9f" /><Relationship Type="http://schemas.openxmlformats.org/officeDocument/2006/relationships/chart" Target="/ppt/slides/charts/chart1.xml" Id="Rb5e21e4e947440b7" /><Relationship Type="http://schemas.openxmlformats.org/officeDocument/2006/relationships/notesSlide" Target="/ppt/notesSlides/notesSlide2.xml" Id="R28ee261d53df48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c8cf5f4f943cc" /><Relationship Type="http://schemas.openxmlformats.org/officeDocument/2006/relationships/image" Target="/ppt/media/image.png" Id="Ra44e2ffccec24db0" /><Relationship Type="http://schemas.openxmlformats.org/officeDocument/2006/relationships/notesSlide" Target="/ppt/notesSlides/notesSlide3.xml" Id="R2c116c5ec0f846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2f0920414a94" /><Relationship Type="http://schemas.openxmlformats.org/officeDocument/2006/relationships/notesSlide" Target="/ppt/notesSlides/notesSlide4.xml" Id="R9671488d4149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ebedd9fbd4c9a" /><Relationship Type="http://schemas.openxmlformats.org/officeDocument/2006/relationships/notesSlide" Target="/ppt/notesSlides/notesSlide5.xml" Id="R55ec5bbc03594c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070405d534313" /><Relationship Type="http://schemas.openxmlformats.org/officeDocument/2006/relationships/notesSlide" Target="/ppt/notesSlides/notesSlide6.xml" Id="R3ca6e487e2c349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62cca38334e72" /><Relationship Type="http://schemas.openxmlformats.org/officeDocument/2006/relationships/notesSlide" Target="/ppt/notesSlides/notesSlide7.xml" Id="Rb49c14d244b2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150453d34b94" /><Relationship Type="http://schemas.openxmlformats.org/officeDocument/2006/relationships/notesSlide" Target="/ppt/notesSlides/notesSlide8.xml" Id="Rcf1c21dfbccc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6daebd22746e0" /><Relationship Type="http://schemas.openxmlformats.org/officeDocument/2006/relationships/notesSlide" Target="/ppt/notesSlides/notesSlide9.xml" Id="R92990dfb824548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7684bfc214438" /><Relationship Type="http://schemas.openxmlformats.org/officeDocument/2006/relationships/image" Target="/ppt/media/image2.jpeg" Id="R1289c0f7ee394371" /><Relationship Type="http://schemas.openxmlformats.org/officeDocument/2006/relationships/notesSlide" Target="/ppt/notesSlides/notesSlide10.xml" Id="Ra38a91ac572e4c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af894fee74a78" /><Relationship Type="http://schemas.openxmlformats.org/officeDocument/2006/relationships/notesSlide" Target="/ppt/notesSlides/notesSlide11.xml" Id="Rb9eb5fc6d6c54f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181467c054eb3" /><Relationship Type="http://schemas.openxmlformats.org/officeDocument/2006/relationships/notesSlide" Target="/ppt/notesSlides/notesSlide12.xml" Id="R8b689bd73fa146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9b79c7c564933" /><Relationship Type="http://schemas.openxmlformats.org/officeDocument/2006/relationships/notesSlide" Target="/ppt/notesSlides/notesSlide13.xml" Id="Rba859b13267b4e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c671341d94da1" /><Relationship Type="http://schemas.openxmlformats.org/officeDocument/2006/relationships/hyperlink" Target="https://e.huawei.com/cn/products/computing/ascend/atlas-800i-a2" TargetMode="External" Id="R7377a73ce872411c" /><Relationship Type="http://schemas.openxmlformats.org/officeDocument/2006/relationships/hyperlink" Target="https://www.nvidia.com/en-us/data-center/tesla-t4/" TargetMode="External" Id="Rd3d51eb72dcd41be" /><Relationship Type="http://schemas.openxmlformats.org/officeDocument/2006/relationships/hyperlink" Target="https://docs.vllm.ai/en/latest/features/quantization/" TargetMode="External" Id="R72d21e9b9e144261" /><Relationship Type="http://schemas.openxmlformats.org/officeDocument/2006/relationships/hyperlink" Target="https://docs.vllm.ai/projects/ascend/en/latest/tutorials/models/Qwen3.8-27B.html" TargetMode="External" Id="Rca203747928849ec" /><Relationship Type="http://schemas.openxmlformats.org/officeDocument/2006/relationships/hyperlink" Target="https://docs.vllm.ai/projects/ascend/en/latest/tutorials/models/GLM5.3.html" TargetMode="External" Id="Rc59dfe88a80f4bdc" /><Relationship Type="http://schemas.openxmlformats.org/officeDocument/2006/relationships/hyperlink" Target="https://docs.vllm.ai/projects/ascend/en/latest/tutorials/models/DeepSeek-V4.1-Flash.html" TargetMode="External" Id="Rca31e593738b4dce" /><Relationship Type="http://schemas.openxmlformats.org/officeDocument/2006/relationships/hyperlink" Target="https://huggingface.co/docs/huggingface_hub/guides/cli" TargetMode="External" Id="Rf21a9fdf05ce4ff7" /><Relationship Type="http://schemas.openxmlformats.org/officeDocument/2006/relationships/notesSlide" Target="/ppt/notesSlides/notesSlide14.xml" Id="R5747cd9debbf40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标称显存 GB</c:v>
          </c:tx>
          <c:spPr>
            <a:solidFill xmlns:a="http://schemas.openxmlformats.org/drawingml/2006/main">
              <a:srgbClr val="148A8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48A8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78C4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910B 8卡</c:v>
                </c:pt>
                <c:pt idx="1">
                  <c:v>T4 8卡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512</c:v>
                </c:pt>
                <c:pt idx="1">
                  <c:v>128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8354C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5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C3092-9F67-4CFB-938E-07E4878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rPr>
              <a:t>算力租赁调研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A2E58-9E88-456F-9469-C995C71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GPU / NPU 服务器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与大模型推理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0EE48-AD61-4464-AF90-CC79D336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rPr>
              <a:t>硬件配置、模型适配与 Token 产出验证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31c239b334938"/>
          <a:stretch xmlns:a="http://schemas.openxmlformats.org/drawingml/2006/main"/>
        </p:blipFill>
        <p:spPr>
          <a:xfrm xmlns:a="http://schemas.openxmlformats.org/drawingml/2006/main">
            <a:off x="0" y="4086225"/>
            <a:ext cx="12192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E5A34-DA7F-44AB-89C2-9532F836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 台昇腾 910B  +  4–6 台 NVIDIA T4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4B337-8C2E-471B-B861-E02152BF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rPr>
              <a:t>租赁方案与验证计划    2026.09.14</a:t>
            </a:r>
          </a:p>
        </p:txBody>
      </p:sp>
    </p:spTree>
    <p:extLst>
      <p:ext uri="{BB962C8B-B14F-4D97-AF65-F5344CB8AC3E}">
        <p14:creationId xmlns:p14="http://schemas.microsoft.com/office/powerpoint/2010/main" val="1422267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5BEDA-54FE-4EB6-9590-102DBB69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  硬件方案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E250C-5DE4-4511-BD67-16126BA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拟租算力与用途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C3BAF-8B61-4BED-B5E6-2D8D30DA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先建立可重复的 Token 生成基线，再决定扩容数量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9A7FC-3C15-490F-9E9B-BC8BFCAD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3A5DB-C666-45F6-9DAA-0512D283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C1FEE-2A55-4C02-A4CA-8392C4D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7350F-8FD2-4435-B2CF-062AB872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昇腾 910B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A9504-7D85-470D-A6D5-2039A5CD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 台  /  16 张 NPU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BF74-79EE-4B7A-BD25-6E06D8A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单机 8 × 64GB = 512GB</a:t>
            </a:r>
          </a:p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两台标称总容量 1,024GB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EF32D-6764-4935-B651-8B361B6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C8FCF-4677-44CD-9898-B7CC88C1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5191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优先验证 Qwen3.8-27B</a:t>
            </a:r>
          </a:p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大模型跨机方案另做验证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CE6F2-C459-4618-924E-F6F3CB83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单台服务器加速卡总显存（GB）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191250" y="2552700"/>
          <a:ext xmlns:a="http://schemas.openxmlformats.org/drawingml/2006/main" cx="5381625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e21e4e947440b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8F615-8E5C-4071-BF3F-EBBB8390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958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T4：4–6 台，32–48 张 GPU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全池 512–768GB，适合小模型多副本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B70EA-691E-400B-8346-0BEDEB6C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容量为标称加总，不是单模型可直接使用的统一显存。来源：NVIDIA T4；910B 按本方案 64GB/卡假设</a:t>
            </a:r>
          </a:p>
        </p:txBody>
      </p:sp>
    </p:spTree>
    <p:extLst>
      <p:ext uri="{BB962C8B-B14F-4D97-AF65-F5344CB8AC3E}">
        <p14:creationId xmlns:p14="http://schemas.microsoft.com/office/powerpoint/2010/main" val="982429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5C53F-BC6E-469F-B21E-48B1844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  硬件方案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E28BC-7292-4A9D-96A0-3168E3AD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完整推理服务器的配置清单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A3203-B596-4759-9369-C827B736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加速卡之外，主机内存、磁盘和互联同样影响模型加载与运行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60CC2-6200-4110-BB89-A4D8B970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141B1-4B52-4AA2-A547-F861BB7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3B2D7-6D39-4064-9E5C-12C58DC1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e2ffccec24db0"/>
          <a:stretch xmlns:a="http://schemas.openxmlformats.org/drawingml/2006/main"/>
        </p:blipFill>
        <p:spPr>
          <a:xfrm xmlns:a="http://schemas.openxmlformats.org/drawingml/2006/main">
            <a:off x="647700" y="2149673"/>
            <a:ext cx="3295650" cy="185380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6DF5D-C52B-493A-84B6-9804EEF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Atlas 800I A2 产品参考图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DD470-1843-4BD4-A3EA-0F50F07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实际租赁机型待供应商确认</a:t>
            </a:r>
          </a:p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表内主机配置为询价起点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191000" y="1943100"/>
          <a:ext xmlns:a="http://schemas.openxmlformats.org/drawingml/2006/main" cx="74295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3019425"/>
                <a:gridCol w="30289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配置项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服务器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服务器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加速卡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64GB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16GB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主机内存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厂家配套 CPU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1–2TB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32–64 物理核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256–512GB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4–8TB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2–4TB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节点间网络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跨机优先 200GbE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RDMA，核对完整链路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副本用 10/25GbE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跨机需单独测通信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交付环境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 / CANN / 容器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设备权限与健康检查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 / CUDA / 容器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PCIe / NUMA 拓扑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7FF24-B4D3-4C1F-B960-054C93AC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图片与整机规格参考：华为 Atlas 800I A2。CPU、RAM、NVMe 和管理网络为本方案建议，不是通用最低要求</a:t>
            </a:r>
          </a:p>
        </p:txBody>
      </p:sp>
    </p:spTree>
    <p:extLst>
      <p:ext uri="{BB962C8B-B14F-4D97-AF65-F5344CB8AC3E}">
        <p14:creationId xmlns:p14="http://schemas.microsoft.com/office/powerpoint/2010/main" val="2062759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D1F35-1EB8-428C-91B6-C17BC11E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  硬件方案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48DBE-D0D0-4308-954B-DE26C785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两类硬件分池服务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52399-0D6C-4719-8F1D-C223D0EC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请求路由统一接入，模型实例在同类硬件内运行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E7B9-8496-47F7-8AC1-A599D3B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63C4D-1FCE-4A26-A9D9-4BEFA0A8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772E5-9405-443A-A45D-9C96104C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27F93-BF44-4A69-A9A2-9605FD8A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业务请求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OpenAI 兼容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73B46-BBBC-42E7-9698-BEA02C8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模型路由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与请求队列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60CDA-A65A-4EB0-8ACC-CE09F9BB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22002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910B 节点 A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75947-AFC6-44B5-82AC-9AB23AF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22002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910B 节点 B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BC3A5-2AD1-4A35-B2D1-B5C74EE9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52925"/>
            <a:ext cx="5000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节点 1…4–6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每台 8 张 GPU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24150" y="3524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238750" y="2647950"/>
            <a:ext cx="125730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38750" y="3524250"/>
            <a:ext cx="1257300" cy="1328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96325" y="26479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41BE1-4C65-45A3-AC15-3E35B659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NPU 池：单机验证，跨机时启用 HCCL / RDMA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2338A-F232-4F32-B20A-940EC7BF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跨机是否划算，取决于通信占比与内存分布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0876D-D864-4B02-8ABA-4AF374D1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GPU 池：优先单机 TP 或多个独立副本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5739F-4CD8-4B42-AB79-0DA3E81B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72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TP 将一个模型分到多卡。独立副本增加总吞吐，未必降低单请求延迟。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A12D2-2A68-4AC0-A557-F8106F1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架构为本项目建议。T4 常见卡间通路为 PCIe，不能按 NVLink 互联假设规划</a:t>
            </a:r>
          </a:p>
        </p:txBody>
      </p:sp>
    </p:spTree>
    <p:extLst>
      <p:ext uri="{BB962C8B-B14F-4D97-AF65-F5344CB8AC3E}">
        <p14:creationId xmlns:p14="http://schemas.microsoft.com/office/powerpoint/2010/main" val="1081641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C5DE9-45F2-477F-831F-7786396D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50330-AC79-4ABD-8333-8714CCA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目标模型与权重规模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19BEC-F44F-4F60-BF73-FA20A82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容量按全部驻留权重估算，MoE 激活参数量主要反映每步计算量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A9A04-39E3-4854-A15B-0DC3C40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E3328-3398-4E6F-9198-FC04887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0CBD-2A8C-4836-974D-EC55A01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71775"/>
                <a:gridCol w="3105150"/>
                <a:gridCol w="2057400"/>
                <a:gridCol w="3114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参数口径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位权重粗估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关键适配点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语言 27B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完整仓库约 28B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56GB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Gated DeltaNet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全注意力 / 视觉 / MTP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主干 125B + n-gram 51B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+ MTP 4B，另含视觉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360GB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MoE / QSA / GDN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额外 embedding 驻留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完整仓库约 753B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1,506GB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量化格式与稀疏算子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跨节点专家通信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主干 552B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另加 Engram 等模块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主干约 1,104GB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全量更高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CED / CSA2 / Engram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原始权重 FP8 / FP4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D7308-524B-4E71-A226-7649EE51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本轮优先文本生成。视觉、超长上下文和推测解码分别验收。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1E313-22EE-4BDF-B2B4-7A1E7657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来源：各模型 Hugging Face 官方模型卡与配置。权重粗估使用参数量 × 2 bytes，不包含缓存和运行开销</a:t>
            </a:r>
          </a:p>
        </p:txBody>
      </p:sp>
    </p:spTree>
    <p:extLst>
      <p:ext uri="{BB962C8B-B14F-4D97-AF65-F5344CB8AC3E}">
        <p14:creationId xmlns:p14="http://schemas.microsoft.com/office/powerpoint/2010/main" val="1474420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764AD-047B-4EB7-A882-A58AA7BE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C4A23-6588-408E-ABCF-2A92BBB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显存预算与精度约束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9ED65-27D9-4023-A0A5-E50F781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权重装得下只是第一道条件，运行峰值必须逐卡满足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3E2B7-C532-4CD9-8FBE-C9C245B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2D07C-3DD4-487F-9773-7FA2C38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7AFBF-1B40-46D4-A284-E3776C43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D4BBC-C1F7-4EA6-B409-E2A93E16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单卡峰值显存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BE81C-C79D-44C6-B156-B542019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4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本卡权重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2D805-D069-45A4-B38D-504F82A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3124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8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KV / 循环状态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E5453-A3B6-4E01-A472-8AECD825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14600"/>
            <a:ext cx="2400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889C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激活与工作区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F4558-8A39-48BE-88EC-E5995444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14600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AC7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安全余量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CEA14-A260-4CCC-B442-0131F614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权重近似 = 参数量 × 每参数字节数 ÷ 分片数</a:t>
            </a:r>
          </a:p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再加入未分片模块、量化元数据和负载相关缓存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71500" y="4086225"/>
          <a:ext xmlns:a="http://schemas.openxmlformats.org/drawingml/2006/main" cx="110490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524375"/>
                <a:gridCol w="43815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优先精度路径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关键限制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FP16；经验证的 AWQ / GPTQ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等 W4A16 权重与 kernel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无原生 BF16 / FP8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Marlin 支持 Turing，但不含 MXFP4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/ Ascend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/ FP16；ModelSlim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 + Ascend 量化后端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CANN、驱动、vLLM-Ascend 配套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专用 kernel 不能直接复用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C6C83-A3E2-4A6F-8245-DC0C421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示意块宽度不代表占比。来源：vLLM 量化兼容矩阵；Ascend 模型教程。KV 量化与权重量化需分别确认</a:t>
            </a:r>
          </a:p>
        </p:txBody>
      </p:sp>
    </p:spTree>
    <p:extLst>
      <p:ext uri="{BB962C8B-B14F-4D97-AF65-F5344CB8AC3E}">
        <p14:creationId xmlns:p14="http://schemas.microsoft.com/office/powerpoint/2010/main" val="883304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90FDA-E176-4A26-92F1-42DA6ABD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6E17C-1AAE-44FE-A9BF-B5274A0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910B：27B 优先，超大模型另设方案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BE084-49C7-4AA4-B789-4070326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范围：2 台 × 8 卡 × 64GB。以下为调研判断，尚未在租赁机器实测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FC05-9BA1-474A-B5E4-7A1050C6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C0CFA-C87D-427B-AA19-D4CE069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0F9C0-A55E-4C8A-9AE0-E2000B40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60007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建议配置 / 主要证据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基线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单张 64GB，BF16，4K 上下文起测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单机 BF16 或 W8A8；官方 A2 量化示例 TP2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容量可候选</a:t>
                      </a:r>
                    </a:p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算子待验证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单机 BF16 约 360GB 起；新增架构与驻留策略待适配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两台不作承诺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容量不足；W8A8C8 参考为 4 台 A2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两台不作承诺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 + INT8 Engram 参考为 4 台 A2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量化权重发布状态仍需确认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9C799-EFFB-4470-8F60-42DFDC97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4 台 A2 / 2 台 A3 是文档参考配置，不能解释为理论最小卡数。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C6355-9B5F-4F73-A01A-C76ACD54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来源：vLLM-Ascend Qwen3.8-27B、GLM-5.3、DeepSeek-V4.1-Flash 教程；GLM-5.3 当前标为 Experimental</a:t>
            </a:r>
          </a:p>
        </p:txBody>
      </p:sp>
    </p:spTree>
    <p:extLst>
      <p:ext uri="{BB962C8B-B14F-4D97-AF65-F5344CB8AC3E}">
        <p14:creationId xmlns:p14="http://schemas.microsoft.com/office/powerpoint/2010/main" val="10774183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08C64-630D-42FB-9094-4F48AB9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50B0A-62E4-426C-881F-F93C4C2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T4：小模型多副本更适合作为首批用途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781F-035D-47F0-BBE2-66CCEB8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单台 128GB 标称显存，扩到 4–6 台主要用于增加独立服务实例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10368-DBEE-4B50-863D-67BA47C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8AF7-C5BC-4DAD-A2BD-DB8D60D0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E88F0-381B-4989-9001-65E9089F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60007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可尝试范围 / 主要限制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基线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卡 FP16，短上下文；跑通后评估单机多副本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容量候选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卡 FP16 或 2–4 卡 W4A16 仅为容量方案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须验证 GDN、SM75、attention / 量化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暂缓首批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原精度单机不足；低比特权重与 n-gram 策略待验证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不建议首批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需低比特与跨机并行，量化支持和通信成本未闭环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不建议首批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 FP8 / FP4 路径不适配 T4 原生能力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需要权重转换及新架构算子验证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8A350-913A-4928-8AD2-5F06E66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T4 的数量不能替代对新模型 kernel 的验证。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A8987-1B17-40E9-A3C5-BF4D296A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来源：NVIDIA T4、vLLM 量化矩阵及官方模型卡。容量候选不代表已可运行，跨机总显存也不能保证可用</a:t>
            </a:r>
          </a:p>
        </p:txBody>
      </p:sp>
    </p:spTree>
    <p:extLst>
      <p:ext uri="{BB962C8B-B14F-4D97-AF65-F5344CB8AC3E}">
        <p14:creationId xmlns:p14="http://schemas.microsoft.com/office/powerpoint/2010/main" val="652202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45A02-3C39-4F15-807D-174E29CE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  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4719E-AD8D-4258-A8EF-736765D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硬件能否运行模型的判断流程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18AB5-CF81-45E3-9368-38DD42D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每个判断都形成证据，最后用实际生成与负载测试验收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37CA2-5946-40E4-A7A1-59804D0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31EB6-8059-43F0-A625-122A18C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CA003-60A2-427F-9CA8-24F16111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FF58F-978F-4E18-84E6-80D9659B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01  模型身份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repo / revision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完整权重与许可证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EA074-661B-462F-8CC1-826BF17D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9775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02  内存预算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逐卡权重与缓存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上下文 / 并发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FFFE-2909-40DF-9DC5-17326486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03  执行支持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架构 / dtype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attention / MoE 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E5C6B-9FA3-4DFC-84F9-20CD31C7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06  稳定产出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TTFT / TPOT / 吞吐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错误率与持续运行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92B00-89FD-4DDA-A47E-8FA601F9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05  正确生成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模板 / tokenizer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有限值与回答质量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88402-0B62-439B-AAAA-C389FBFE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04  并行拓扑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TP / EP 合法划分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PCIe / HCCL / RDMA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26717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15250" y="26717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001250" y="33337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2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715250" y="47577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810000" y="47577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912E-9CFF-467D-BD9B-005140B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未通过容量：缩短上下文、量化或增卡      未通过算子：匹配后端、转换权重或更换硬件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F037F-0859-44A6-937D-66BFD4AA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顺序按编号执行。方法为本项目验收设计；模型兼容证据见各框架官方支持矩阵与模型配方</a:t>
            </a:r>
          </a:p>
        </p:txBody>
      </p:sp>
    </p:spTree>
    <p:extLst>
      <p:ext uri="{BB962C8B-B14F-4D97-AF65-F5344CB8AC3E}">
        <p14:creationId xmlns:p14="http://schemas.microsoft.com/office/powerpoint/2010/main" val="1638505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D4671-765D-4053-A421-C4BA4E6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  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C6518-CDF9-48AD-97BB-AC307CD9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Hugging Face 下载到首个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915A0-D4C5-4550-9877-B8CFD12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先用 Qwen3-8B 检查环境，再切换目标模型的专用配方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7BA11-4FF3-4AF0-B671-49202824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0E4EA-692D-43D3-B2B0-334F2C0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C2DF5-7962-4208-AEBE-84C32F1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9c0f7ee394371"/>
          <a:stretch xmlns:a="http://schemas.openxmlformats.org/drawingml/2006/main"/>
        </p:blipFill>
        <p:spPr>
          <a:xfrm xmlns:a="http://schemas.openxmlformats.org/drawingml/2006/main">
            <a:off x="575733" y="1990725"/>
            <a:ext cx="5858933" cy="3295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CBF87-9835-4364-AFF7-A865A3FD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583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Qwen3.8-27B 官方仓库页面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A559D-EE2C-4B19-B226-4A180E66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6448A-3590-41B9-8511-B851CCAC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335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锁定版本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3182A-07AE-4234-8A41-ECFEFEEB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保存 repo、commit SHA 与模型配置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C1C38-DFF1-412E-B425-C4C16AD9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4105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E0AE0-62FC-4D95-A4B4-831B5347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86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C15D8-655F-43EC-963C-54F9A3DE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下载完整仓库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AF455-C87C-4AD1-99F7-5AB64EA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权重分片、索引、tokenizer、模板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0251B-4726-42A7-B451-AEC4024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24275"/>
            <a:ext cx="4105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84653-A24A-457D-8DE9-DAC6EBD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385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7944E-2CB8-4004-BBD5-CE8363C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385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选择软件栈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375F4-B7A7-470B-8D9C-22009EA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291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T4 用 CUDA；910B 用 CANN / Ascend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4762B-C3A8-40B2-B355-D4DAFCE8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76775"/>
            <a:ext cx="4105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9C87C-571F-47EF-9836-D04B60E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791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D2C3D-14D9-435F-B070-143A9A63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910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启动并生成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D38DB-C143-47ED-88C8-862EAA9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816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4K 上下文、并发 1；验证 API 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A3E74-6FD6-4573-ABCB-2B6E4B2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截图：Hugging Face / Qwen3.8-27B。下载方法：huggingface_hub CLI。完整示例与检查项见配套大纲</a:t>
            </a:r>
          </a:p>
        </p:txBody>
      </p:sp>
    </p:spTree>
    <p:extLst>
      <p:ext uri="{BB962C8B-B14F-4D97-AF65-F5344CB8AC3E}">
        <p14:creationId xmlns:p14="http://schemas.microsoft.com/office/powerpoint/2010/main" val="229401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027D6-7335-447F-ADBE-89E86EB7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  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85F62-E53D-475C-8D09-8713E43A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运行验收与 Token 产出测量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867F5-ABF9-4D50-8662-4EADACB8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本方案不预填 tokens/s；性能结论以租赁交付环境的实测为准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27E-BDA6-4ABA-A127-9512C63E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5343F-CA07-48EF-A748-E245DFE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7C23E-3F7D-4AC3-8E6C-F3B6EDD7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D757D-D2DA-4180-91B6-CD738E4F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测试负载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90485-F7E4-4914-8A80-DD70E41E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3162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短文本基线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上下文 4K / 并发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E4DD0-F7F6-4A13-80F8-6D59F8C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162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负载阶梯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输入 2K / 8K / 32K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87D96-4993-4637-BC38-609C36B8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181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并发与稳定性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并发 1 / 4 / 16 + 持续测试</a:t>
            </a:r>
          </a:p>
        </p:txBody>
      </p: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52850" y="2771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77150" y="27717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5D84C-1563-45CA-A391-BF5BFDF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43275"/>
            <a:ext cx="10982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固定提示集与生成上限，按实际输出 Token 计数，记录 TTFT、TPOT 与完成吞吐。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05075"/>
                <a:gridCol w="3933825"/>
                <a:gridCol w="46101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现象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优先定位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验收证据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加载 / 推理 OOM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权重分片、KV、图捕获工作区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每卡峰值显存，失败请求与对应负载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算子报错 / NaN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模型架构、dtype、kernel 版本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日志、固定样本输出、精度回归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卡多却慢 / 通信超时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PCIe / NUMA、RDMA、并行方式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通信测试，TTFT / TPOT 的 p50、p95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73013-7EC7-474B-9B7C-0DE6766B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建议持续测试至少 1 小时。输入长度 + 实际输出不得超过配置上下文。报告分别列明成功率及模型推理/正文 Token 口径</a:t>
            </a:r>
          </a:p>
        </p:txBody>
      </p:sp>
    </p:spTree>
    <p:extLst>
      <p:ext uri="{BB962C8B-B14F-4D97-AF65-F5344CB8AC3E}">
        <p14:creationId xmlns:p14="http://schemas.microsoft.com/office/powerpoint/2010/main" val="12385915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483B7-BF2E-4D68-B912-8AE706C6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04  建议与决策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285A3-4D0D-4A3D-BCC4-7C7558F7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分阶段租赁与验收计划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6239B-58F8-4B55-9E1E-C090698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先获得可复现的模型服务结果，再按真实业务负载确认租赁规模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FA290-7B08-4628-A726-90C2444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4AA2E-C094-4634-A042-05760F04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7131B-B7C6-479C-8BDB-0D60994F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8850"/>
                <a:gridCol w="5553075"/>
                <a:gridCol w="326707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执行范围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第一阶段</a:t>
                      </a:r>
                    </a:p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设备与基线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各取 1 台验证，Qwen3-8B 首个 Token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910B 64GB 与 T4 16GB 实卡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环境记录齐全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生成正确、设备与通信正常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第二阶段</a:t>
                      </a:r>
                    </a:p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目标模型验证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优先 Qwen3.8-27B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评估小模型副本与 27B 适配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精度回归通过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固定负载下性能达到业务要求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第三阶段</a:t>
                      </a:r>
                    </a:p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租赁规模决策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据吞吐和报价确定 T4 为 4 台或 6 台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 / DeepSeek 大模型单独报价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每百万有效 Token 成本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持续运行与故障恢复通过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FD630-03EB-4034-B80E-C24EAEB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48225"/>
            <a:ext cx="1090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若 GLM-5.3 / DeepSeek-V4.1-Flash 是硬性目标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C37C3-441A-4BF2-9FC7-46EE7846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24475"/>
            <a:ext cx="10906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参考路径：补至 4 台 A2，或评估 2 台 A3。</a:t>
            </a:r>
          </a:p>
          <a:p xmlns:a="http://schemas.openxmlformats.org/drawingml/2006/main">
            <a:pPr algn="l">
              <a:def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先确认量化权重、专用镜像与网络，再做目标负载 PoC。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DAF7B-88CD-4AE7-BD9A-1FBE1EB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扩容是依据官方部署示例提出的候选方案，需供应商实测与报价确认。GLM 为实验支持，DeepSeek 量化产物需核验可获得性</a:t>
            </a:r>
          </a:p>
        </p:txBody>
      </p:sp>
    </p:spTree>
    <p:extLst>
      <p:ext uri="{BB962C8B-B14F-4D97-AF65-F5344CB8AC3E}">
        <p14:creationId xmlns:p14="http://schemas.microsoft.com/office/powerpoint/2010/main" val="16258225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6F4A3-9343-4132-8448-07325AE6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84F05-4A29-4B0C-9786-113DCB5A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附录 A：最小验证命令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F05B1-5080-46B8-8005-8C0BDEE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起步命令示例，需先安装匹配镜像与驱动；完整请求和环境记录见配套大纲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5F1A8-FF39-41BA-95F1-42032DCB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1642B-78B1-410A-89A8-AD33467F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73B20-80AA-4846-B59E-436D211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AD47F-0A97-4B5B-8898-8C75BEA9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下载：固定同一个 commit SHA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1132B-4DC8-42C3-B5BF-70D688EF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38400"/>
            <a:ext cx="53054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112A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8C156-C07A-47B1-89E7-0AAC3D3E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9850"/>
            <a:ext cx="49339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hf download Qwen/Qwen3-8B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--revision &lt;已记录的 SHA&gt;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--local-dir /data/models/Qwen3-8B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80623-9DEA-4D94-90BD-E13AE30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完整 snapshot 包含权重、索引与 tokenizer。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3CB74-FAA8-4D14-83BF-972E241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接口：POST /v1/chat/completions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3054E-8CCF-4E5C-84D6-17F86CE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检查返回文本、usage 与服务端错误日志。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D9542-EBCF-46AB-A183-15B2E99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335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T4：2 卡 FP16 的基线服务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AEAE0-7696-4F64-9705-8261C59C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38400"/>
            <a:ext cx="53054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112A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20E28-5C38-47B8-93F3-9E8B0107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962525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serve /data/models/Qwen3-8B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--dtype float16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--tensor-parallel-size 2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--max-model-len 4096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--max-num-seqs 1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--gpu-memory-utilization 0.85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--enforce-eager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--served-model-name smoke-qwen3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--host 127.0.0.1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B19F9-A178-4E09-B517-E5AC95AD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910B 基线：使用匹配的 vLLM-Ascend 容器，dtype 改 bfloat16、TP 改 1。目标大模型按各自配方部署</a:t>
            </a:r>
          </a:p>
        </p:txBody>
      </p:sp>
    </p:spTree>
    <p:extLst>
      <p:ext uri="{BB962C8B-B14F-4D97-AF65-F5344CB8AC3E}">
        <p14:creationId xmlns:p14="http://schemas.microsoft.com/office/powerpoint/2010/main" val="1786664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CF21F-DB07-4CC2-84BB-CB9B4D1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4561E-86A9-4E74-97EF-72C8C515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附录 B：参考资料与交付清单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ADC11-0388-4182-8CCE-4C0C457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资料核验日期：2026 年 9 月 14 日；详细链接与计算依据见演讲者备注和配套大纲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E05F0-5630-4430-9F48-D56DB572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EC50A-8971-4A8C-9301-50EB7604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E40EB-55DA-4434-AF63-C1E4155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F9E16-138E-45CF-ADA2-6F8EA8E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官方资料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9B1F6-1C97-4F42-BC6D-45F260D4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377a73ce872411c"/>
              </a:rPr>
              <a:t>硬件：Huawei Atlas 800I A2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B79B7-F9DB-4D4F-96EC-2280AE1C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3d51eb72dcd41be"/>
              </a:rPr>
              <a:t>硬件：NVIDIA T4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25AE7-9FB3-47CD-B135-586EAAE6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2d21e9b9e144261"/>
              </a:rPr>
              <a:t>精度与 kernel：vLLM 量化矩阵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79917-C497-4942-90D3-7CA0EB11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a203747928849ec"/>
              </a:rPr>
              <a:t>部署：Qwen3.8-27B / Ascend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03A88-D2B6-4BF4-8B51-0686E194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59dfe88a80f4bdc"/>
              </a:rPr>
              <a:t>部署：GLM-5.3 / Ascend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003E1-2072-444A-8617-03B54249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a31e593738b4dce"/>
              </a:rPr>
              <a:t>部署：DeepSeek-V4.1-Flash / Ascend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B824A-3649-4159-AE30-92D6314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21a9fdf05ce4ff7"/>
              </a:rPr>
              <a:t>模型下载：Hugging Face 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F08B9-1403-4FAF-8B5B-B2F1B121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952625"/>
            <a:ext cx="454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供应商交付时核验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253A2-87C4-45B8-A367-5EC8D18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4317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903B8-5242-4368-81E1-BFF8168A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板卡型号、显存及独占方式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2C61C-4B4C-4FBF-ADA7-0F5EE20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5752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5146A-DC0A-480D-BF32-F823BEE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194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CPU / RAM / NVMe 实际配置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0481D-CC75-4EE3-A753-F57087E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7187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B6EF0-8A82-4802-B1C3-16CDD42E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337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卡间与跨机拓扑、RDMA 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35A71-502F-4488-80A0-EA9A48C9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8CB82-9531-44FC-8CB7-FB68687F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驱动、CANN / CUDA、镜像版本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788CE-679A-4661-B7CF-8465A6BD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0057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8B146-794F-4F24-ADDD-4947048D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指定模型的输出与负载测试报告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AFEFE-E77F-4738-9078-95C0E46E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1492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A7045-544A-4313-893C-791FC45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768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租金、带宽存储费用及故障响应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874C7-54F9-448A-B6D4-9CD9B0A9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本报告包含资料推导与待验证项，不包含租赁机器的实际 benchmark 结果</a:t>
            </a:r>
          </a:p>
        </p:txBody>
      </p:sp>
    </p:spTree>
    <p:extLst>
      <p:ext uri="{BB962C8B-B14F-4D97-AF65-F5344CB8AC3E}">
        <p14:creationId xmlns:p14="http://schemas.microsoft.com/office/powerpoint/2010/main" val="859924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2026-09-14T10:27:08.2830000Z</dcterms:created>
  <dcterms:modified xsi:type="dcterms:W3CDTF">2026-09-14T10:27:08.2830000Z</dcterms:modified>
</coreProperties>
</file>